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1" r:id="rId4"/>
    <p:sldId id="262" r:id="rId5"/>
    <p:sldId id="264" r:id="rId6"/>
    <p:sldId id="265" r:id="rId7"/>
    <p:sldId id="266" r:id="rId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38C7A-FCC6-4995-A24B-000D1AA6D74D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9FD1D-0666-4219-AABA-E90D15EA18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72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9FD1D-0666-4219-AABA-E90D15EA187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64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9FD1D-0666-4219-AABA-E90D15EA187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90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9FD1D-0666-4219-AABA-E90D15EA187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428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4D5029-80F7-F3AD-6CCE-85518BB5E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5250" b="3561"/>
          <a:stretch/>
        </p:blipFill>
        <p:spPr bwMode="auto">
          <a:xfrm>
            <a:off x="-267502" y="-275303"/>
            <a:ext cx="12459502" cy="71333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FD3CB9-E4D9-A6A2-B636-C59A0E1E19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1EE91A-65D6-4CED-8A7E-F8B1CB48A802}" type="datetimeFigureOut">
              <a:rPr lang="ru-RU"/>
              <a:t>19.09.2026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DA1BCA3-A6CB-40E7-9170-9286FABDBE2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konkov-dmitrij@yandex.r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hyperlink" Target="https://github.com/KonkovDV/AeroBIM" TargetMode="External"/><Relationship Id="rId4" Type="http://schemas.openxmlformats.org/officeDocument/2006/relationships/hyperlink" Target="mailto:konkovaelena@yandex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A1215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430394" y="1769155"/>
            <a:ext cx="673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 dirty="0">
                <a:solidFill>
                  <a:srgbClr val="EE9456"/>
                </a:solidFill>
                <a:latin typeface="TT Firs Neue DemiBold"/>
              </a:rPr>
              <a:t>AeroBIM</a:t>
            </a:r>
            <a:endParaRPr sz="4000" dirty="0">
              <a:solidFill>
                <a:srgbClr val="EE9456"/>
              </a:solidFill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430394" y="2584763"/>
            <a:ext cx="7400000" cy="9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bg1"/>
                </a:solidFill>
              </a:rPr>
              <a:t>Задача №7: верификация ПД/РД</a:t>
            </a:r>
          </a:p>
          <a:p>
            <a:pPr>
              <a:spcBef>
                <a:spcPts val="400"/>
              </a:spcBef>
            </a:pPr>
            <a:r>
              <a:rPr lang="ru-RU" dirty="0">
                <a:solidFill>
                  <a:schemeClr val="bg1"/>
                </a:solidFill>
              </a:rPr>
              <a:t>Автоматизированная проверка согласованности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моделей, чертежей и требований</a:t>
            </a:r>
            <a:endParaRPr lang="ru-RU" sz="1800" dirty="0">
              <a:solidFill>
                <a:schemeClr val="bg1"/>
              </a:solidFill>
            </a:endParaRPr>
          </a:p>
        </p:txBody>
      </p:sp>
      <p:pic>
        <p:nvPicPr>
          <p:cNvPr id="13" name="Рисунок 12" descr="Московский инновационный кластер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0501" y="593181"/>
            <a:ext cx="1961920" cy="3962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302FE1-5FD3-D977-370A-F705AE85C22A}"/>
              </a:ext>
            </a:extLst>
          </p:cNvPr>
          <p:cNvSpPr txBox="1"/>
          <p:nvPr/>
        </p:nvSpPr>
        <p:spPr>
          <a:xfrm>
            <a:off x="9695585" y="437379"/>
            <a:ext cx="22604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 err="1">
                <a:solidFill>
                  <a:schemeClr val="accent2">
                    <a:lumMod val="75000"/>
                  </a:schemeClr>
                </a:solidFill>
                <a:effectLst/>
              </a:rPr>
              <a:t>Техлаб</a:t>
            </a:r>
            <a:r>
              <a:rPr lang="ru-RU" sz="2200" b="1" dirty="0">
                <a:solidFill>
                  <a:schemeClr val="accent2">
                    <a:lumMod val="75000"/>
                  </a:schemeClr>
                </a:solidFill>
                <a:effectLst/>
              </a:rPr>
              <a:t> Москва</a:t>
            </a:r>
            <a:endParaRPr lang="ru-RU" sz="2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949D8-C26E-2280-0246-1552EDFB6602}"/>
              </a:ext>
            </a:extLst>
          </p:cNvPr>
          <p:cNvSpPr txBox="1"/>
          <p:nvPr/>
        </p:nvSpPr>
        <p:spPr bwMode="auto">
          <a:xfrm>
            <a:off x="486078" y="4893287"/>
            <a:ext cx="75008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500" dirty="0">
                <a:solidFill>
                  <a:srgbClr val="EE9456"/>
                </a:solidFill>
                <a:latin typeface="TT Firs Neue"/>
              </a:rPr>
              <a:t>Спикер</a:t>
            </a:r>
            <a:endParaRPr dirty="0">
              <a:solidFill>
                <a:srgbClr val="EE9456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B6E861-C8E6-423E-0094-791C36BF0A07}"/>
              </a:ext>
            </a:extLst>
          </p:cNvPr>
          <p:cNvSpPr txBox="1"/>
          <p:nvPr/>
        </p:nvSpPr>
        <p:spPr bwMode="auto">
          <a:xfrm>
            <a:off x="486078" y="5370341"/>
            <a:ext cx="7500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bg2"/>
                </a:solidFill>
              </a:rPr>
              <a:t>Коньков Дмитрий</a:t>
            </a:r>
            <a:br>
              <a:rPr lang="ru-RU" sz="2500" dirty="0">
                <a:solidFill>
                  <a:schemeClr val="bg1"/>
                </a:solidFill>
                <a:latin typeface="TT Firs Neue"/>
              </a:rPr>
            </a:br>
            <a:r>
              <a:rPr lang="ru-RU" sz="2800" dirty="0">
                <a:solidFill>
                  <a:schemeClr val="bg2"/>
                </a:solidFill>
              </a:rPr>
              <a:t>Капитан команды</a:t>
            </a:r>
          </a:p>
        </p:txBody>
      </p:sp>
      <p:pic>
        <p:nvPicPr>
          <p:cNvPr id="3" name="Рисунок 2" descr="Логотип Самолёт">
            <a:extLst>
              <a:ext uri="{FF2B5EF4-FFF2-40B4-BE49-F238E27FC236}">
                <a16:creationId xmlns:a16="http://schemas.microsoft.com/office/drawing/2014/main" id="{0B7CB21A-E29E-7B78-FA5B-26B934C7D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86396" y="547265"/>
            <a:ext cx="1411979" cy="485368"/>
          </a:xfrm>
          <a:prstGeom prst="rect">
            <a:avLst/>
          </a:prstGeom>
        </p:spPr>
      </p:pic>
      <p:pic>
        <p:nvPicPr>
          <p:cNvPr id="20" name="Логотип AeroBIM" descr="Логотип AeroBI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000" y="570000"/>
            <a:ext cx="1896000" cy="4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 bwMode="auto">
          <a:xfrm>
            <a:off x="430212" y="314632"/>
            <a:ext cx="92742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dirty="0">
                <a:solidFill>
                  <a:schemeClr val="bg1"/>
                </a:solidFill>
                <a:latin typeface="TT Firs Neue DemiBold"/>
              </a:rPr>
              <a:t>Команда: роли, компетенции, ответственность </a:t>
            </a:r>
            <a:endParaRPr dirty="0"/>
          </a:p>
        </p:txBody>
      </p:sp>
      <p:cxnSp>
        <p:nvCxnSpPr>
          <p:cNvPr id="4" name="Прямая соединительная линия 3"/>
          <p:cNvCxnSpPr>
            <a:cxnSpLocks/>
          </p:cNvCxnSpPr>
          <p:nvPr/>
        </p:nvCxnSpPr>
        <p:spPr bwMode="auto">
          <a:xfrm>
            <a:off x="454276" y="880662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 bwMode="auto">
          <a:xfrm flipH="1">
            <a:off x="11377326" y="6313491"/>
            <a:ext cx="304083" cy="323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500">
                <a:solidFill>
                  <a:schemeClr val="bg1"/>
                </a:solidFill>
                <a:latin typeface="TT Firs Neue DemiBold"/>
              </a:rPr>
              <a:t>2</a:t>
            </a:r>
            <a:endParaRPr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rcRect r="65603" b="730"/>
          <a:stretch/>
        </p:blipFill>
        <p:spPr bwMode="auto"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100" name="Описание команды"/>
          <p:cNvSpPr txBox="1"/>
          <p:nvPr/>
        </p:nvSpPr>
        <p:spPr>
          <a:xfrm>
            <a:off x="430210" y="1018629"/>
            <a:ext cx="11221681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ru-RU" sz="1500" b="1" dirty="0">
                <a:solidFill>
                  <a:schemeClr val="bg1"/>
                </a:solidFill>
                <a:latin typeface="TT Firs Neue"/>
              </a:rPr>
              <a:t>Ядро </a:t>
            </a:r>
            <a:r>
              <a:rPr lang="ru-RU" sz="1500" b="1" dirty="0" err="1">
                <a:solidFill>
                  <a:schemeClr val="bg1"/>
                </a:solidFill>
                <a:latin typeface="TT Firs Neue"/>
              </a:rPr>
              <a:t>AeroBIM</a:t>
            </a:r>
            <a:r>
              <a:rPr lang="ru-RU" sz="1500" b="1" dirty="0">
                <a:solidFill>
                  <a:schemeClr val="bg1"/>
                </a:solidFill>
                <a:latin typeface="TT Firs Neue"/>
              </a:rPr>
              <a:t> — два инженера с разделённой ответственностью: архитектура и нормативный профиль; методика измерения и контроль качества. </a:t>
            </a:r>
            <a:br>
              <a:rPr lang="ru-RU" sz="1500" b="1" dirty="0">
                <a:solidFill>
                  <a:schemeClr val="bg1"/>
                </a:solidFill>
                <a:latin typeface="TT Firs Neue"/>
              </a:rPr>
            </a:br>
            <a:r>
              <a:rPr lang="ru-RU" sz="1500" b="1" dirty="0">
                <a:solidFill>
                  <a:schemeClr val="bg1"/>
                </a:solidFill>
                <a:latin typeface="TT Firs Neue"/>
              </a:rPr>
              <a:t>Консультанты привлекаются точечно и не включаются в оцениваемый состав команды.</a:t>
            </a:r>
            <a:endParaRPr lang="ru-RU" sz="1500" dirty="0">
              <a:solidFill>
                <a:schemeClr val="bg1"/>
              </a:solidFill>
              <a:latin typeface="TT Firs Neue"/>
            </a:endParaRPr>
          </a:p>
        </p:txBody>
      </p:sp>
      <p:sp>
        <p:nvSpPr>
          <p:cNvPr id="110" name="Рамка 1"/>
          <p:cNvSpPr/>
          <p:nvPr/>
        </p:nvSpPr>
        <p:spPr>
          <a:xfrm>
            <a:off x="454276" y="1850000"/>
            <a:ext cx="3532560" cy="984641"/>
          </a:xfrm>
          <a:prstGeom prst="snip1Rect">
            <a:avLst>
              <a:gd name="adj" fmla="val 16667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30" name="Карточка: Коньков Дмитрий"/>
          <p:cNvSpPr/>
          <p:nvPr/>
        </p:nvSpPr>
        <p:spPr>
          <a:xfrm>
            <a:off x="454276" y="2934641"/>
            <a:ext cx="3532560" cy="2185359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20000" tIns="100000" rIns="110000" bIns="600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Коньков Дмитрий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dirty="0">
                <a:solidFill>
                  <a:schemeClr val="accent5"/>
                </a:solidFill>
                <a:latin typeface="TT Firs Neue"/>
              </a:rPr>
              <a:t>Капитан · архитектура и нормативный контур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Архитектура детерминированного ядра проверки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IFC/IDS-профиль и трассировка находок до источника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Управление областью пилота и требованиями заказчика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Ответственность за технические границы заявлений</a:t>
            </a:r>
          </a:p>
        </p:txBody>
      </p:sp>
      <p:sp>
        <p:nvSpPr>
          <p:cNvPr id="111" name="Рамка 2"/>
          <p:cNvSpPr/>
          <p:nvPr/>
        </p:nvSpPr>
        <p:spPr>
          <a:xfrm>
            <a:off x="4286836" y="1850001"/>
            <a:ext cx="3532560" cy="984640"/>
          </a:xfrm>
          <a:prstGeom prst="snip1Rect">
            <a:avLst>
              <a:gd name="adj" fmla="val 16667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31" name="Карточка: Конькова Елена"/>
          <p:cNvSpPr/>
          <p:nvPr/>
        </p:nvSpPr>
        <p:spPr>
          <a:xfrm>
            <a:off x="4286836" y="2934641"/>
            <a:ext cx="3532560" cy="218536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20000" tIns="100000" rIns="110000" bIns="600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Конькова Елена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200" dirty="0">
                <a:solidFill>
                  <a:schemeClr val="accent5"/>
                </a:solidFill>
                <a:latin typeface="TT Firs Neue"/>
              </a:rPr>
              <a:t>Системный инженер · измерение и качество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Методика оценки точности и полноты и контроль выборки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CI, воспроизводимость сборки и проверка регрессий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Подготовка программы испытаний и критериев приёмки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Ответственность за протокол замера и акт пилота</a:t>
            </a:r>
          </a:p>
        </p:txBody>
      </p:sp>
      <p:sp>
        <p:nvSpPr>
          <p:cNvPr id="132" name="Карточка: Поддержка"/>
          <p:cNvSpPr/>
          <p:nvPr/>
        </p:nvSpPr>
        <p:spPr>
          <a:xfrm>
            <a:off x="8119396" y="1850000"/>
            <a:ext cx="3532560" cy="327000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20000" tIns="100000" rIns="110000" bIns="600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Почему такой состав достаточен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accent5"/>
              </a:solidFill>
              <a:latin typeface="TT Firs Neue"/>
            </a:endParaRP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Публичные требования формализованы в IDS; профиль заказчика фиксируется до пилота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Проверки и итоговый технический результат воспроизводимы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Каждая находка сохраняется с GUID и ссылками на источники</a:t>
            </a:r>
            <a:endParaRPr lang="en-US" sz="1200" dirty="0">
              <a:solidFill>
                <a:schemeClr val="bg1"/>
              </a:solidFill>
              <a:latin typeface="TT Firs Neue"/>
            </a:endParaRP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Код, тесты и инструкция запуска доступны в публичном репозитории</a:t>
            </a:r>
          </a:p>
        </p:txBody>
      </p:sp>
      <p:sp>
        <p:nvSpPr>
          <p:cNvPr id="140" name="Карточка: непрерывность"/>
          <p:cNvSpPr/>
          <p:nvPr/>
        </p:nvSpPr>
        <p:spPr>
          <a:xfrm>
            <a:off x="454276" y="5270000"/>
            <a:ext cx="11197681" cy="100000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50000" tIns="80000" rIns="120000" bIns="4000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ru-RU" sz="1400" b="1" dirty="0">
                <a:solidFill>
                  <a:schemeClr val="accent2"/>
                </a:solidFill>
                <a:latin typeface="TT Firs Neue"/>
              </a:rPr>
              <a:t>Воспроизводимость и непрерывность</a:t>
            </a:r>
          </a:p>
          <a:p>
            <a:pPr>
              <a:spcAft>
                <a:spcPts val="300"/>
              </a:spcAft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Второй участник самостоятельно собрал и запустил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AeroBIM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по руководству. Зависимости зафиксированы, сборка проверяется в CI; подготовлены офлайн-образ, эксплуатационная документация и пакет передачи. Репозиторий сопровождает один основной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мейнтейнер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, но запуск и передача решения от него не зависят.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CB551F-C8EB-4BD5-3F77-FFB876216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748" y="1867017"/>
            <a:ext cx="950607" cy="9506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DC8059-8CFD-46B6-5ACE-BE45569EE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252" y="1867017"/>
            <a:ext cx="950607" cy="950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 bwMode="auto">
          <a:xfrm>
            <a:off x="430212" y="314632"/>
            <a:ext cx="7435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dirty="0">
                <a:solidFill>
                  <a:schemeClr val="bg1"/>
                </a:solidFill>
                <a:latin typeface="TT Firs Neue DemiBold"/>
              </a:rPr>
              <a:t>Решение: шлюз согласованности ПД/РД</a:t>
            </a:r>
            <a:endParaRPr dirty="0"/>
          </a:p>
        </p:txBody>
      </p:sp>
      <p:cxnSp>
        <p:nvCxnSpPr>
          <p:cNvPr id="4" name="Прямая соединительная линия 3"/>
          <p:cNvCxnSpPr>
            <a:cxnSpLocks/>
          </p:cNvCxnSpPr>
          <p:nvPr/>
        </p:nvCxnSpPr>
        <p:spPr bwMode="auto">
          <a:xfrm>
            <a:off x="454276" y="880662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 bwMode="auto">
          <a:xfrm flipH="1">
            <a:off x="11377326" y="6313491"/>
            <a:ext cx="304083" cy="323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500">
                <a:solidFill>
                  <a:schemeClr val="bg1"/>
                </a:solidFill>
                <a:latin typeface="TT Firs Neue DemiBold"/>
              </a:rPr>
              <a:t>3</a:t>
            </a:r>
            <a:endParaRPr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rcRect r="65603" b="730"/>
          <a:stretch/>
        </p:blipFill>
        <p:spPr bwMode="auto"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100" name="Проблема"/>
          <p:cNvSpPr txBox="1"/>
          <p:nvPr/>
        </p:nvSpPr>
        <p:spPr>
          <a:xfrm>
            <a:off x="430212" y="1090000"/>
            <a:ext cx="11221681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ru-RU" sz="1300" b="1" dirty="0">
                <a:solidFill>
                  <a:schemeClr val="accent2"/>
                </a:solidFill>
                <a:latin typeface="TT Firs Neue"/>
              </a:rPr>
              <a:t>Проблема: </a:t>
            </a:r>
            <a:r>
              <a:rPr lang="ru-RU" sz="1300" dirty="0">
                <a:solidFill>
                  <a:schemeClr val="bg1"/>
                </a:solidFill>
                <a:latin typeface="TT Firs Neue"/>
              </a:rPr>
              <a:t>каждый файл может быть корректен сам по себе, но комплект ПД/РД противоречит сам себе. Сверка модели, листов, ведомостей, ТЗ и расчётных результатов остаётся ручной, а ошибка обнаруживается на экспертизе или строительной площадке.</a:t>
            </a:r>
            <a:br>
              <a:rPr lang="ru-RU" sz="1300" dirty="0">
                <a:solidFill>
                  <a:schemeClr val="bg1"/>
                </a:solidFill>
                <a:latin typeface="TT Firs Neue"/>
              </a:rPr>
            </a:br>
            <a:r>
              <a:rPr lang="ru-RU" sz="1100" i="1" dirty="0">
                <a:solidFill>
                  <a:schemeClr val="bg1"/>
                </a:solidFill>
                <a:latin typeface="TT Firs Neue"/>
              </a:rPr>
              <a:t>Контекст срока: государственная экспертиза жилого объекта — до 20 рабочих дней, п. 29 ПП РФ № 145.</a:t>
            </a:r>
            <a:endParaRPr lang="ru-RU" sz="1300" i="1" dirty="0">
              <a:solidFill>
                <a:schemeClr val="bg1"/>
              </a:solidFill>
              <a:latin typeface="TT Firs Neue"/>
            </a:endParaRPr>
          </a:p>
        </p:txBody>
      </p:sp>
      <p:sp>
        <p:nvSpPr>
          <p:cNvPr id="101" name="Карточка: продукт"/>
          <p:cNvSpPr/>
          <p:nvPr/>
        </p:nvSpPr>
        <p:spPr>
          <a:xfrm>
            <a:off x="454276" y="1900000"/>
            <a:ext cx="4250000" cy="4413491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30000" tIns="110000" rIns="120000" bIns="8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Наш продукт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Сверяет факты между IFC, PDF/A, XML/IDS, ведомостями и текстовыми документами в пределах согласованного профиля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Формирует находку со ссылками на правило и источник, с указанием элемента модели и GUID</a:t>
            </a:r>
            <a:endParaRPr lang="en-US" sz="1200" dirty="0">
              <a:solidFill>
                <a:schemeClr val="bg1"/>
              </a:solidFill>
              <a:latin typeface="TT Firs Neue"/>
            </a:endParaRP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Выгружает результат в JSON, HTML и BCF 2.1/3.0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Технический результат рассчитывают детерминированные проверки; ИИ может подготовить черновик формулировки замечания, но не влияет на технический результат и итоговый статус.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Итоговое решение принимает эксперт заказчика</a:t>
            </a:r>
            <a:r>
              <a:rPr lang="en-US" sz="1200" dirty="0">
                <a:solidFill>
                  <a:schemeClr val="bg1"/>
                </a:solidFill>
                <a:latin typeface="TT Firs Neue"/>
              </a:rPr>
              <a:t>.</a:t>
            </a:r>
            <a:endParaRPr lang="ru-RU" sz="1200" dirty="0">
              <a:solidFill>
                <a:schemeClr val="bg1"/>
              </a:solidFill>
              <a:latin typeface="TT Firs Neue"/>
            </a:endParaRPr>
          </a:p>
          <a:p>
            <a:pPr>
              <a:buClr>
                <a:schemeClr val="accent1"/>
              </a:buClr>
            </a:pPr>
            <a:br>
              <a:rPr lang="ru-RU" sz="1200" b="1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Фокус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AeroBIM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— противоречия между файлами комплекта. Прямое сравнительное испытание с другими решениями не проводилось.</a:t>
            </a:r>
          </a:p>
        </p:txBody>
      </p:sp>
      <p:sp>
        <p:nvSpPr>
          <p:cNvPr id="102" name="Карточка: выгоды"/>
          <p:cNvSpPr/>
          <p:nvPr/>
        </p:nvSpPr>
        <p:spPr>
          <a:xfrm>
            <a:off x="4854276" y="1899996"/>
            <a:ext cx="3600000" cy="4569563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30000" tIns="110000" rIns="120000" bIns="800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Ценность и доказательства</a:t>
            </a:r>
          </a:p>
          <a:p>
            <a:pPr>
              <a:spcAft>
                <a:spcPts val="400"/>
              </a:spcAft>
            </a:pPr>
            <a:r>
              <a:rPr lang="ru-RU" sz="1150" dirty="0">
                <a:solidFill>
                  <a:schemeClr val="bg1"/>
                </a:solidFill>
                <a:latin typeface="TT Firs Neue"/>
              </a:rPr>
              <a:t>Гипотеза пилота: сократить один круг согласования на одном корпусе. Результат измеряется по датам ревизий и повторным замечаниям в СОД заказчика.</a:t>
            </a:r>
            <a:br>
              <a:rPr lang="ru-RU" sz="1150" dirty="0">
                <a:solidFill>
                  <a:schemeClr val="bg1"/>
                </a:solidFill>
                <a:latin typeface="TT Firs Neue"/>
              </a:rPr>
            </a:br>
            <a:br>
              <a:rPr lang="ru-RU" sz="1150" dirty="0">
                <a:solidFill>
                  <a:schemeClr val="bg1"/>
                </a:solidFill>
                <a:latin typeface="TT Firs Neue"/>
              </a:rPr>
            </a:br>
            <a:endParaRPr lang="ru-RU" sz="1150" dirty="0">
              <a:solidFill>
                <a:schemeClr val="bg1"/>
              </a:solidFill>
              <a:latin typeface="TT Firs Neue"/>
            </a:endParaRPr>
          </a:p>
        </p:txBody>
      </p:sp>
      <p:sp>
        <p:nvSpPr>
          <p:cNvPr id="110" name="Показатель 110: число"/>
          <p:cNvSpPr txBox="1"/>
          <p:nvPr/>
        </p:nvSpPr>
        <p:spPr>
          <a:xfrm>
            <a:off x="4954276" y="3133288"/>
            <a:ext cx="12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0" bIns="0" rtlCol="0" anchor="ctr">
            <a:noAutofit/>
          </a:bodyPr>
          <a:lstStyle/>
          <a:p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≤</a:t>
            </a:r>
            <a:r>
              <a:rPr lang="en-US" sz="2000" b="1" dirty="0">
                <a:solidFill>
                  <a:schemeClr val="accent1"/>
                </a:solidFill>
                <a:latin typeface="TT Firs Neue DemiBold"/>
              </a:rPr>
              <a:t> </a:t>
            </a: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30 мин</a:t>
            </a:r>
          </a:p>
        </p:txBody>
      </p:sp>
      <p:sp>
        <p:nvSpPr>
          <p:cNvPr id="111" name="Показатель 110: подпись"/>
          <p:cNvSpPr txBox="1"/>
          <p:nvPr/>
        </p:nvSpPr>
        <p:spPr>
          <a:xfrm>
            <a:off x="6204276" y="3146556"/>
            <a:ext cx="21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ctr">
            <a:no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TT Firs Neue"/>
              </a:rPr>
              <a:t>цель пилота на согласованном комплекте</a:t>
            </a:r>
          </a:p>
        </p:txBody>
      </p:sp>
      <p:sp>
        <p:nvSpPr>
          <p:cNvPr id="112" name="Показатель 112: число"/>
          <p:cNvSpPr txBox="1"/>
          <p:nvPr/>
        </p:nvSpPr>
        <p:spPr>
          <a:xfrm>
            <a:off x="4954276" y="3621556"/>
            <a:ext cx="12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0,90</a:t>
            </a:r>
          </a:p>
        </p:txBody>
      </p:sp>
      <p:sp>
        <p:nvSpPr>
          <p:cNvPr id="113" name="Показатель 112: подпись"/>
          <p:cNvSpPr txBox="1"/>
          <p:nvPr/>
        </p:nvSpPr>
        <p:spPr>
          <a:xfrm>
            <a:off x="6204276" y="3640176"/>
            <a:ext cx="21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ctr">
            <a:no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TT Firs Neue"/>
              </a:rPr>
              <a:t>целевая полнота выявления дефектов</a:t>
            </a:r>
          </a:p>
        </p:txBody>
      </p:sp>
      <p:sp>
        <p:nvSpPr>
          <p:cNvPr id="120" name="Метка: измерено"/>
          <p:cNvSpPr txBox="1"/>
          <p:nvPr/>
        </p:nvSpPr>
        <p:spPr>
          <a:xfrm>
            <a:off x="4854276" y="4068288"/>
            <a:ext cx="3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0" bIns="0" rtlCol="0" anchor="ctr">
            <a:noAutofit/>
          </a:bodyPr>
          <a:lstStyle/>
          <a:p>
            <a:pPr algn="ctr"/>
            <a:br>
              <a:rPr lang="ru-RU" sz="1150" b="1" dirty="0">
                <a:solidFill>
                  <a:schemeClr val="accent2"/>
                </a:solidFill>
                <a:latin typeface="TT Firs Neue"/>
              </a:rPr>
            </a:br>
            <a:r>
              <a:rPr lang="ru-RU" sz="1150" b="1" dirty="0">
                <a:solidFill>
                  <a:schemeClr val="accent2"/>
                </a:solidFill>
                <a:latin typeface="TT Firs Neue"/>
              </a:rPr>
              <a:t>Измерено на собственных данных — не на комплекте заказчика</a:t>
            </a:r>
          </a:p>
        </p:txBody>
      </p:sp>
      <p:sp>
        <p:nvSpPr>
          <p:cNvPr id="122" name="Показатель 122: число"/>
          <p:cNvSpPr txBox="1"/>
          <p:nvPr/>
        </p:nvSpPr>
        <p:spPr>
          <a:xfrm>
            <a:off x="4954276" y="4368288"/>
            <a:ext cx="12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0,86</a:t>
            </a:r>
          </a:p>
        </p:txBody>
      </p:sp>
      <p:sp>
        <p:nvSpPr>
          <p:cNvPr id="123" name="Показатель 122: подпись"/>
          <p:cNvSpPr txBox="1"/>
          <p:nvPr/>
        </p:nvSpPr>
        <p:spPr>
          <a:xfrm>
            <a:off x="6215728" y="4423288"/>
            <a:ext cx="21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ctr">
            <a:noAutofit/>
          </a:bodyPr>
          <a:lstStyle/>
          <a:p>
            <a:r>
              <a:rPr lang="ru-RU" sz="1100" dirty="0" err="1">
                <a:solidFill>
                  <a:schemeClr val="bg1"/>
                </a:solidFill>
                <a:latin typeface="TT Firs Neue"/>
              </a:rPr>
              <a:t>macro</a:t>
            </a:r>
            <a:r>
              <a:rPr lang="ru-RU" sz="1100" dirty="0">
                <a:solidFill>
                  <a:schemeClr val="bg1"/>
                </a:solidFill>
                <a:latin typeface="TT Firs Neue"/>
              </a:rPr>
              <a:t> F1 извлечения требований на </a:t>
            </a:r>
            <a:r>
              <a:rPr lang="ru-RU" sz="1100" dirty="0" err="1">
                <a:solidFill>
                  <a:schemeClr val="bg1"/>
                </a:solidFill>
                <a:latin typeface="TT Firs Neue"/>
              </a:rPr>
              <a:t>фикстуре</a:t>
            </a:r>
            <a:endParaRPr lang="ru-RU" sz="1100" dirty="0">
              <a:solidFill>
                <a:schemeClr val="bg1"/>
              </a:solidFill>
              <a:latin typeface="TT Firs Neue"/>
            </a:endParaRPr>
          </a:p>
        </p:txBody>
      </p:sp>
      <p:sp>
        <p:nvSpPr>
          <p:cNvPr id="124" name="Показатель 124: число"/>
          <p:cNvSpPr txBox="1"/>
          <p:nvPr/>
        </p:nvSpPr>
        <p:spPr>
          <a:xfrm>
            <a:off x="4942824" y="4879944"/>
            <a:ext cx="12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10/10</a:t>
            </a:r>
          </a:p>
        </p:txBody>
      </p:sp>
      <p:sp>
        <p:nvSpPr>
          <p:cNvPr id="125" name="Показатель 124: подпись"/>
          <p:cNvSpPr txBox="1"/>
          <p:nvPr/>
        </p:nvSpPr>
        <p:spPr>
          <a:xfrm>
            <a:off x="6192824" y="4951400"/>
            <a:ext cx="21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ctr">
            <a:no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TT Firs Neue"/>
              </a:rPr>
              <a:t>искусственно внесённых дефектов обнаружено в синтетическом прогоне</a:t>
            </a:r>
          </a:p>
        </p:txBody>
      </p:sp>
      <p:sp>
        <p:nvSpPr>
          <p:cNvPr id="103" name="Карточка: рынок"/>
          <p:cNvSpPr/>
          <p:nvPr/>
        </p:nvSpPr>
        <p:spPr>
          <a:xfrm>
            <a:off x="8604276" y="1900000"/>
            <a:ext cx="3047681" cy="4413492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20000" tIns="110000" rIns="110000" bIns="800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Рынок и масштабирование</a:t>
            </a:r>
            <a:br>
              <a:rPr lang="ru-RU" sz="1600" b="1" dirty="0">
                <a:solidFill>
                  <a:schemeClr val="accent2"/>
                </a:solidFill>
                <a:latin typeface="TT Firs Neue"/>
              </a:rPr>
            </a:br>
            <a:br>
              <a:rPr lang="ru-RU" sz="1600" b="1" dirty="0">
                <a:solidFill>
                  <a:schemeClr val="accent2"/>
                </a:solidFill>
                <a:latin typeface="TT Firs Neue"/>
              </a:rPr>
            </a:br>
            <a:r>
              <a:rPr lang="ru-RU" sz="1300" b="1" dirty="0">
                <a:solidFill>
                  <a:schemeClr val="accent1"/>
                </a:solidFill>
                <a:latin typeface="TT Firs Neue"/>
              </a:rPr>
              <a:t>Покупатель </a:t>
            </a:r>
            <a:br>
              <a:rPr lang="ru-RU" sz="1300" b="1" dirty="0">
                <a:solidFill>
                  <a:schemeClr val="accent1"/>
                </a:solidFill>
                <a:latin typeface="TT Firs Neue"/>
              </a:rPr>
            </a:br>
            <a:r>
              <a:rPr lang="ru-RU" sz="1100" dirty="0">
                <a:solidFill>
                  <a:schemeClr val="bg1"/>
                </a:solidFill>
                <a:latin typeface="TT Firs Neue"/>
              </a:rPr>
              <a:t>Застройщик по 214-ФЗ с собственной СОД, обязательством вести информационную модель и внешним контуром экспертизы. </a:t>
            </a:r>
            <a:r>
              <a:rPr lang="ru-RU" sz="1300" b="1" dirty="0">
                <a:solidFill>
                  <a:schemeClr val="accent1"/>
                </a:solidFill>
                <a:latin typeface="TT Firs Neue"/>
              </a:rPr>
              <a:t>Рыночный контекст </a:t>
            </a:r>
            <a:br>
              <a:rPr lang="ru-RU" sz="1300" b="1" dirty="0">
                <a:solidFill>
                  <a:schemeClr val="accent1"/>
                </a:solidFill>
                <a:latin typeface="TT Firs Neue"/>
              </a:rPr>
            </a:br>
            <a:r>
              <a:rPr lang="ru-RU" sz="1100" dirty="0">
                <a:solidFill>
                  <a:schemeClr val="bg1"/>
                </a:solidFill>
                <a:latin typeface="TT Firs Neue"/>
              </a:rPr>
              <a:t>50–55 млрд ₽ — оценка рынка инженерного ПО России по итогам 2025 года, </a:t>
            </a:r>
            <a:r>
              <a:rPr lang="ru-RU" sz="1100" dirty="0" err="1">
                <a:solidFill>
                  <a:schemeClr val="bg1"/>
                </a:solidFill>
                <a:latin typeface="TT Firs Neue"/>
              </a:rPr>
              <a:t>TAdviser</a:t>
            </a:r>
            <a:r>
              <a:rPr lang="ru-RU" sz="1100" dirty="0">
                <a:solidFill>
                  <a:schemeClr val="bg1"/>
                </a:solidFill>
                <a:latin typeface="TT Firs Neue"/>
              </a:rPr>
              <a:t>. Это контекст отрасли, а не TAM </a:t>
            </a:r>
            <a:r>
              <a:rPr lang="ru-RU" sz="1100" dirty="0" err="1">
                <a:solidFill>
                  <a:schemeClr val="bg1"/>
                </a:solidFill>
                <a:latin typeface="TT Firs Neue"/>
              </a:rPr>
              <a:t>AeroBIM</a:t>
            </a:r>
            <a:r>
              <a:rPr lang="ru-RU" sz="1100" dirty="0">
                <a:solidFill>
                  <a:schemeClr val="bg1"/>
                </a:solidFill>
                <a:latin typeface="TT Firs Neue"/>
              </a:rPr>
              <a:t>. </a:t>
            </a:r>
            <a:br>
              <a:rPr lang="ru-RU" sz="1100" dirty="0">
                <a:solidFill>
                  <a:schemeClr val="bg1"/>
                </a:solidFill>
                <a:latin typeface="TT Firs Neue"/>
              </a:rPr>
            </a:br>
            <a:r>
              <a:rPr lang="ru-RU" sz="1300" b="1" dirty="0">
                <a:solidFill>
                  <a:schemeClr val="accent1"/>
                </a:solidFill>
                <a:latin typeface="TT Firs Neue"/>
              </a:rPr>
              <a:t>Целевой сегмент </a:t>
            </a:r>
            <a:br>
              <a:rPr lang="ru-RU" sz="1300" b="1" dirty="0">
                <a:solidFill>
                  <a:schemeClr val="accent1"/>
                </a:solidFill>
                <a:latin typeface="TT Firs Neue"/>
              </a:rPr>
            </a:br>
            <a:r>
              <a:rPr lang="ru-RU" sz="1100" dirty="0">
                <a:solidFill>
                  <a:schemeClr val="bg1"/>
                </a:solidFill>
                <a:latin typeface="TT Firs Neue"/>
              </a:rPr>
              <a:t>30–50 групп застройщиков — оценка команды по открытым данным.</a:t>
            </a:r>
            <a:br>
              <a:rPr lang="ru-RU" sz="1100" dirty="0">
                <a:solidFill>
                  <a:schemeClr val="bg1"/>
                </a:solidFill>
                <a:latin typeface="TT Firs Neue"/>
              </a:rPr>
            </a:br>
            <a:r>
              <a:rPr lang="ru-RU" sz="1200" b="1" dirty="0">
                <a:solidFill>
                  <a:schemeClr val="accent1"/>
                </a:solidFill>
                <a:latin typeface="TT Firs Neue"/>
              </a:rPr>
              <a:t>Сценарий масштаба</a:t>
            </a:r>
            <a:br>
              <a:rPr lang="ru-RU" sz="1200" b="1" dirty="0">
                <a:solidFill>
                  <a:schemeClr val="accent1"/>
                </a:solidFill>
                <a:latin typeface="TT Firs Neue"/>
              </a:rPr>
            </a:br>
            <a:r>
              <a:rPr lang="ru-RU" sz="1100" dirty="0">
                <a:solidFill>
                  <a:schemeClr val="bg1"/>
                </a:solidFill>
                <a:latin typeface="TT Firs Neue"/>
              </a:rPr>
              <a:t>30–50 групп × 3,3 млн ₽ = 99–165 млн ₽ в год.</a:t>
            </a:r>
          </a:p>
          <a:p>
            <a:pPr>
              <a:spcAft>
                <a:spcPts val="400"/>
              </a:spcAft>
            </a:pPr>
            <a:r>
              <a:rPr lang="ru-RU" sz="1050" i="1" dirty="0">
                <a:solidFill>
                  <a:schemeClr val="bg1"/>
                </a:solidFill>
                <a:latin typeface="TT Firs Neue"/>
              </a:rPr>
              <a:t>Сценарная оценка; цена и охват не подтверждены продажами.</a:t>
            </a:r>
            <a:br>
              <a:rPr lang="ru-RU" sz="1050" i="1" dirty="0">
                <a:solidFill>
                  <a:schemeClr val="bg1"/>
                </a:solidFill>
              </a:rPr>
            </a:br>
            <a:r>
              <a:rPr lang="ru-RU" sz="1200" b="1" dirty="0">
                <a:solidFill>
                  <a:schemeClr val="accent1"/>
                </a:solidFill>
                <a:latin typeface="TT Firs Neue"/>
              </a:rPr>
              <a:t>Масштабирование</a:t>
            </a:r>
            <a:br>
              <a:rPr lang="ru-RU" sz="1200" b="1" dirty="0">
                <a:solidFill>
                  <a:schemeClr val="accent1"/>
                </a:solidFill>
                <a:latin typeface="TT Firs Neue"/>
              </a:rPr>
            </a:br>
            <a:r>
              <a:rPr lang="ru-RU" sz="1100" dirty="0">
                <a:solidFill>
                  <a:schemeClr val="bg1"/>
                </a:solidFill>
                <a:latin typeface="TT Firs Neue"/>
              </a:rPr>
              <a:t>Новый объект требует нового IDS-профиля, но не отдельной версии ядра.</a:t>
            </a:r>
          </a:p>
        </p:txBody>
      </p:sp>
      <p:sp>
        <p:nvSpPr>
          <p:cNvPr id="3" name="Показатель 124: число">
            <a:extLst>
              <a:ext uri="{FF2B5EF4-FFF2-40B4-BE49-F238E27FC236}">
                <a16:creationId xmlns:a16="http://schemas.microsoft.com/office/drawing/2014/main" id="{234C5628-C445-23AE-0791-363C3CD36EF5}"/>
              </a:ext>
            </a:extLst>
          </p:cNvPr>
          <p:cNvSpPr txBox="1"/>
          <p:nvPr/>
        </p:nvSpPr>
        <p:spPr bwMode="auto">
          <a:xfrm>
            <a:off x="4965728" y="5412700"/>
            <a:ext cx="12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1/8</a:t>
            </a:r>
          </a:p>
        </p:txBody>
      </p:sp>
      <p:sp>
        <p:nvSpPr>
          <p:cNvPr id="6" name="Показатель 124: подпись">
            <a:extLst>
              <a:ext uri="{FF2B5EF4-FFF2-40B4-BE49-F238E27FC236}">
                <a16:creationId xmlns:a16="http://schemas.microsoft.com/office/drawing/2014/main" id="{0DCEBF29-F4ED-5E31-540D-2BB3F2F61AC9}"/>
              </a:ext>
            </a:extLst>
          </p:cNvPr>
          <p:cNvSpPr txBox="1"/>
          <p:nvPr/>
        </p:nvSpPr>
        <p:spPr bwMode="auto">
          <a:xfrm>
            <a:off x="6192824" y="5430241"/>
            <a:ext cx="2150000" cy="788456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ctr">
            <a:no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TT Firs Neue"/>
              </a:rPr>
              <a:t>отдельный </a:t>
            </a:r>
            <a:r>
              <a:rPr lang="ru-RU" sz="1100" dirty="0" err="1">
                <a:solidFill>
                  <a:schemeClr val="bg1"/>
                </a:solidFill>
                <a:latin typeface="TT Firs Neue"/>
              </a:rPr>
              <a:t>mini</a:t>
            </a:r>
            <a:r>
              <a:rPr lang="ru-RU" sz="1100" dirty="0">
                <a:solidFill>
                  <a:schemeClr val="bg1"/>
                </a:solidFill>
                <a:latin typeface="TT Firs Neue"/>
              </a:rPr>
              <a:t>-IFC; причина расхождения наборов пока не установлена</a:t>
            </a:r>
            <a:br>
              <a:rPr lang="ru-RU" sz="1100" dirty="0">
                <a:solidFill>
                  <a:schemeClr val="bg1"/>
                </a:solidFill>
                <a:latin typeface="TT Firs Neue"/>
              </a:rPr>
            </a:br>
            <a:endParaRPr lang="ru-RU" sz="1100" dirty="0">
              <a:solidFill>
                <a:schemeClr val="bg1"/>
              </a:solidFill>
              <a:latin typeface="TT Firs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380A7-57BC-E861-F145-AFAE301F9839}"/>
              </a:ext>
            </a:extLst>
          </p:cNvPr>
          <p:cNvSpPr txBox="1"/>
          <p:nvPr/>
        </p:nvSpPr>
        <p:spPr>
          <a:xfrm>
            <a:off x="4965728" y="5834932"/>
            <a:ext cx="125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i="1" dirty="0" err="1">
                <a:solidFill>
                  <a:schemeClr val="bg1"/>
                </a:solidFill>
                <a:latin typeface="TT Firs Neue"/>
              </a:rPr>
              <a:t>Фикстуры</a:t>
            </a:r>
            <a:r>
              <a:rPr lang="ru-RU" sz="800" i="1" dirty="0">
                <a:solidFill>
                  <a:schemeClr val="bg1"/>
                </a:solidFill>
                <a:latin typeface="TT Firs Neue"/>
              </a:rPr>
              <a:t> и синтетические данные — не точность на комплекте заказчика.</a:t>
            </a:r>
            <a:endParaRPr lang="ru-RU" sz="8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 bwMode="auto">
          <a:xfrm>
            <a:off x="430212" y="314632"/>
            <a:ext cx="88907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dirty="0">
                <a:solidFill>
                  <a:schemeClr val="bg1"/>
                </a:solidFill>
                <a:latin typeface="TT Firs Neue DemiBold"/>
              </a:rPr>
              <a:t>Демо-кейс: находка с доказательствами</a:t>
            </a:r>
            <a:endParaRPr dirty="0"/>
          </a:p>
        </p:txBody>
      </p:sp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430212" y="868630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 bwMode="auto">
          <a:xfrm flipH="1">
            <a:off x="11377326" y="6313491"/>
            <a:ext cx="304083" cy="323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500">
                <a:solidFill>
                  <a:schemeClr val="bg1"/>
                </a:solidFill>
                <a:latin typeface="TT Firs Neue DemiBold"/>
              </a:rPr>
              <a:t>4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r="65603" b="730"/>
          <a:stretch/>
        </p:blipFill>
        <p:spPr bwMode="auto"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100" name="Суть демо"/>
          <p:cNvSpPr txBox="1"/>
          <p:nvPr/>
        </p:nvSpPr>
        <p:spPr>
          <a:xfrm>
            <a:off x="430212" y="1090000"/>
            <a:ext cx="11221681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ru-RU" sz="1400" b="1" dirty="0">
                <a:solidFill>
                  <a:schemeClr val="accent2"/>
                </a:solidFill>
                <a:latin typeface="TT Firs Neue"/>
              </a:rPr>
              <a:t>На демо-кейсе </a:t>
            </a:r>
            <a:r>
              <a:rPr lang="ru-RU" sz="1400" b="1" dirty="0" err="1">
                <a:solidFill>
                  <a:schemeClr val="accent2"/>
                </a:solidFill>
                <a:latin typeface="TT Firs Neue"/>
              </a:rPr>
              <a:t>AeroBIM</a:t>
            </a:r>
            <a:r>
              <a:rPr lang="ru-RU" sz="1400" b="1" dirty="0">
                <a:solidFill>
                  <a:schemeClr val="accent2"/>
                </a:solidFill>
                <a:latin typeface="TT Firs Neue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TT Firs Neue"/>
              </a:rPr>
              <a:t>по заранее заданной связи сопоставляет значение из IFC-модели со значением на листе PDF/A, фиксирует расхождение и формирует карточку замечания с доказательной трассой.</a:t>
            </a:r>
          </a:p>
        </p:txBody>
      </p:sp>
      <p:sp>
        <p:nvSpPr>
          <p:cNvPr id="110" name="Шаг 1"/>
          <p:cNvSpPr/>
          <p:nvPr/>
        </p:nvSpPr>
        <p:spPr>
          <a:xfrm>
            <a:off x="454276" y="1900000"/>
            <a:ext cx="3565893" cy="1974904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40000" tIns="110000" rIns="120000" bIns="6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chemeClr val="accent1"/>
                </a:solidFill>
                <a:latin typeface="TT Firs Neue"/>
              </a:rPr>
              <a:t>1.  </a:t>
            </a: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Модель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  <a:latin typeface="TT Firs Neue DemiBold"/>
              </a:rPr>
              <a:t>30 мм</a:t>
            </a:r>
          </a:p>
          <a:p>
            <a:r>
              <a:rPr lang="ru-RU" sz="1200" dirty="0">
                <a:solidFill>
                  <a:schemeClr val="bg1"/>
                </a:solidFill>
                <a:latin typeface="TT Firs Neue"/>
              </a:rPr>
              <a:t>Защитный слой, IFC2X3, этаж 2, ось 4. 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Элемент идентифицируется по GUID.</a:t>
            </a:r>
          </a:p>
        </p:txBody>
      </p:sp>
      <p:sp>
        <p:nvSpPr>
          <p:cNvPr id="150" name="Стрелка 00"/>
          <p:cNvSpPr/>
          <p:nvPr/>
        </p:nvSpPr>
        <p:spPr>
          <a:xfrm>
            <a:off x="4060169" y="2585000"/>
            <a:ext cx="170000" cy="2800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11" name="Шаг 2"/>
          <p:cNvSpPr/>
          <p:nvPr/>
        </p:nvSpPr>
        <p:spPr>
          <a:xfrm>
            <a:off x="4270169" y="1900000"/>
            <a:ext cx="3565893" cy="1974904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40000" tIns="110000" rIns="120000" bIns="6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chemeClr val="accent1"/>
                </a:solidFill>
                <a:latin typeface="TT Firs Neue"/>
              </a:rPr>
              <a:t>2.  </a:t>
            </a: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Лист КЖ-12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  <a:latin typeface="TT Firs Neue DemiBold"/>
              </a:rPr>
              <a:t>40 мм</a:t>
            </a:r>
          </a:p>
          <a:p>
            <a:r>
              <a:rPr lang="ru-RU" sz="1200" dirty="0">
                <a:solidFill>
                  <a:schemeClr val="bg1"/>
                </a:solidFill>
                <a:latin typeface="TT Firs Neue"/>
              </a:rPr>
              <a:t>Соответствующий узел на листе PDF/A, ревизия 3. 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Связь задана в демо-профиле; значение извлечено из области листа.</a:t>
            </a:r>
          </a:p>
        </p:txBody>
      </p:sp>
      <p:sp>
        <p:nvSpPr>
          <p:cNvPr id="151" name="Стрелка 01"/>
          <p:cNvSpPr/>
          <p:nvPr/>
        </p:nvSpPr>
        <p:spPr>
          <a:xfrm>
            <a:off x="7876062" y="2585000"/>
            <a:ext cx="170000" cy="2800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12" name="Шаг 3"/>
          <p:cNvSpPr/>
          <p:nvPr/>
        </p:nvSpPr>
        <p:spPr>
          <a:xfrm>
            <a:off x="8086062" y="1900000"/>
            <a:ext cx="3565893" cy="1974904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40000" tIns="110000" rIns="120000" bIns="6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chemeClr val="accent1"/>
                </a:solidFill>
                <a:latin typeface="TT Firs Neue"/>
              </a:rPr>
              <a:t>3.  </a:t>
            </a: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Расхождение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  <a:latin typeface="TT Firs Neue DemiBold"/>
              </a:rPr>
              <a:t>10 мм</a:t>
            </a:r>
          </a:p>
          <a:p>
            <a:r>
              <a:rPr lang="ru-RU" sz="1200" dirty="0">
                <a:solidFill>
                  <a:schemeClr val="bg1"/>
                </a:solidFill>
                <a:latin typeface="TT Firs Neue"/>
              </a:rPr>
              <a:t>Детерминированная проверка сравнивает 30 и 40 мм и фиксирует противоречие между источниками. 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050" i="1" dirty="0">
                <a:solidFill>
                  <a:schemeClr val="bg1"/>
                </a:solidFill>
                <a:latin typeface="TT Firs Neue"/>
              </a:rPr>
              <a:t>При отсутствии обязательного источника положительный результат не формируется.</a:t>
            </a:r>
            <a:endParaRPr lang="ru-RU" sz="1200" i="1" dirty="0">
              <a:solidFill>
                <a:schemeClr val="bg1"/>
              </a:solidFill>
              <a:latin typeface="TT Firs Neue"/>
            </a:endParaRPr>
          </a:p>
        </p:txBody>
      </p:sp>
      <p:sp>
        <p:nvSpPr>
          <p:cNvPr id="120" name="Шаг 4"/>
          <p:cNvSpPr/>
          <p:nvPr/>
        </p:nvSpPr>
        <p:spPr>
          <a:xfrm>
            <a:off x="454276" y="4124904"/>
            <a:ext cx="3565893" cy="141636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40000" tIns="110000" rIns="120000" bIns="6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chemeClr val="accent1"/>
                </a:solidFill>
                <a:latin typeface="TT Firs Neue"/>
              </a:rPr>
              <a:t>4.  </a:t>
            </a: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Карточка замечания</a:t>
            </a:r>
          </a:p>
          <a:p>
            <a:r>
              <a:rPr lang="ru-RU" sz="1200" dirty="0">
                <a:solidFill>
                  <a:schemeClr val="bg1"/>
                </a:solidFill>
                <a:latin typeface="TT Firs Neue"/>
              </a:rPr>
              <a:t>Правило проверки, значения 30/40 мм, источник требования, GUID элемента модели и координаты области листа.</a:t>
            </a:r>
          </a:p>
        </p:txBody>
      </p:sp>
      <p:sp>
        <p:nvSpPr>
          <p:cNvPr id="160" name="Стрелка 10"/>
          <p:cNvSpPr/>
          <p:nvPr/>
        </p:nvSpPr>
        <p:spPr>
          <a:xfrm>
            <a:off x="4060169" y="4684904"/>
            <a:ext cx="170000" cy="2800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21" name="Шаг 5"/>
          <p:cNvSpPr/>
          <p:nvPr/>
        </p:nvSpPr>
        <p:spPr>
          <a:xfrm>
            <a:off x="4270169" y="4124904"/>
            <a:ext cx="3565893" cy="141636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40000" tIns="110000" rIns="120000" bIns="6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chemeClr val="accent1"/>
                </a:solidFill>
                <a:latin typeface="TT Firs Neue"/>
              </a:rPr>
              <a:t>5.  </a:t>
            </a: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Решение эксперта</a:t>
            </a:r>
          </a:p>
          <a:p>
            <a:r>
              <a:rPr lang="ru-RU" sz="1200" dirty="0">
                <a:solidFill>
                  <a:schemeClr val="bg1"/>
                </a:solidFill>
                <a:latin typeface="TT Firs Neue"/>
              </a:rPr>
              <a:t>Эксперт принимает, отклоняет или уточняет находку. Только человек устанавливает итоговый статус замечания.</a:t>
            </a:r>
          </a:p>
        </p:txBody>
      </p:sp>
      <p:sp>
        <p:nvSpPr>
          <p:cNvPr id="161" name="Стрелка 11"/>
          <p:cNvSpPr/>
          <p:nvPr/>
        </p:nvSpPr>
        <p:spPr>
          <a:xfrm>
            <a:off x="7876062" y="4684904"/>
            <a:ext cx="170000" cy="2800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22" name="Шаг 6"/>
          <p:cNvSpPr/>
          <p:nvPr/>
        </p:nvSpPr>
        <p:spPr>
          <a:xfrm>
            <a:off x="8086062" y="4124904"/>
            <a:ext cx="3565893" cy="141636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40000" tIns="110000" rIns="120000" bIns="6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chemeClr val="accent1"/>
                </a:solidFill>
                <a:latin typeface="TT Firs Neue"/>
              </a:rPr>
              <a:t>6.  </a:t>
            </a: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Экспорт BCF</a:t>
            </a:r>
          </a:p>
          <a:p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AeroBIM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формирует BCF 2.1/3.0 с описанием находки и ссылкой на элемент модели. Структурная валидность BCF подтверждена на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фикстуре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; импорт в целевую СОД проверяется в рамках пилота.</a:t>
            </a:r>
            <a:r>
              <a:rPr lang="en-US" sz="1200" dirty="0">
                <a:solidFill>
                  <a:schemeClr val="bg1"/>
                </a:solidFill>
                <a:latin typeface="TT Firs Neue"/>
              </a:rPr>
              <a:t> 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endParaRPr lang="ru-RU" sz="1200" dirty="0">
              <a:solidFill>
                <a:schemeClr val="bg1"/>
              </a:solidFill>
              <a:latin typeface="TT Firs Neue"/>
            </a:endParaRPr>
          </a:p>
        </p:txBody>
      </p:sp>
      <p:sp>
        <p:nvSpPr>
          <p:cNvPr id="140" name="Оговорка"/>
          <p:cNvSpPr txBox="1"/>
          <p:nvPr/>
        </p:nvSpPr>
        <p:spPr>
          <a:xfrm>
            <a:off x="443986" y="5768000"/>
            <a:ext cx="10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r>
              <a:rPr lang="ru-RU" sz="1400" b="1" dirty="0">
                <a:solidFill>
                  <a:srgbClr val="EE9456"/>
                </a:solidFill>
                <a:latin typeface="TT Firs Neue"/>
              </a:rPr>
              <a:t>Подтверждено на </a:t>
            </a:r>
            <a:r>
              <a:rPr lang="ru-RU" sz="1400" b="1" dirty="0" err="1">
                <a:solidFill>
                  <a:srgbClr val="EE9456"/>
                </a:solidFill>
                <a:latin typeface="TT Firs Neue"/>
              </a:rPr>
              <a:t>фикстуре</a:t>
            </a:r>
            <a:r>
              <a:rPr lang="ru-RU" sz="1400" b="1" dirty="0">
                <a:solidFill>
                  <a:srgbClr val="EE9456"/>
                </a:solidFill>
                <a:latin typeface="TT Firs Neue"/>
              </a:rPr>
              <a:t>: </a:t>
            </a:r>
            <a:r>
              <a:rPr lang="ru-RU" sz="1400" dirty="0">
                <a:solidFill>
                  <a:schemeClr val="accent5"/>
                </a:solidFill>
                <a:latin typeface="TT Firs Neue"/>
              </a:rPr>
              <a:t>сравнение значений, детерминированное формирование находки, GUID элемента, карточка результата и структурный экспорт BCF.</a:t>
            </a:r>
          </a:p>
          <a:p>
            <a:r>
              <a:rPr lang="ru-RU" sz="1400" b="1" dirty="0">
                <a:solidFill>
                  <a:srgbClr val="EE9456"/>
                </a:solidFill>
                <a:latin typeface="TT Firs Neue"/>
              </a:rPr>
              <a:t>Проверяется на пилоте: </a:t>
            </a:r>
            <a:r>
              <a:rPr lang="ru-RU" sz="1400" dirty="0">
                <a:solidFill>
                  <a:schemeClr val="accent5"/>
                </a:solidFill>
                <a:latin typeface="TT Firs Neue"/>
              </a:rPr>
              <a:t>данные заказчика, устойчивое связывание модели и листа, визуальная подсветка области PDF и импорт BCF в целевую СОД.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87B7E7A-4DE9-0432-260E-E65B3E04953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B41C83-1A31-8ACF-9FA7-F16CB3A74B86}"/>
              </a:ext>
            </a:extLst>
          </p:cNvPr>
          <p:cNvSpPr txBox="1"/>
          <p:nvPr/>
        </p:nvSpPr>
        <p:spPr bwMode="auto">
          <a:xfrm>
            <a:off x="430212" y="314632"/>
            <a:ext cx="88907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dirty="0">
                <a:solidFill>
                  <a:schemeClr val="bg1"/>
                </a:solidFill>
                <a:latin typeface="TT Firs Neue DemiBold"/>
              </a:rPr>
              <a:t>Архитектура: детерминированное ядро и эксперт</a:t>
            </a:r>
            <a:endParaRPr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7EA2587-D1B9-280D-8552-7552093062BD}"/>
              </a:ext>
            </a:extLst>
          </p:cNvPr>
          <p:cNvCxnSpPr>
            <a:cxnSpLocks/>
          </p:cNvCxnSpPr>
          <p:nvPr/>
        </p:nvCxnSpPr>
        <p:spPr bwMode="auto">
          <a:xfrm>
            <a:off x="430212" y="868630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9ED5FE-9B18-1D37-2D9C-D34E39922A24}"/>
              </a:ext>
            </a:extLst>
          </p:cNvPr>
          <p:cNvSpPr txBox="1"/>
          <p:nvPr/>
        </p:nvSpPr>
        <p:spPr bwMode="auto">
          <a:xfrm flipH="1">
            <a:off x="11377326" y="6313491"/>
            <a:ext cx="3040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500" dirty="0">
                <a:solidFill>
                  <a:schemeClr val="bg1"/>
                </a:solidFill>
                <a:latin typeface="TT Firs Neue DemiBold"/>
              </a:rPr>
              <a:t>5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EC31AC4-540E-FFE6-C48B-BCBE4EF9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603" b="730"/>
          <a:stretch/>
        </p:blipFill>
        <p:spPr bwMode="auto">
          <a:xfrm>
            <a:off x="11006563" y="394937"/>
            <a:ext cx="674846" cy="393388"/>
          </a:xfrm>
          <a:prstGeom prst="rect">
            <a:avLst/>
          </a:prstGeom>
        </p:spPr>
      </p:pic>
      <p:sp>
        <p:nvSpPr>
          <p:cNvPr id="100" name="Главное"/>
          <p:cNvSpPr txBox="1"/>
          <p:nvPr/>
        </p:nvSpPr>
        <p:spPr>
          <a:xfrm>
            <a:off x="430212" y="1090000"/>
            <a:ext cx="11221681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ru-RU" sz="1400" b="1" dirty="0">
                <a:solidFill>
                  <a:schemeClr val="accent2"/>
                </a:solidFill>
                <a:latin typeface="TT Firs Neue"/>
              </a:rPr>
              <a:t>Технический результат </a:t>
            </a:r>
            <a:r>
              <a:rPr lang="ru-RU" sz="1400" dirty="0">
                <a:solidFill>
                  <a:schemeClr val="bg1"/>
                </a:solidFill>
                <a:latin typeface="TT Firs Neue"/>
              </a:rPr>
              <a:t>формирует только детерминированный контур. ИИ может подготовить подсказку или черновик, но не меняет </a:t>
            </a:r>
            <a:r>
              <a:rPr lang="ru-RU" sz="1400" dirty="0" err="1">
                <a:solidFill>
                  <a:schemeClr val="bg1"/>
                </a:solidFill>
                <a:latin typeface="TT Firs Neue"/>
              </a:rPr>
              <a:t>summary.passed</a:t>
            </a:r>
            <a:r>
              <a:rPr lang="ru-RU" sz="1400" dirty="0">
                <a:solidFill>
                  <a:schemeClr val="bg1"/>
                </a:solidFill>
                <a:latin typeface="TT Firs Neue"/>
              </a:rPr>
              <a:t>. Итоговое решение принимает эксперт заказчика.</a:t>
            </a:r>
          </a:p>
        </p:txBody>
      </p:sp>
      <p:sp>
        <p:nvSpPr>
          <p:cNvPr id="110" name="Блок 01"/>
          <p:cNvSpPr/>
          <p:nvPr/>
        </p:nvSpPr>
        <p:spPr>
          <a:xfrm>
            <a:off x="454276" y="1700000"/>
            <a:ext cx="2551920" cy="392356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30000" tIns="120000" rIns="110000" bIns="8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accent1"/>
                </a:solidFill>
                <a:latin typeface="TT Firs Neue DemiBold"/>
              </a:rPr>
              <a:t>01</a:t>
            </a:r>
          </a:p>
          <a:p>
            <a:pPr algn="l">
              <a:lnSpc>
                <a:spcPct val="9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Вход и границы</a:t>
            </a:r>
            <a:br>
              <a:rPr lang="ru-RU" sz="1500" b="1" dirty="0">
                <a:solidFill>
                  <a:schemeClr val="accent2"/>
                </a:solidFill>
                <a:latin typeface="TT Firs Neue"/>
              </a:rPr>
            </a:br>
            <a:endParaRPr lang="ru-RU" sz="1500" b="1" dirty="0">
              <a:solidFill>
                <a:schemeClr val="accent2"/>
              </a:solidFill>
              <a:latin typeface="TT Firs Neue"/>
            </a:endParaRP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en-US" sz="1200" dirty="0">
                <a:solidFill>
                  <a:schemeClr val="bg1"/>
                </a:solidFill>
                <a:latin typeface="TT Firs Neue"/>
              </a:rPr>
              <a:t>IFC2X3, IFC4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, </a:t>
            </a:r>
            <a:r>
              <a:rPr lang="en-US" sz="1200" dirty="0">
                <a:solidFill>
                  <a:schemeClr val="bg1"/>
                </a:solidFill>
                <a:latin typeface="TT Firs Neue"/>
              </a:rPr>
              <a:t>IFC4X3, PDF/A, XML 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и </a:t>
            </a:r>
            <a:r>
              <a:rPr lang="en-US" sz="1200" dirty="0">
                <a:solidFill>
                  <a:schemeClr val="bg1"/>
                </a:solidFill>
                <a:latin typeface="TT Firs Neue"/>
              </a:rPr>
              <a:t>IDS 1.0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en-US" sz="1200" dirty="0">
                <a:solidFill>
                  <a:schemeClr val="bg1"/>
                </a:solidFill>
                <a:latin typeface="TT Firs Neue"/>
              </a:rPr>
              <a:t>DWG, RVT 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и </a:t>
            </a:r>
            <a:r>
              <a:rPr lang="en-US" sz="1200" dirty="0">
                <a:solidFill>
                  <a:schemeClr val="bg1"/>
                </a:solidFill>
                <a:latin typeface="TT Firs Neue"/>
              </a:rPr>
              <a:t>NWD — 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только через стандартизированный экспорт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Загрузка комплекта — до 1,5 ГБ; анализ одного IFC SPF — до 256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МиБ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.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Развёртывание локально и офлайн</a:t>
            </a:r>
            <a:r>
              <a:rPr lang="en-US" sz="1200" dirty="0">
                <a:solidFill>
                  <a:schemeClr val="bg1"/>
                </a:solidFill>
                <a:latin typeface="TT Firs Neue"/>
              </a:rPr>
              <a:t>; 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файлы не покидают контур заказчика</a:t>
            </a:r>
          </a:p>
        </p:txBody>
      </p:sp>
      <p:pic>
        <p:nvPicPr>
          <p:cNvPr id="120" name="Иконка 01" descr="Иконка блока 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96" y="1810000"/>
            <a:ext cx="760000" cy="760000"/>
          </a:xfrm>
          <a:prstGeom prst="rect">
            <a:avLst/>
          </a:prstGeom>
        </p:spPr>
      </p:pic>
      <p:sp>
        <p:nvSpPr>
          <p:cNvPr id="130" name="Стрелка 1"/>
          <p:cNvSpPr/>
          <p:nvPr/>
        </p:nvSpPr>
        <p:spPr>
          <a:xfrm>
            <a:off x="3071196" y="3500000"/>
            <a:ext cx="200000" cy="3000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11" name="Блок 02"/>
          <p:cNvSpPr/>
          <p:nvPr/>
        </p:nvSpPr>
        <p:spPr>
          <a:xfrm>
            <a:off x="3336196" y="1700000"/>
            <a:ext cx="2551920" cy="392356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30000" tIns="120000" rIns="110000" bIns="8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accent1"/>
                </a:solidFill>
                <a:latin typeface="TT Firs Neue DemiBold"/>
              </a:rPr>
              <a:t>02</a:t>
            </a:r>
          </a:p>
          <a:p>
            <a:pPr>
              <a:lnSpc>
                <a:spcPct val="95000"/>
              </a:lnSpc>
              <a:spcBef>
                <a:spcPts val="2600"/>
              </a:spcBef>
            </a:pP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Контракт проверки</a:t>
            </a:r>
            <a:br>
              <a:rPr lang="ru-RU" sz="1500" b="1" dirty="0">
                <a:solidFill>
                  <a:schemeClr val="accent2"/>
                </a:solidFill>
                <a:latin typeface="TT Firs Neue"/>
              </a:rPr>
            </a:br>
            <a:endParaRPr lang="ru-RU" sz="1100" dirty="0">
              <a:solidFill>
                <a:schemeClr val="accent5"/>
              </a:solidFill>
              <a:latin typeface="TT Firs Neue"/>
            </a:endParaRP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Формализуемые требования переводятся в машиночитаемый профиль IDS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Фиксируются версия, область применения, владелец и хэш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Каждый пункт связан с правилом и источником требования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Профиль заказчика согласуется до измерительного прогона</a:t>
            </a:r>
          </a:p>
        </p:txBody>
      </p:sp>
      <p:pic>
        <p:nvPicPr>
          <p:cNvPr id="121" name="Иконка 02" descr="Иконка блока 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116" y="1810000"/>
            <a:ext cx="760000" cy="760000"/>
          </a:xfrm>
          <a:prstGeom prst="rect">
            <a:avLst/>
          </a:prstGeom>
        </p:spPr>
      </p:pic>
      <p:sp>
        <p:nvSpPr>
          <p:cNvPr id="131" name="Стрелка 2"/>
          <p:cNvSpPr/>
          <p:nvPr/>
        </p:nvSpPr>
        <p:spPr>
          <a:xfrm>
            <a:off x="5953116" y="3500000"/>
            <a:ext cx="200000" cy="3000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12" name="Блок 03"/>
          <p:cNvSpPr/>
          <p:nvPr/>
        </p:nvSpPr>
        <p:spPr>
          <a:xfrm>
            <a:off x="6218116" y="1699999"/>
            <a:ext cx="2551920" cy="3923561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30000" tIns="120000" rIns="110000" bIns="8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accent1"/>
                </a:solidFill>
                <a:latin typeface="TT Firs Neue DemiBold"/>
              </a:rPr>
              <a:t>03</a:t>
            </a:r>
          </a:p>
          <a:p>
            <a:pPr>
              <a:lnSpc>
                <a:spcPct val="95000"/>
              </a:lnSpc>
              <a:spcBef>
                <a:spcPts val="2600"/>
              </a:spcBef>
            </a:pP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Проверка и контроль доступности</a:t>
            </a:r>
            <a:endParaRPr lang="ru-RU" sz="1100" dirty="0">
              <a:solidFill>
                <a:schemeClr val="accent5"/>
              </a:solidFill>
              <a:latin typeface="TT Firs Neue"/>
            </a:endParaRP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Детерминированное ядро: IDS-валидация и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междокументные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проверки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Коллизии и геометрия — только при подтверждённой возможности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Недоступная обязательная проверка даёт FAILED/NOT_VERIFIED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summary.passed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рассчитывается без участия ИИ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ИИ опционален и по умолчанию выключен</a:t>
            </a:r>
          </a:p>
        </p:txBody>
      </p:sp>
      <p:pic>
        <p:nvPicPr>
          <p:cNvPr id="122" name="Иконка 03" descr="Иконка блока 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036" y="1810000"/>
            <a:ext cx="760000" cy="760000"/>
          </a:xfrm>
          <a:prstGeom prst="rect">
            <a:avLst/>
          </a:prstGeom>
        </p:spPr>
      </p:pic>
      <p:sp>
        <p:nvSpPr>
          <p:cNvPr id="132" name="Стрелка 3"/>
          <p:cNvSpPr/>
          <p:nvPr/>
        </p:nvSpPr>
        <p:spPr>
          <a:xfrm>
            <a:off x="8835036" y="3500000"/>
            <a:ext cx="200000" cy="3000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13" name="Блок 04"/>
          <p:cNvSpPr/>
          <p:nvPr/>
        </p:nvSpPr>
        <p:spPr>
          <a:xfrm>
            <a:off x="9100036" y="1700000"/>
            <a:ext cx="2551920" cy="3912121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30000" tIns="120000" rIns="110000" bIns="8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accent1"/>
                </a:solidFill>
                <a:latin typeface="TT Firs Neue DemiBold"/>
              </a:rPr>
              <a:t>04</a:t>
            </a:r>
          </a:p>
          <a:p>
            <a:pPr>
              <a:lnSpc>
                <a:spcPct val="95000"/>
              </a:lnSpc>
              <a:spcBef>
                <a:spcPts val="2600"/>
              </a:spcBef>
            </a:pPr>
            <a:r>
              <a:rPr lang="ru-RU" sz="1500" b="1" dirty="0">
                <a:solidFill>
                  <a:schemeClr val="accent2"/>
                </a:solidFill>
                <a:latin typeface="TT Firs Neue"/>
              </a:rPr>
              <a:t>Доказательства и решение</a:t>
            </a:r>
            <a:endParaRPr lang="ru-RU" sz="1100" dirty="0">
              <a:solidFill>
                <a:schemeClr val="accent5"/>
              </a:solidFill>
              <a:latin typeface="TT Firs Neue"/>
            </a:endParaRP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Находка содержит правило, источник, значения, ревизию и GUID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Эксперт принимает, отклоняет или уточняет результат; решение сохраняется в аудите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Формируются JSON, HTML и структурный BCF 2.1/3.0</a:t>
            </a:r>
          </a:p>
          <a:p>
            <a:pPr marL="170000" indent="-170000">
              <a:lnSpc>
                <a:spcPct val="95000"/>
              </a:lnSpc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Импорт BCF и корпоративный OIDC проверяются на пилоте</a:t>
            </a:r>
          </a:p>
        </p:txBody>
      </p:sp>
      <p:pic>
        <p:nvPicPr>
          <p:cNvPr id="123" name="Иконка 04" descr="Иконка блока 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1956" y="1810000"/>
            <a:ext cx="760000" cy="760000"/>
          </a:xfrm>
          <a:prstGeom prst="rect">
            <a:avLst/>
          </a:prstGeom>
        </p:spPr>
      </p:pic>
      <p:sp>
        <p:nvSpPr>
          <p:cNvPr id="140" name="Оговорка"/>
          <p:cNvSpPr txBox="1"/>
          <p:nvPr/>
        </p:nvSpPr>
        <p:spPr>
          <a:xfrm>
            <a:off x="443986" y="5768000"/>
            <a:ext cx="10900000" cy="3486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r>
              <a:rPr lang="ru-RU" sz="1200" b="1" dirty="0">
                <a:solidFill>
                  <a:srgbClr val="EE9456"/>
                </a:solidFill>
              </a:rPr>
              <a:t>Подтверждено:</a:t>
            </a:r>
            <a:r>
              <a:rPr lang="ru-RU" sz="1200" dirty="0">
                <a:solidFill>
                  <a:srgbClr val="EE9456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офлайн-разбор, детерминированные проверки на </a:t>
            </a:r>
            <a:r>
              <a:rPr lang="ru-RU" sz="1200" dirty="0" err="1">
                <a:solidFill>
                  <a:schemeClr val="bg1"/>
                </a:solidFill>
              </a:rPr>
              <a:t>фикстурах</a:t>
            </a:r>
            <a:r>
              <a:rPr lang="ru-RU" sz="1200" dirty="0">
                <a:solidFill>
                  <a:schemeClr val="bg1"/>
                </a:solidFill>
              </a:rPr>
              <a:t>, отказ без ложного положительного результата, доказательная трасса и структурный экспорт BCF.</a:t>
            </a:r>
          </a:p>
          <a:p>
            <a:r>
              <a:rPr lang="ru-RU" sz="1200" b="1" dirty="0">
                <a:solidFill>
                  <a:srgbClr val="EE9456"/>
                </a:solidFill>
              </a:rPr>
              <a:t>Проверяется на пилоте:</a:t>
            </a:r>
            <a:r>
              <a:rPr lang="ru-RU" sz="1200" dirty="0">
                <a:solidFill>
                  <a:srgbClr val="EE9456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подписанный профиль заказчика, реальный комплект одной ревизии, корпоративный OIDC, импорт BCF в целевую СОД и независимая экспертная разметка.</a:t>
            </a:r>
            <a:endParaRPr lang="ru-RU" sz="12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821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060166F-A6AD-719A-9D49-A36B3D51D0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C8BE16B-9F08-DCEC-0C5F-2E53A9B772AA}"/>
              </a:ext>
            </a:extLst>
          </p:cNvPr>
          <p:cNvSpPr txBox="1"/>
          <p:nvPr/>
        </p:nvSpPr>
        <p:spPr bwMode="auto">
          <a:xfrm>
            <a:off x="430212" y="314632"/>
            <a:ext cx="88907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dirty="0">
                <a:solidFill>
                  <a:schemeClr val="bg1"/>
                </a:solidFill>
                <a:latin typeface="TT Firs Neue DemiBold"/>
              </a:rPr>
              <a:t>8-недельный пилот: измерение, а не обещание</a:t>
            </a:r>
            <a:endParaRPr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EAFE6B8-777E-47D9-35C9-6F0DE9766057}"/>
              </a:ext>
            </a:extLst>
          </p:cNvPr>
          <p:cNvCxnSpPr>
            <a:cxnSpLocks/>
          </p:cNvCxnSpPr>
          <p:nvPr/>
        </p:nvCxnSpPr>
        <p:spPr bwMode="auto">
          <a:xfrm>
            <a:off x="430212" y="868630"/>
            <a:ext cx="11197681" cy="0"/>
          </a:xfrm>
          <a:prstGeom prst="line">
            <a:avLst/>
          </a:prstGeom>
          <a:ln w="25400">
            <a:solidFill>
              <a:srgbClr val="EE94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EA78A8-40C1-FDDE-B5CE-1D7DEB4C7D92}"/>
              </a:ext>
            </a:extLst>
          </p:cNvPr>
          <p:cNvSpPr txBox="1"/>
          <p:nvPr/>
        </p:nvSpPr>
        <p:spPr bwMode="auto">
          <a:xfrm flipH="1">
            <a:off x="11377326" y="6313491"/>
            <a:ext cx="3040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500" dirty="0">
                <a:solidFill>
                  <a:schemeClr val="bg1"/>
                </a:solidFill>
                <a:latin typeface="TT Firs Neue DemiBold"/>
              </a:rPr>
              <a:t>6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BF928D-B39E-D275-768D-5631199E2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603" b="730"/>
          <a:stretch/>
        </p:blipFill>
        <p:spPr bwMode="auto">
          <a:xfrm>
            <a:off x="11006563" y="394937"/>
            <a:ext cx="674846" cy="393388"/>
          </a:xfrm>
          <a:prstGeom prst="rect">
            <a:avLst/>
          </a:prstGeom>
        </p:spPr>
      </p:pic>
      <p:cxnSp>
        <p:nvCxnSpPr>
          <p:cNvPr id="100" name="Линия времени"/>
          <p:cNvCxnSpPr/>
          <p:nvPr/>
        </p:nvCxnSpPr>
        <p:spPr>
          <a:xfrm>
            <a:off x="454276" y="1250000"/>
            <a:ext cx="11197681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101" name="Веха 1"/>
          <p:cNvSpPr/>
          <p:nvPr/>
        </p:nvSpPr>
        <p:spPr>
          <a:xfrm>
            <a:off x="454276" y="1180000"/>
            <a:ext cx="140000" cy="1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05" name="Этап 1"/>
          <p:cNvSpPr txBox="1"/>
          <p:nvPr/>
        </p:nvSpPr>
        <p:spPr>
          <a:xfrm>
            <a:off x="362836" y="1370000"/>
            <a:ext cx="353256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Неделя 1</a:t>
            </a:r>
          </a:p>
          <a:p>
            <a:pPr>
              <a:spcBef>
                <a:spcPts val="200"/>
              </a:spcBef>
            </a:pPr>
            <a:r>
              <a:rPr lang="ru-RU" sz="1500" b="1" dirty="0">
                <a:solidFill>
                  <a:schemeClr val="bg1"/>
                </a:solidFill>
                <a:latin typeface="TT Firs Neue"/>
              </a:rPr>
              <a:t>Контур и протокол </a:t>
            </a:r>
            <a:br>
              <a:rPr lang="ru-RU" sz="1500" b="1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Получаем комплект одной ревизии, фиксируем контрольную сумму комплекта, режим данных, область проверок и профиль приёмки. Подписываем программу испытаний и методику измерения.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200" b="1" dirty="0">
                <a:solidFill>
                  <a:srgbClr val="EE9456"/>
                </a:solidFill>
                <a:latin typeface="TT Firs Neue"/>
              </a:rPr>
              <a:t>Выход: 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замороженный контрольный набор, подписанный профиль и критерии GO/NO-GO.</a:t>
            </a:r>
          </a:p>
        </p:txBody>
      </p:sp>
      <p:sp>
        <p:nvSpPr>
          <p:cNvPr id="102" name="Веха 2"/>
          <p:cNvSpPr/>
          <p:nvPr/>
        </p:nvSpPr>
        <p:spPr>
          <a:xfrm>
            <a:off x="4286836" y="1180000"/>
            <a:ext cx="140000" cy="1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06" name="Этап 2"/>
          <p:cNvSpPr txBox="1"/>
          <p:nvPr/>
        </p:nvSpPr>
        <p:spPr>
          <a:xfrm>
            <a:off x="4195396" y="1370000"/>
            <a:ext cx="353256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Недели 2–3</a:t>
            </a:r>
          </a:p>
          <a:p>
            <a:pPr>
              <a:spcBef>
                <a:spcPts val="200"/>
              </a:spcBef>
            </a:pPr>
            <a:r>
              <a:rPr lang="ru-RU" sz="1500" b="1" dirty="0">
                <a:solidFill>
                  <a:schemeClr val="bg1"/>
                </a:solidFill>
                <a:latin typeface="TT Firs Neue"/>
              </a:rPr>
              <a:t>Контрольный прогон </a:t>
            </a:r>
            <a:br>
              <a:rPr lang="ru-RU" sz="1500" b="1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Выполняем первый прогон, проверяем полноту входных данных и статусы доступности проверок. Передаём реестр находок, доказательную трассу и структурный BCF.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200" b="1" dirty="0">
                <a:solidFill>
                  <a:srgbClr val="EE9456"/>
                </a:solidFill>
                <a:latin typeface="TT Firs Neue"/>
              </a:rPr>
              <a:t>Выход: 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исходный отчёт и перечень проверок, доступных на комплекте заказчика.</a:t>
            </a:r>
          </a:p>
        </p:txBody>
      </p:sp>
      <p:sp>
        <p:nvSpPr>
          <p:cNvPr id="103" name="Веха 3"/>
          <p:cNvSpPr/>
          <p:nvPr/>
        </p:nvSpPr>
        <p:spPr>
          <a:xfrm>
            <a:off x="8119396" y="1180000"/>
            <a:ext cx="140000" cy="1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ru-RU" dirty="0"/>
          </a:p>
        </p:txBody>
      </p:sp>
      <p:sp>
        <p:nvSpPr>
          <p:cNvPr id="107" name="Этап 3"/>
          <p:cNvSpPr txBox="1"/>
          <p:nvPr/>
        </p:nvSpPr>
        <p:spPr>
          <a:xfrm>
            <a:off x="8027956" y="1370000"/>
            <a:ext cx="353256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1"/>
                </a:solidFill>
                <a:latin typeface="TT Firs Neue DemiBold"/>
              </a:rPr>
              <a:t>Недели 4–8</a:t>
            </a:r>
          </a:p>
          <a:p>
            <a:pPr>
              <a:spcBef>
                <a:spcPts val="200"/>
              </a:spcBef>
            </a:pPr>
            <a:r>
              <a:rPr lang="ru-RU" sz="1500" b="1" dirty="0">
                <a:solidFill>
                  <a:schemeClr val="bg1"/>
                </a:solidFill>
                <a:latin typeface="TT Firs Neue"/>
              </a:rPr>
              <a:t>Независимый замер и акт </a:t>
            </a:r>
            <a:br>
              <a:rPr lang="ru-RU" sz="1500" b="1" dirty="0">
                <a:solidFill>
                  <a:schemeClr val="bg1"/>
                </a:solidFill>
                <a:latin typeface="TT Firs Neue"/>
              </a:rPr>
            </a:br>
            <a:r>
              <a:rPr lang="ru-RU" sz="1200" dirty="0">
                <a:solidFill>
                  <a:schemeClr val="bg1"/>
                </a:solidFill>
                <a:latin typeface="TT Firs Neue"/>
              </a:rPr>
              <a:t>Два независимых эксперта размечают контрольный набор; расхождения проходят арбитраж расхождений. Рассчитываем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precision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,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recall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и время обработки, проверяем импорт BCF в целевую СОД.</a:t>
            </a:r>
            <a:br>
              <a:rPr lang="ru-RU" sz="1200" dirty="0">
                <a:solidFill>
                  <a:schemeClr val="bg1"/>
                </a:solidFill>
                <a:latin typeface="TT Firs Neue"/>
              </a:rPr>
            </a:br>
            <a:r>
              <a:rPr lang="ru-RU" sz="1200" b="1" dirty="0">
                <a:solidFill>
                  <a:srgbClr val="EE9456"/>
                </a:solidFill>
                <a:latin typeface="TT Firs Neue"/>
              </a:rPr>
              <a:t>Выход: 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протокол измерения, акт пилота и решение GO/NO-GO.</a:t>
            </a:r>
          </a:p>
        </p:txBody>
      </p:sp>
      <p:sp>
        <p:nvSpPr>
          <p:cNvPr id="110" name="Карточка: заказчик"/>
          <p:cNvSpPr/>
          <p:nvPr/>
        </p:nvSpPr>
        <p:spPr>
          <a:xfrm>
            <a:off x="454276" y="3255272"/>
            <a:ext cx="3532560" cy="2506726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50000" tIns="110000" rIns="130000" bIns="8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Что нужно от заказчика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Комплект одного корпуса и одной ревизии с IFC и согласованными документами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Подписанный профиль приёмки и перечень обязательных проверок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Два независимых эксперта для разметки и разрешения расхождений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Целевая СОД и учётная запись для испытания импорта BCF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Режим данных, лист целевых KPI и контакт ответственного</a:t>
            </a:r>
          </a:p>
        </p:txBody>
      </p:sp>
      <p:sp>
        <p:nvSpPr>
          <p:cNvPr id="111" name="Карточка: запрос"/>
          <p:cNvSpPr/>
          <p:nvPr/>
        </p:nvSpPr>
        <p:spPr>
          <a:xfrm>
            <a:off x="4286836" y="3118108"/>
            <a:ext cx="3532561" cy="2718547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50000" tIns="110000" rIns="130000" bIns="8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Запрос: оплачиваемый пилот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Предусмотренное программой платное пилотное тестирование — 2 млн ₽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Один корпус, одна ревизия, восемь недель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Программа испытаний, соглашение, методика измерения и акт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Метрики и пороги фиксируются до первого измерительного прогона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После выполнения критерии выхода — решение о подписке и масштабировании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Цели: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recall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≥ 0,90; время обработки ≤ 30 минут; минимальный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precision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согласуется до первого прогона</a:t>
            </a:r>
          </a:p>
        </p:txBody>
      </p:sp>
      <p:sp>
        <p:nvSpPr>
          <p:cNvPr id="112" name="Финальный призыв"/>
          <p:cNvSpPr txBox="1"/>
          <p:nvPr/>
        </p:nvSpPr>
        <p:spPr>
          <a:xfrm>
            <a:off x="454276" y="5836656"/>
            <a:ext cx="109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ru-RU" sz="1300" dirty="0">
                <a:solidFill>
                  <a:schemeClr val="bg1"/>
                </a:solidFill>
                <a:latin typeface="TT Firs Neue"/>
              </a:rPr>
              <a:t>Область пилота: семантические проверки IFC/IDS и один согласованный </a:t>
            </a:r>
            <a:r>
              <a:rPr lang="ru-RU" sz="1300" dirty="0" err="1">
                <a:solidFill>
                  <a:schemeClr val="bg1"/>
                </a:solidFill>
                <a:latin typeface="TT Firs Neue"/>
              </a:rPr>
              <a:t>междокументный</a:t>
            </a:r>
            <a:r>
              <a:rPr lang="ru-RU" sz="1300" dirty="0">
                <a:solidFill>
                  <a:schemeClr val="bg1"/>
                </a:solidFill>
                <a:latin typeface="TT Firs Neue"/>
              </a:rPr>
              <a:t> сценарий IFC ↔ PDF/A. Полный охват всех документов ПД/РД не заявляется.</a:t>
            </a:r>
            <a:br>
              <a:rPr lang="ru-RU" sz="1300" dirty="0">
                <a:solidFill>
                  <a:schemeClr val="bg1"/>
                </a:solidFill>
                <a:latin typeface="TT Firs Neue"/>
              </a:rPr>
            </a:br>
            <a:r>
              <a:rPr lang="ru-RU" sz="1400" b="1" dirty="0">
                <a:solidFill>
                  <a:schemeClr val="accent2"/>
                </a:solidFill>
                <a:latin typeface="TT Firs Neue"/>
              </a:rPr>
              <a:t>Готовы начать через одну неделю после подписания соглашения и получения полного входного комплекта.</a:t>
            </a:r>
          </a:p>
          <a:p>
            <a:r>
              <a:rPr lang="ru-RU" sz="1400" b="1" dirty="0">
                <a:solidFill>
                  <a:schemeClr val="accent2"/>
                </a:solidFill>
                <a:latin typeface="TT Firs Neue"/>
              </a:rPr>
              <a:t>Запрашиваем у ПАО «ГК „САМОЛЕТ“» оплачиваемый 8-недельный пилот на одном корпусе.</a:t>
            </a:r>
          </a:p>
        </p:txBody>
      </p:sp>
      <p:sp>
        <p:nvSpPr>
          <p:cNvPr id="3" name="Карточка: запрос">
            <a:extLst>
              <a:ext uri="{FF2B5EF4-FFF2-40B4-BE49-F238E27FC236}">
                <a16:creationId xmlns:a16="http://schemas.microsoft.com/office/drawing/2014/main" id="{5ECEF37C-6562-4150-1454-AEFA55E371B7}"/>
              </a:ext>
            </a:extLst>
          </p:cNvPr>
          <p:cNvSpPr/>
          <p:nvPr/>
        </p:nvSpPr>
        <p:spPr bwMode="auto">
          <a:xfrm>
            <a:off x="8119396" y="3255272"/>
            <a:ext cx="3532561" cy="2422728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150000" tIns="110000" rIns="130000" bIns="80000" rtlCol="0" anchor="t">
            <a:noAutofit/>
          </a:bodyPr>
          <a:lstStyle/>
          <a:p>
            <a:pPr>
              <a:spcAft>
                <a:spcPts val="100"/>
              </a:spcAft>
            </a:pPr>
            <a:r>
              <a:rPr lang="ru-RU" sz="1600" b="1" dirty="0">
                <a:solidFill>
                  <a:schemeClr val="accent2"/>
                </a:solidFill>
                <a:latin typeface="TT Firs Neue"/>
              </a:rPr>
              <a:t>Статус GO — при выполнении пяти условий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Подписан профиль приёмки.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Заморожен комплект одной ревизии.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Получена независимая двойная разметка.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Достигнуты согласованные пороги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recall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, </a:t>
            </a:r>
            <a:r>
              <a:rPr lang="ru-RU" sz="1200" dirty="0" err="1">
                <a:solidFill>
                  <a:schemeClr val="bg1"/>
                </a:solidFill>
                <a:latin typeface="TT Firs Neue"/>
              </a:rPr>
              <a:t>precision</a:t>
            </a:r>
            <a:r>
              <a:rPr lang="ru-RU" sz="1200" dirty="0">
                <a:solidFill>
                  <a:schemeClr val="bg1"/>
                </a:solidFill>
                <a:latin typeface="TT Firs Neue"/>
              </a:rPr>
              <a:t> и времени обработки.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Подтверждён импорт BCF в целевую СОД.</a:t>
            </a:r>
          </a:p>
          <a:p>
            <a:pPr marL="170000" indent="-170000">
              <a:buClr>
                <a:schemeClr val="accent1"/>
              </a:buClr>
              <a:buFont typeface="Wingdings"/>
              <a:buChar char="§"/>
            </a:pPr>
            <a:r>
              <a:rPr lang="ru-RU" sz="1200" dirty="0">
                <a:solidFill>
                  <a:schemeClr val="bg1"/>
                </a:solidFill>
                <a:latin typeface="TT Firs Neue"/>
              </a:rPr>
              <a:t>При невыполнении хотя бы одного условия оформляется акт с решением NO-GO или NOT_VERIFIED.</a:t>
            </a:r>
          </a:p>
        </p:txBody>
      </p:sp>
    </p:spTree>
    <p:extLst>
      <p:ext uri="{BB962C8B-B14F-4D97-AF65-F5344CB8AC3E}">
        <p14:creationId xmlns:p14="http://schemas.microsoft.com/office/powerpoint/2010/main" val="395811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A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6ECE4-958C-4814-A2E1-C1CEADA054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A10AD9-46F3-7E08-7E8C-934EE7C0FE87}"/>
              </a:ext>
            </a:extLst>
          </p:cNvPr>
          <p:cNvSpPr txBox="1"/>
          <p:nvPr/>
        </p:nvSpPr>
        <p:spPr bwMode="auto">
          <a:xfrm>
            <a:off x="535728" y="1150000"/>
            <a:ext cx="67388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6000" dirty="0">
                <a:solidFill>
                  <a:schemeClr val="bg1"/>
                </a:solidFill>
                <a:latin typeface="TT Firs Neue DemiBold"/>
              </a:rPr>
              <a:t>Контакты </a:t>
            </a:r>
            <a:br>
              <a:rPr lang="ru-RU" sz="6000" dirty="0">
                <a:solidFill>
                  <a:schemeClr val="bg1"/>
                </a:solidFill>
                <a:latin typeface="TT Firs Neue DemiBold"/>
              </a:rPr>
            </a:br>
            <a:r>
              <a:rPr lang="ru-RU" sz="6000" dirty="0">
                <a:solidFill>
                  <a:schemeClr val="bg1"/>
                </a:solidFill>
                <a:latin typeface="TT Firs Neue DemiBold"/>
              </a:rPr>
              <a:t>для связи</a:t>
            </a:r>
            <a:endParaRPr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4972F5-1334-B274-9C7F-B9EA1A669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0501" y="593181"/>
            <a:ext cx="1961920" cy="396282"/>
          </a:xfrm>
          <a:prstGeom prst="rect">
            <a:avLst/>
          </a:prstGeom>
        </p:spPr>
      </p:pic>
      <p:sp>
        <p:nvSpPr>
          <p:cNvPr id="100" name="Контакты"/>
          <p:cNvSpPr/>
          <p:nvPr/>
        </p:nvSpPr>
        <p:spPr>
          <a:xfrm>
            <a:off x="535728" y="3250000"/>
            <a:ext cx="6000000" cy="3050000"/>
          </a:xfrm>
          <a:prstGeom prst="snip2DiagRect">
            <a:avLst>
              <a:gd name="adj1" fmla="val 0"/>
              <a:gd name="adj2" fmla="val 7966"/>
            </a:avLst>
          </a:prstGeom>
          <a:solidFill>
            <a:schemeClr val="accent4">
              <a:alpha val="6200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txBody>
          <a:bodyPr wrap="square" lIns="200000" tIns="150000" rIns="1300000" bIns="10000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2"/>
                </a:solidFill>
                <a:latin typeface="TT Firs Neue"/>
              </a:rPr>
              <a:t>Команда </a:t>
            </a:r>
            <a:r>
              <a:rPr lang="ru-RU" sz="2000" b="1" dirty="0" err="1">
                <a:solidFill>
                  <a:schemeClr val="accent2"/>
                </a:solidFill>
                <a:latin typeface="TT Firs Neue"/>
              </a:rPr>
              <a:t>AeroBIM</a:t>
            </a:r>
            <a:br>
              <a:rPr lang="en-US" sz="2000" b="1" dirty="0">
                <a:solidFill>
                  <a:schemeClr val="accent2"/>
                </a:solidFill>
                <a:latin typeface="TT Firs Neue"/>
              </a:rPr>
            </a:br>
            <a:r>
              <a:rPr lang="ru-RU" sz="1400" dirty="0">
                <a:solidFill>
                  <a:schemeClr val="bg1"/>
                </a:solidFill>
                <a:latin typeface="TT Firs Neue"/>
              </a:rPr>
              <a:t>Коньков Дмитрий, капитан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1"/>
                </a:solidFill>
                <a:latin typeface="TT Firs Neue"/>
              </a:rPr>
              <a:t>Тел.  </a:t>
            </a:r>
            <a:r>
              <a:rPr lang="ru-RU" sz="1600" dirty="0">
                <a:solidFill>
                  <a:schemeClr val="bg1"/>
                </a:solidFill>
                <a:latin typeface="TT Firs Neue"/>
              </a:rPr>
              <a:t>+7 915 452-88-64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1"/>
                </a:solidFill>
                <a:latin typeface="TT Firs Neue"/>
              </a:rPr>
              <a:t>E-mail  </a:t>
            </a:r>
            <a:r>
              <a:rPr lang="ru-RU" sz="1600" dirty="0">
                <a:solidFill>
                  <a:schemeClr val="accent3"/>
                </a:solidFill>
                <a:latin typeface="TT Firs Neue"/>
                <a:hlinkClick r:id="rId3"/>
              </a:rPr>
              <a:t>konkov-dmitrij@yandex.ru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bg1"/>
                </a:solidFill>
                <a:latin typeface="TT Firs Neue"/>
              </a:rPr>
              <a:t>Конькова Елена, инженерия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1"/>
                </a:solidFill>
                <a:latin typeface="TT Firs Neue"/>
              </a:rPr>
              <a:t>E-mail  </a:t>
            </a:r>
            <a:r>
              <a:rPr lang="ru-RU" sz="1600" dirty="0">
                <a:solidFill>
                  <a:schemeClr val="accent3"/>
                </a:solidFill>
                <a:latin typeface="TT Firs Neue"/>
                <a:hlinkClick r:id="rId4"/>
              </a:rPr>
              <a:t>konkovaelena@yandex.ru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1"/>
                </a:solidFill>
                <a:latin typeface="TT Firs Neue"/>
              </a:rPr>
              <a:t>Репозиторий  </a:t>
            </a:r>
            <a:r>
              <a:rPr lang="ru-RU" sz="1400" dirty="0">
                <a:solidFill>
                  <a:schemeClr val="accent3"/>
                </a:solidFill>
                <a:latin typeface="TT Firs Neue"/>
                <a:hlinkClick r:id="rId5"/>
              </a:rPr>
              <a:t>github.com/KonkovDV/AeroBIM</a:t>
            </a:r>
          </a:p>
          <a:p>
            <a:pPr>
              <a:spcBef>
                <a:spcPts val="800"/>
              </a:spcBef>
            </a:pPr>
            <a:r>
              <a:rPr lang="ru-RU" sz="1100" dirty="0">
                <a:solidFill>
                  <a:schemeClr val="accent5"/>
                </a:solidFill>
                <a:latin typeface="TT Firs Neue"/>
              </a:rPr>
              <a:t>Собственный код — </a:t>
            </a:r>
            <a:r>
              <a:rPr lang="en-US" sz="1100" dirty="0">
                <a:solidFill>
                  <a:schemeClr val="accent5"/>
                </a:solidFill>
                <a:latin typeface="TT Firs Neue"/>
              </a:rPr>
              <a:t>MIT · </a:t>
            </a:r>
            <a:r>
              <a:rPr lang="ru-RU" sz="1100" dirty="0">
                <a:solidFill>
                  <a:schemeClr val="accent5"/>
                </a:solidFill>
                <a:latin typeface="TT Firs Neue"/>
              </a:rPr>
              <a:t>офлайн-сборка</a:t>
            </a:r>
          </a:p>
        </p:txBody>
      </p:sp>
      <p:pic>
        <p:nvPicPr>
          <p:cNvPr id="101" name="QR-код: репозиторий" descr="QR-код со ссылкой на репозиторий AeroBI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728" y="3500000"/>
            <a:ext cx="1000000" cy="1000000"/>
          </a:xfrm>
          <a:prstGeom prst="rect">
            <a:avLst/>
          </a:prstGeom>
        </p:spPr>
      </p:pic>
      <p:sp>
        <p:nvSpPr>
          <p:cNvPr id="102" name="Подпись QR"/>
          <p:cNvSpPr txBox="1"/>
          <p:nvPr/>
        </p:nvSpPr>
        <p:spPr>
          <a:xfrm>
            <a:off x="5035728" y="454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chemeClr val="accent5"/>
                </a:solidFill>
                <a:latin typeface="TT Firs Neue"/>
              </a:rPr>
              <a:t>QR: репозиторий</a:t>
            </a:r>
          </a:p>
        </p:txBody>
      </p:sp>
    </p:spTree>
    <p:extLst>
      <p:ext uri="{BB962C8B-B14F-4D97-AF65-F5344CB8AC3E}">
        <p14:creationId xmlns:p14="http://schemas.microsoft.com/office/powerpoint/2010/main" val="42281098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хлаб Москва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EE9456"/>
      </a:accent1>
      <a:accent2>
        <a:srgbClr val="F4BC65"/>
      </a:accent2>
      <a:accent3>
        <a:srgbClr val="89BEE0"/>
      </a:accent3>
      <a:accent4>
        <a:srgbClr val="0A1215"/>
      </a:accent4>
      <a:accent5>
        <a:srgbClr val="D9D9D9"/>
      </a:accent5>
      <a:accent6>
        <a:srgbClr val="70AD47"/>
      </a:accent6>
      <a:hlink>
        <a:srgbClr val="89BEE0"/>
      </a:hlink>
      <a:folHlink>
        <a:srgbClr val="F4BC65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1044</TotalTime>
  <Words>1500</Words>
  <Application>Microsoft Office PowerPoint</Application>
  <DocSecurity>0</DocSecurity>
  <PresentationFormat>Широкоэкранный</PresentationFormat>
  <Paragraphs>144</Paragraphs>
  <Slides>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TT Firs Neue</vt:lpstr>
      <vt:lpstr>TT Firs Neue DemiBold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Сивидов Иван Алексеевич</dc:creator>
  <cp:keywords/>
  <dc:description/>
  <cp:lastModifiedBy>Ivan Ivanov</cp:lastModifiedBy>
  <cp:revision>89</cp:revision>
  <dcterms:created xsi:type="dcterms:W3CDTF">2026-07-14T11:02:14Z</dcterms:created>
  <dcterms:modified xsi:type="dcterms:W3CDTF">2026-09-19T17:44:00Z</dcterms:modified>
  <cp:category/>
  <dc:identifier/>
  <cp:contentStatus/>
  <dc:language/>
  <cp:version/>
</cp:coreProperties>
</file>