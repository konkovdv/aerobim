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ppt/notesSlides/notesSlide21.xml" ContentType="application/vnd.openxmlformats-officedocument.presentationml.notesSlide+xml"/>
  <Override PartName="/ppt/notesSlides/notesSlide22.xml" ContentType="application/vnd.openxmlformats-officedocument.presentationml.notesSlide+xml"/>
  <Override PartName="/ppt/notesSlides/notesSlide23.xml" ContentType="application/vnd.openxmlformats-officedocument.presentationml.notesSlide+xml"/>
  <Override PartName="/ppt/notesSlides/notesSlide24.xml" ContentType="application/vnd.openxmlformats-officedocument.presentationml.notesSlide+xml"/>
  <Override PartName="/ppt/notesSlides/notesSlide25.xml" ContentType="application/vnd.openxmlformats-officedocument.presentationml.notesSlide+xml"/>
  <Override PartName="/ppt/notesSlides/notesSlide26.xml" ContentType="application/vnd.openxmlformats-officedocument.presentationml.notesSlide+xml"/>
  <Override PartName="/ppt/notesSlides/notesSlide27.xml" ContentType="application/vnd.openxmlformats-officedocument.presentationml.notesSlide+xml"/>
  <Override PartName="/ppt/notesSlides/notesSlide28.xml" ContentType="application/vnd.openxmlformats-officedocument.presentationml.notesSlide+xml"/>
  <Override PartName="/ppt/notesSlides/notesSlide29.xml" ContentType="application/vnd.openxmlformats-officedocument.presentationml.notesSlide+xml"/>
  <Override PartName="/ppt/notesSlides/notesSlide30.xml" ContentType="application/vnd.openxmlformats-officedocument.presentationml.notesSlide+xml"/>
  <Override PartName="/ppt/notesSlides/notesSlide31.xml" ContentType="application/vnd.openxmlformats-officedocument.presentationml.notesSlide+xml"/>
  <Override PartName="/ppt/notesSlides/notesSlide32.xml" ContentType="application/vnd.openxmlformats-officedocument.presentationml.notesSlide+xml"/>
  <Override PartName="/ppt/notesSlides/notesSlide33.xml" ContentType="application/vnd.openxmlformats-officedocument.presentationml.notesSlide+xml"/>
  <Override PartName="/ppt/notesSlides/notesSlide34.xml" ContentType="application/vnd.openxmlformats-officedocument.presentationml.notesSlide+xml"/>
  <Override PartName="/ppt/notesSlides/notesSlide35.xml" ContentType="application/vnd.openxmlformats-officedocument.presentationml.notesSlide+xml"/>
  <Override PartName="/ppt/notesSlides/notesSlide36.xml" ContentType="application/vnd.openxmlformats-officedocument.presentationml.notesSlide+xml"/>
  <Override PartName="/ppt/notesSlides/notesSlide37.xml" ContentType="application/vnd.openxmlformats-officedocument.presentationml.notesSlide+xml"/>
  <Override PartName="/ppt/notesSlides/notesSlide38.xml" ContentType="application/vnd.openxmlformats-officedocument.presentationml.notesSlide+xml"/>
  <Override PartName="/ppt/notesSlides/notesSlide39.xml" ContentType="application/vnd.openxmlformats-officedocument.presentationml.notesSlide+xml"/>
  <Override PartName="/ppt/notesSlides/notesSlide40.xml" ContentType="application/vnd.openxmlformats-officedocument.presentationml.notesSlide+xml"/>
  <Override PartName="/ppt/notesSlides/notesSlide41.xml" ContentType="application/vnd.openxmlformats-officedocument.presentationml.notesSlide+xml"/>
  <Override PartName="/ppt/notesSlides/notesSlide42.xml" ContentType="application/vnd.openxmlformats-officedocument.presentationml.notesSlide+xml"/>
  <Override PartName="/ppt/notesSlides/notesSlide43.xml" ContentType="application/vnd.openxmlformats-officedocument.presentationml.notesSlide+xml"/>
  <Override PartName="/ppt/changesInfos/changesInfo1.xml" ContentType="application/vnd.ms-powerpoint.changesinfo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45"/>
  </p:notesMasterIdLst>
  <p:sldIdLst>
    <p:sldId id="256" r:id="rId2"/>
    <p:sldId id="257" r:id="rId3"/>
    <p:sldId id="258" r:id="rId4"/>
    <p:sldId id="259" r:id="rId5"/>
    <p:sldId id="261" r:id="rId6"/>
    <p:sldId id="262" r:id="rId7"/>
    <p:sldId id="263" r:id="rId8"/>
    <p:sldId id="260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  <p:sldId id="281" r:id="rId27"/>
    <p:sldId id="282" r:id="rId28"/>
    <p:sldId id="283" r:id="rId29"/>
    <p:sldId id="284" r:id="rId30"/>
    <p:sldId id="285" r:id="rId31"/>
    <p:sldId id="286" r:id="rId32"/>
    <p:sldId id="287" r:id="rId33"/>
    <p:sldId id="288" r:id="rId34"/>
    <p:sldId id="290" r:id="rId35"/>
    <p:sldId id="291" r:id="rId36"/>
    <p:sldId id="292" r:id="rId37"/>
    <p:sldId id="293" r:id="rId38"/>
    <p:sldId id="294" r:id="rId39"/>
    <p:sldId id="295" r:id="rId40"/>
    <p:sldId id="296" r:id="rId41"/>
    <p:sldId id="299" r:id="rId42"/>
    <p:sldId id="301" r:id="rId43"/>
    <p:sldId id="303" r:id="rId44"/>
  </p:sldIdLst>
  <p:sldSz cx="12192000" cy="6858000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>
          <p15:clr>
            <a:srgbClr val="A4A3A4"/>
          </p15:clr>
        </p15:guide>
        <p15:guide id="2" pos="2880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05" d="100"/>
          <a:sy n="105" d="100"/>
        </p:scale>
        <p:origin x="798" y="114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3" Type="http://schemas.openxmlformats.org/officeDocument/2006/relationships/slide" Target="slides/slide12.xml"/><Relationship Id="rId18" Type="http://schemas.openxmlformats.org/officeDocument/2006/relationships/slide" Target="slides/slide17.xml"/><Relationship Id="rId26" Type="http://schemas.openxmlformats.org/officeDocument/2006/relationships/slide" Target="slides/slide25.xml"/><Relationship Id="rId39" Type="http://schemas.openxmlformats.org/officeDocument/2006/relationships/slide" Target="slides/slide38.xml"/><Relationship Id="rId21" Type="http://schemas.openxmlformats.org/officeDocument/2006/relationships/slide" Target="slides/slide20.xml"/><Relationship Id="rId34" Type="http://schemas.openxmlformats.org/officeDocument/2006/relationships/slide" Target="slides/slide33.xml"/><Relationship Id="rId42" Type="http://schemas.openxmlformats.org/officeDocument/2006/relationships/slide" Target="slides/slide41.xml"/><Relationship Id="rId47" Type="http://schemas.openxmlformats.org/officeDocument/2006/relationships/viewProps" Target="viewProps.xml"/><Relationship Id="rId50" Type="http://schemas.microsoft.com/office/2016/11/relationships/changesInfo" Target="changesInfos/changesInfo1.xml"/><Relationship Id="rId7" Type="http://schemas.openxmlformats.org/officeDocument/2006/relationships/slide" Target="slides/slide6.xml"/><Relationship Id="rId2" Type="http://schemas.openxmlformats.org/officeDocument/2006/relationships/slide" Target="slides/slide1.xml"/><Relationship Id="rId16" Type="http://schemas.openxmlformats.org/officeDocument/2006/relationships/slide" Target="slides/slide15.xml"/><Relationship Id="rId29" Type="http://schemas.openxmlformats.org/officeDocument/2006/relationships/slide" Target="slides/slide28.xml"/><Relationship Id="rId11" Type="http://schemas.openxmlformats.org/officeDocument/2006/relationships/slide" Target="slides/slide10.xml"/><Relationship Id="rId24" Type="http://schemas.openxmlformats.org/officeDocument/2006/relationships/slide" Target="slides/slide23.xml"/><Relationship Id="rId32" Type="http://schemas.openxmlformats.org/officeDocument/2006/relationships/slide" Target="slides/slide31.xml"/><Relationship Id="rId37" Type="http://schemas.openxmlformats.org/officeDocument/2006/relationships/slide" Target="slides/slide36.xml"/><Relationship Id="rId40" Type="http://schemas.openxmlformats.org/officeDocument/2006/relationships/slide" Target="slides/slide39.xml"/><Relationship Id="rId45" Type="http://schemas.openxmlformats.org/officeDocument/2006/relationships/notesMaster" Target="notesMasters/notesMaster1.xml"/><Relationship Id="rId5" Type="http://schemas.openxmlformats.org/officeDocument/2006/relationships/slide" Target="slides/slide4.xml"/><Relationship Id="rId15" Type="http://schemas.openxmlformats.org/officeDocument/2006/relationships/slide" Target="slides/slide14.xml"/><Relationship Id="rId23" Type="http://schemas.openxmlformats.org/officeDocument/2006/relationships/slide" Target="slides/slide22.xml"/><Relationship Id="rId28" Type="http://schemas.openxmlformats.org/officeDocument/2006/relationships/slide" Target="slides/slide27.xml"/><Relationship Id="rId36" Type="http://schemas.openxmlformats.org/officeDocument/2006/relationships/slide" Target="slides/slide35.xml"/><Relationship Id="rId49" Type="http://schemas.openxmlformats.org/officeDocument/2006/relationships/tableStyles" Target="tableStyles.xml"/><Relationship Id="rId10" Type="http://schemas.openxmlformats.org/officeDocument/2006/relationships/slide" Target="slides/slide9.xml"/><Relationship Id="rId19" Type="http://schemas.openxmlformats.org/officeDocument/2006/relationships/slide" Target="slides/slide18.xml"/><Relationship Id="rId31" Type="http://schemas.openxmlformats.org/officeDocument/2006/relationships/slide" Target="slides/slide30.xml"/><Relationship Id="rId44" Type="http://schemas.openxmlformats.org/officeDocument/2006/relationships/slide" Target="slides/slide43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Relationship Id="rId22" Type="http://schemas.openxmlformats.org/officeDocument/2006/relationships/slide" Target="slides/slide21.xml"/><Relationship Id="rId27" Type="http://schemas.openxmlformats.org/officeDocument/2006/relationships/slide" Target="slides/slide26.xml"/><Relationship Id="rId30" Type="http://schemas.openxmlformats.org/officeDocument/2006/relationships/slide" Target="slides/slide29.xml"/><Relationship Id="rId35" Type="http://schemas.openxmlformats.org/officeDocument/2006/relationships/slide" Target="slides/slide34.xml"/><Relationship Id="rId43" Type="http://schemas.openxmlformats.org/officeDocument/2006/relationships/slide" Target="slides/slide42.xml"/><Relationship Id="rId48" Type="http://schemas.openxmlformats.org/officeDocument/2006/relationships/theme" Target="theme/theme1.xml"/><Relationship Id="rId8" Type="http://schemas.openxmlformats.org/officeDocument/2006/relationships/slide" Target="slides/slide7.xml"/><Relationship Id="rId3" Type="http://schemas.openxmlformats.org/officeDocument/2006/relationships/slide" Target="slides/slide2.xml"/><Relationship Id="rId12" Type="http://schemas.openxmlformats.org/officeDocument/2006/relationships/slide" Target="slides/slide11.xml"/><Relationship Id="rId17" Type="http://schemas.openxmlformats.org/officeDocument/2006/relationships/slide" Target="slides/slide16.xml"/><Relationship Id="rId25" Type="http://schemas.openxmlformats.org/officeDocument/2006/relationships/slide" Target="slides/slide24.xml"/><Relationship Id="rId33" Type="http://schemas.openxmlformats.org/officeDocument/2006/relationships/slide" Target="slides/slide32.xml"/><Relationship Id="rId38" Type="http://schemas.openxmlformats.org/officeDocument/2006/relationships/slide" Target="slides/slide37.xml"/><Relationship Id="rId46" Type="http://schemas.openxmlformats.org/officeDocument/2006/relationships/presProps" Target="presProps.xml"/><Relationship Id="rId20" Type="http://schemas.openxmlformats.org/officeDocument/2006/relationships/slide" Target="slides/slide19.xml"/><Relationship Id="rId41" Type="http://schemas.openxmlformats.org/officeDocument/2006/relationships/slide" Target="slides/slide40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/Relationships>
</file>

<file path=ppt/changesInfos/changesInfo1.xml><?xml version="1.0" encoding="utf-8"?>
<pc:chgInfo xmlns:a="http://schemas.openxmlformats.org/drawingml/2006/main" xmlns:r="http://schemas.openxmlformats.org/officeDocument/2006/relationships" xmlns:ac="http://schemas.microsoft.com/office/drawing/2013/main/command" xmlns:pc="http://schemas.microsoft.com/office/powerpoint/2013/main/command">
  <pc:docChgLst>
    <pc:chgData name="Ivan Ivanov" userId="72702e546b00dcc6" providerId="LiveId" clId="{C54C3C04-3A7A-4EAF-AB34-0F6C9A8C7374}"/>
    <pc:docChg chg="undo custSel modSld">
      <pc:chgData name="Ivan Ivanov" userId="72702e546b00dcc6" providerId="LiveId" clId="{C54C3C04-3A7A-4EAF-AB34-0F6C9A8C7374}" dt="2026-09-17T15:58:13.884" v="19"/>
      <pc:docMkLst>
        <pc:docMk/>
      </pc:docMkLst>
      <pc:sldChg chg="addSp delSp modSp mod">
        <pc:chgData name="Ivan Ivanov" userId="72702e546b00dcc6" providerId="LiveId" clId="{C54C3C04-3A7A-4EAF-AB34-0F6C9A8C7374}" dt="2026-09-17T15:58:13.884" v="19"/>
        <pc:sldMkLst>
          <pc:docMk/>
          <pc:sldMk cId="0" sldId="256"/>
        </pc:sldMkLst>
        <pc:spChg chg="del mod">
          <ac:chgData name="Ivan Ivanov" userId="72702e546b00dcc6" providerId="LiveId" clId="{C54C3C04-3A7A-4EAF-AB34-0F6C9A8C7374}" dt="2026-09-17T15:58:13.884" v="19"/>
          <ac:spMkLst>
            <pc:docMk/>
            <pc:sldMk cId="0" sldId="256"/>
            <ac:spMk id="5" creationId="{00000000-0000-0000-0000-000000000000}"/>
          </ac:spMkLst>
        </pc:spChg>
        <pc:spChg chg="del">
          <ac:chgData name="Ivan Ivanov" userId="72702e546b00dcc6" providerId="LiveId" clId="{C54C3C04-3A7A-4EAF-AB34-0F6C9A8C7374}" dt="2026-09-17T15:58:13.884" v="17"/>
          <ac:spMkLst>
            <pc:docMk/>
            <pc:sldMk cId="0" sldId="256"/>
            <ac:spMk id="6" creationId="{00000000-0000-0000-0000-000000000000}"/>
          </ac:spMkLst>
        </pc:spChg>
        <pc:spChg chg="mod">
          <ac:chgData name="Ivan Ivanov" userId="72702e546b00dcc6" providerId="LiveId" clId="{C54C3C04-3A7A-4EAF-AB34-0F6C9A8C7374}" dt="2026-09-17T15:57:47.363" v="14" actId="1076"/>
          <ac:spMkLst>
            <pc:docMk/>
            <pc:sldMk cId="0" sldId="256"/>
            <ac:spMk id="10" creationId="{00000000-0000-0000-0000-000000000000}"/>
          </ac:spMkLst>
        </pc:spChg>
        <pc:spChg chg="mod">
          <ac:chgData name="Ivan Ivanov" userId="72702e546b00dcc6" providerId="LiveId" clId="{C54C3C04-3A7A-4EAF-AB34-0F6C9A8C7374}" dt="2026-09-17T15:57:56.420" v="15" actId="1076"/>
          <ac:spMkLst>
            <pc:docMk/>
            <pc:sldMk cId="0" sldId="256"/>
            <ac:spMk id="18" creationId="{00000000-0000-0000-0000-000000000000}"/>
          </ac:spMkLst>
        </pc:spChg>
        <pc:picChg chg="mod">
          <ac:chgData name="Ivan Ivanov" userId="72702e546b00dcc6" providerId="LiveId" clId="{C54C3C04-3A7A-4EAF-AB34-0F6C9A8C7374}" dt="2026-09-17T15:57:09.200" v="11" actId="1076"/>
          <ac:picMkLst>
            <pc:docMk/>
            <pc:sldMk cId="0" sldId="256"/>
            <ac:picMk id="23" creationId="{DA742368-AD47-4F1D-1DB0-B6522D521BF1}"/>
          </ac:picMkLst>
        </pc:picChg>
        <pc:picChg chg="add mod">
          <ac:chgData name="Ivan Ivanov" userId="72702e546b00dcc6" providerId="LiveId" clId="{C54C3C04-3A7A-4EAF-AB34-0F6C9A8C7374}" dt="2026-09-17T15:56:50.647" v="10" actId="1076"/>
          <ac:picMkLst>
            <pc:docMk/>
            <pc:sldMk cId="0" sldId="256"/>
            <ac:picMk id="27" creationId="{68BA2915-F5A4-F8D8-9016-8830D942CF51}"/>
          </ac:picMkLst>
        </pc:picChg>
      </pc:sldChg>
    </pc:docChg>
  </pc:docChgLst>
</pc:chgInfo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2091909159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4.xml"/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5.xml"/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6.xml"/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7.xml"/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8.xml"/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9.xml"/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0.xml"/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1.xml"/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2.xml"/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3.xml"/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4.xml"/><Relationship Id="rId1" Type="http://schemas.openxmlformats.org/officeDocument/2006/relationships/notesMaster" Target="../notesMasters/notesMaster1.xml"/></Relationships>
</file>

<file path=ppt/notesSlides/_rels/notesSlide2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5.xml"/><Relationship Id="rId1" Type="http://schemas.openxmlformats.org/officeDocument/2006/relationships/notesMaster" Target="../notesMasters/notesMaster1.xml"/></Relationships>
</file>

<file path=ppt/notesSlides/_rels/notesSlide2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6.xml"/><Relationship Id="rId1" Type="http://schemas.openxmlformats.org/officeDocument/2006/relationships/notesMaster" Target="../notesMasters/notesMaster1.xml"/></Relationships>
</file>

<file path=ppt/notesSlides/_rels/notesSlide2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7.xml"/><Relationship Id="rId1" Type="http://schemas.openxmlformats.org/officeDocument/2006/relationships/notesMaster" Target="../notesMasters/notesMaster1.xml"/></Relationships>
</file>

<file path=ppt/notesSlides/_rels/notesSlide2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8.xml"/><Relationship Id="rId1" Type="http://schemas.openxmlformats.org/officeDocument/2006/relationships/notesMaster" Target="../notesMasters/notesMaster1.xml"/></Relationships>
</file>

<file path=ppt/notesSlides/_rels/notesSlide2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_rels/notesSlide3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0.xml"/><Relationship Id="rId1" Type="http://schemas.openxmlformats.org/officeDocument/2006/relationships/notesMaster" Target="../notesMasters/notesMaster1.xml"/></Relationships>
</file>

<file path=ppt/notesSlides/_rels/notesSlide3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1.xml"/><Relationship Id="rId1" Type="http://schemas.openxmlformats.org/officeDocument/2006/relationships/notesMaster" Target="../notesMasters/notesMaster1.xml"/></Relationships>
</file>

<file path=ppt/notesSlides/_rels/notesSlide3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2.xml"/><Relationship Id="rId1" Type="http://schemas.openxmlformats.org/officeDocument/2006/relationships/notesMaster" Target="../notesMasters/notesMaster1.xml"/></Relationships>
</file>

<file path=ppt/notesSlides/_rels/notesSlide3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3.xml"/><Relationship Id="rId1" Type="http://schemas.openxmlformats.org/officeDocument/2006/relationships/notesMaster" Target="../notesMasters/notesMaster1.xml"/></Relationships>
</file>

<file path=ppt/notesSlides/_rels/notesSlide3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4.xml"/><Relationship Id="rId1" Type="http://schemas.openxmlformats.org/officeDocument/2006/relationships/notesMaster" Target="../notesMasters/notesMaster1.xml"/></Relationships>
</file>

<file path=ppt/notesSlides/_rels/notesSlide3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5.xml"/><Relationship Id="rId1" Type="http://schemas.openxmlformats.org/officeDocument/2006/relationships/notesMaster" Target="../notesMasters/notesMaster1.xml"/></Relationships>
</file>

<file path=ppt/notesSlides/_rels/notesSlide3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6.xml"/><Relationship Id="rId1" Type="http://schemas.openxmlformats.org/officeDocument/2006/relationships/notesMaster" Target="../notesMasters/notesMaster1.xml"/></Relationships>
</file>

<file path=ppt/notesSlides/_rels/notesSlide3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7.xml"/><Relationship Id="rId1" Type="http://schemas.openxmlformats.org/officeDocument/2006/relationships/notesMaster" Target="../notesMasters/notesMaster1.xml"/></Relationships>
</file>

<file path=ppt/notesSlides/_rels/notesSlide3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8.xml"/><Relationship Id="rId1" Type="http://schemas.openxmlformats.org/officeDocument/2006/relationships/notesMaster" Target="../notesMasters/notesMaster1.xml"/></Relationships>
</file>

<file path=ppt/notesSlides/_rels/notesSlide3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9.xml"/><Relationship Id="rId1" Type="http://schemas.openxmlformats.org/officeDocument/2006/relationships/notesMaster" Target="../notesMasters/notesMaster1.xml"/></Relationships>
</file>

<file path=ppt/notesSlides/_rels/notesSlide4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0.xml"/><Relationship Id="rId1" Type="http://schemas.openxmlformats.org/officeDocument/2006/relationships/notesMaster" Target="../notesMasters/notesMaster1.xml"/></Relationships>
</file>

<file path=ppt/notesSlides/_rels/notesSlide4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1.xml"/><Relationship Id="rId1" Type="http://schemas.openxmlformats.org/officeDocument/2006/relationships/notesMaster" Target="../notesMasters/notesMaster1.xml"/></Relationships>
</file>

<file path=ppt/notesSlides/_rels/notesSlide4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2.xml"/><Relationship Id="rId1" Type="http://schemas.openxmlformats.org/officeDocument/2006/relationships/notesMaster" Target="../notesMasters/notesMaster1.xml"/></Relationships>
</file>

<file path=ppt/notesSlides/_rels/notesSlide4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2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2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3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3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notesSlides/notesSlide4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notes>
</file>

<file path=ppt/notesSlides/notesSlide4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 idx="2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sz="quarter" idx="3"/>
          </p:nvPr>
        </p:nvSpPr>
        <p:spPr/>
        <p:txBody>
          <a:bodyPr/>
          <a:lstStyle/>
          <a:p>
            <a:endParaRPr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5"/>
          </p:nvPr>
        </p:nvSpPr>
        <p:spPr/>
      </p:sp>
    </p:spTree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9/18/2026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7" Type="http://schemas.openxmlformats.org/officeDocument/2006/relationships/image" Target="../media/image5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7.xml"/><Relationship Id="rId6" Type="http://schemas.openxmlformats.org/officeDocument/2006/relationships/image" Target="../media/image4.png"/><Relationship Id="rId5" Type="http://schemas.openxmlformats.org/officeDocument/2006/relationships/image" Target="../media/image3.png"/><Relationship Id="rId4" Type="http://schemas.openxmlformats.org/officeDocument/2006/relationships/image" Target="../media/image2.png"/></Relationships>
</file>

<file path=ppt/slides/_rels/slide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2.xml.rels><?xml version="1.0" encoding="UTF-8" standalone="yes"?>
<Relationships xmlns="http://schemas.openxmlformats.org/package/2006/relationships"><Relationship Id="rId8" Type="http://schemas.openxmlformats.org/officeDocument/2006/relationships/slide" Target="slide17.xml"/><Relationship Id="rId13" Type="http://schemas.openxmlformats.org/officeDocument/2006/relationships/slide" Target="slide23.xml"/><Relationship Id="rId3" Type="http://schemas.openxmlformats.org/officeDocument/2006/relationships/image" Target="../media/image6.png"/><Relationship Id="rId7" Type="http://schemas.openxmlformats.org/officeDocument/2006/relationships/slide" Target="slide16.xml"/><Relationship Id="rId12" Type="http://schemas.openxmlformats.org/officeDocument/2006/relationships/slide" Target="slide21.xml"/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7.xml"/><Relationship Id="rId6" Type="http://schemas.openxmlformats.org/officeDocument/2006/relationships/slide" Target="slide15.xml"/><Relationship Id="rId11" Type="http://schemas.openxmlformats.org/officeDocument/2006/relationships/slide" Target="slide20.xml"/><Relationship Id="rId5" Type="http://schemas.openxmlformats.org/officeDocument/2006/relationships/slide" Target="slide13.xml"/><Relationship Id="rId10" Type="http://schemas.openxmlformats.org/officeDocument/2006/relationships/slide" Target="slide19.xml"/><Relationship Id="rId4" Type="http://schemas.openxmlformats.org/officeDocument/2006/relationships/image" Target="../media/image7.png"/><Relationship Id="rId9" Type="http://schemas.openxmlformats.org/officeDocument/2006/relationships/slide" Target="slide18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1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1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2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2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2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2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2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2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2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2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2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2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3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3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4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35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5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36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6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37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7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3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8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39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39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40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0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41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1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42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2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_rels/slide43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notesSlide" Target="../notesSlides/notesSlide43.xml"/><Relationship Id="rId1" Type="http://schemas.openxmlformats.org/officeDocument/2006/relationships/slideLayout" Target="../slideLayouts/slideLayout7.xml"/><Relationship Id="rId4" Type="http://schemas.openxmlformats.org/officeDocument/2006/relationships/image" Target="../media/image7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1_17_1920x1080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1_22_429x8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566928" y="274320"/>
            <a:ext cx="1915774" cy="384048"/>
          </a:xfrm>
          <a:prstGeom prst="rect">
            <a:avLst/>
          </a:prstGeom>
        </p:spPr>
      </p:pic>
      <p:sp>
        <p:nvSpPr>
          <p:cNvPr id="7" name="Rectangle 6"/>
          <p:cNvSpPr/>
          <p:nvPr/>
        </p:nvSpPr>
        <p:spPr>
          <a:xfrm>
            <a:off x="566928" y="2999232"/>
            <a:ext cx="1051560" cy="41148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" name="TextBox 7"/>
          <p:cNvSpPr txBox="1"/>
          <p:nvPr/>
        </p:nvSpPr>
        <p:spPr>
          <a:xfrm>
            <a:off x="566928" y="3200400"/>
            <a:ext cx="5394960" cy="11887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6000"/>
              </a:lnSpc>
              <a:spcBef>
                <a:spcPts val="0"/>
              </a:spcBef>
              <a:spcAft>
                <a:spcPts val="0"/>
              </a:spcAft>
            </a:pPr>
            <a:r>
              <a:rPr sz="1250" b="0" i="0" dirty="0" err="1">
                <a:solidFill>
                  <a:srgbClr val="D4DBE1"/>
                </a:solidFill>
                <a:latin typeface="Arial"/>
              </a:rPr>
              <a:t>Прототип</a:t>
            </a:r>
            <a:r>
              <a:rPr sz="12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250" b="0" i="0" dirty="0" err="1">
                <a:solidFill>
                  <a:srgbClr val="D4DBE1"/>
                </a:solidFill>
                <a:latin typeface="Arial"/>
              </a:rPr>
              <a:t>шлюза</a:t>
            </a:r>
            <a:r>
              <a:rPr sz="12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250" b="0" i="0" dirty="0" err="1">
                <a:solidFill>
                  <a:srgbClr val="D4DBE1"/>
                </a:solidFill>
                <a:latin typeface="Arial"/>
              </a:rPr>
              <a:t>проверки</a:t>
            </a:r>
            <a:r>
              <a:rPr sz="12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250" b="0" i="0" dirty="0" err="1">
                <a:solidFill>
                  <a:srgbClr val="D4DBE1"/>
                </a:solidFill>
                <a:latin typeface="Arial"/>
              </a:rPr>
              <a:t>согласованности</a:t>
            </a:r>
            <a:r>
              <a:rPr sz="12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250" b="0" i="0" dirty="0" err="1">
                <a:solidFill>
                  <a:srgbClr val="D4DBE1"/>
                </a:solidFill>
                <a:latin typeface="Arial"/>
              </a:rPr>
              <a:t>комплекта</a:t>
            </a:r>
            <a:r>
              <a:rPr sz="1250" b="0" i="0" dirty="0">
                <a:solidFill>
                  <a:srgbClr val="D4DBE1"/>
                </a:solidFill>
                <a:latin typeface="Arial"/>
              </a:rPr>
              <a:t> ПД/РД: </a:t>
            </a:r>
            <a:r>
              <a:rPr sz="1250" b="0" i="0" dirty="0" err="1">
                <a:solidFill>
                  <a:srgbClr val="D4DBE1"/>
                </a:solidFill>
                <a:latin typeface="Arial"/>
              </a:rPr>
              <a:t>сверяем</a:t>
            </a:r>
            <a:r>
              <a:rPr sz="12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250" b="0" i="0" dirty="0" err="1">
                <a:solidFill>
                  <a:srgbClr val="D4DBE1"/>
                </a:solidFill>
                <a:latin typeface="Arial"/>
              </a:rPr>
              <a:t>модель</a:t>
            </a:r>
            <a:r>
              <a:rPr sz="1250" b="0" i="0" dirty="0">
                <a:solidFill>
                  <a:srgbClr val="D4DBE1"/>
                </a:solidFill>
                <a:latin typeface="Arial"/>
              </a:rPr>
              <a:t>, </a:t>
            </a:r>
            <a:r>
              <a:rPr sz="1250" b="0" i="0" dirty="0" err="1">
                <a:solidFill>
                  <a:srgbClr val="D4DBE1"/>
                </a:solidFill>
                <a:latin typeface="Arial"/>
              </a:rPr>
              <a:t>лист</a:t>
            </a:r>
            <a:r>
              <a:rPr sz="1250" b="0" i="0" dirty="0">
                <a:solidFill>
                  <a:srgbClr val="D4DBE1"/>
                </a:solidFill>
                <a:latin typeface="Arial"/>
              </a:rPr>
              <a:t>, </a:t>
            </a:r>
            <a:r>
              <a:rPr sz="1250" b="0" i="0" dirty="0" err="1">
                <a:solidFill>
                  <a:srgbClr val="D4DBE1"/>
                </a:solidFill>
                <a:latin typeface="Arial"/>
              </a:rPr>
              <a:t>ведомость</a:t>
            </a:r>
            <a:r>
              <a:rPr sz="1250" b="0" i="0" dirty="0">
                <a:solidFill>
                  <a:srgbClr val="D4DBE1"/>
                </a:solidFill>
                <a:latin typeface="Arial"/>
              </a:rPr>
              <a:t>, ТЗ и </a:t>
            </a:r>
            <a:r>
              <a:rPr sz="1250" b="0" i="0" dirty="0" err="1">
                <a:solidFill>
                  <a:srgbClr val="D4DBE1"/>
                </a:solidFill>
                <a:latin typeface="Arial"/>
              </a:rPr>
              <a:t>расчёт</a:t>
            </a:r>
            <a:r>
              <a:rPr sz="12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250" b="0" i="0" dirty="0" err="1">
                <a:solidFill>
                  <a:srgbClr val="D4DBE1"/>
                </a:solidFill>
                <a:latin typeface="Arial"/>
              </a:rPr>
              <a:t>между</a:t>
            </a:r>
            <a:r>
              <a:rPr sz="12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250" b="0" i="0" dirty="0" err="1">
                <a:solidFill>
                  <a:srgbClr val="D4DBE1"/>
                </a:solidFill>
                <a:latin typeface="Arial"/>
              </a:rPr>
              <a:t>собой</a:t>
            </a:r>
            <a:r>
              <a:rPr sz="1250" b="0" i="0" dirty="0">
                <a:solidFill>
                  <a:srgbClr val="D4DBE1"/>
                </a:solidFill>
                <a:latin typeface="Arial"/>
              </a:rPr>
              <a:t>. В </a:t>
            </a:r>
            <a:r>
              <a:rPr sz="1250" b="0" i="0" dirty="0" err="1">
                <a:solidFill>
                  <a:srgbClr val="D4DBE1"/>
                </a:solidFill>
                <a:latin typeface="Arial"/>
              </a:rPr>
              <a:t>замечании</a:t>
            </a:r>
            <a:r>
              <a:rPr sz="1250" b="0" i="0" dirty="0">
                <a:solidFill>
                  <a:srgbClr val="D4DBE1"/>
                </a:solidFill>
                <a:latin typeface="Arial"/>
              </a:rPr>
              <a:t> — </a:t>
            </a:r>
            <a:r>
              <a:rPr sz="1250" b="0" i="0" dirty="0" err="1">
                <a:solidFill>
                  <a:srgbClr val="D4DBE1"/>
                </a:solidFill>
                <a:latin typeface="Arial"/>
              </a:rPr>
              <a:t>норма</a:t>
            </a:r>
            <a:r>
              <a:rPr sz="1250" b="0" i="0" dirty="0">
                <a:solidFill>
                  <a:srgbClr val="D4DBE1"/>
                </a:solidFill>
                <a:latin typeface="Arial"/>
              </a:rPr>
              <a:t>, </a:t>
            </a:r>
            <a:r>
              <a:rPr sz="1250" b="0" i="0" dirty="0" err="1">
                <a:solidFill>
                  <a:srgbClr val="D4DBE1"/>
                </a:solidFill>
                <a:latin typeface="Arial"/>
              </a:rPr>
              <a:t>этаж</a:t>
            </a:r>
            <a:r>
              <a:rPr sz="12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250" b="0" i="0" dirty="0" err="1">
                <a:solidFill>
                  <a:srgbClr val="D4DBE1"/>
                </a:solidFill>
                <a:latin typeface="Arial"/>
              </a:rPr>
              <a:t>или</a:t>
            </a:r>
            <a:r>
              <a:rPr sz="12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250" b="0" i="0" dirty="0" err="1">
                <a:solidFill>
                  <a:srgbClr val="D4DBE1"/>
                </a:solidFill>
                <a:latin typeface="Arial"/>
              </a:rPr>
              <a:t>ось</a:t>
            </a:r>
            <a:r>
              <a:rPr sz="1250" b="0" i="0" dirty="0">
                <a:solidFill>
                  <a:srgbClr val="D4DBE1"/>
                </a:solidFill>
                <a:latin typeface="Arial"/>
              </a:rPr>
              <a:t>, GUID.</a:t>
            </a:r>
          </a:p>
          <a:p>
            <a:pPr algn="l">
              <a:lnSpc>
                <a:spcPct val="120000"/>
              </a:lnSpc>
              <a:spcBef>
                <a:spcPts val="700"/>
              </a:spcBef>
              <a:spcAft>
                <a:spcPts val="0"/>
              </a:spcAft>
            </a:pPr>
            <a:r>
              <a:rPr sz="1150" b="1" i="0" dirty="0" err="1">
                <a:solidFill>
                  <a:srgbClr val="E8823A"/>
                </a:solidFill>
                <a:latin typeface="Arial"/>
              </a:rPr>
              <a:t>Пилот</a:t>
            </a:r>
            <a:r>
              <a:rPr sz="1150" b="1" i="0" dirty="0">
                <a:solidFill>
                  <a:srgbClr val="E8823A"/>
                </a:solidFill>
                <a:latin typeface="Arial"/>
              </a:rPr>
              <a:t> </a:t>
            </a:r>
            <a:r>
              <a:rPr sz="1150" b="1" i="0" dirty="0" err="1">
                <a:solidFill>
                  <a:srgbClr val="E8823A"/>
                </a:solidFill>
                <a:latin typeface="Arial"/>
              </a:rPr>
              <a:t>ограничивается</a:t>
            </a:r>
            <a:r>
              <a:rPr sz="1150" b="1" i="0" dirty="0">
                <a:solidFill>
                  <a:srgbClr val="E8823A"/>
                </a:solidFill>
                <a:latin typeface="Arial"/>
              </a:rPr>
              <a:t> </a:t>
            </a:r>
            <a:r>
              <a:rPr sz="1150" b="1" i="0" dirty="0" err="1">
                <a:solidFill>
                  <a:srgbClr val="E8823A"/>
                </a:solidFill>
                <a:latin typeface="Arial"/>
              </a:rPr>
              <a:t>согласованной</a:t>
            </a:r>
            <a:r>
              <a:rPr sz="1150" b="1" i="0" dirty="0">
                <a:solidFill>
                  <a:srgbClr val="E8823A"/>
                </a:solidFill>
                <a:latin typeface="Arial"/>
              </a:rPr>
              <a:t> </a:t>
            </a:r>
            <a:r>
              <a:rPr sz="1150" b="1" i="0" dirty="0" err="1">
                <a:solidFill>
                  <a:srgbClr val="E8823A"/>
                </a:solidFill>
                <a:latin typeface="Arial"/>
              </a:rPr>
              <a:t>областью</a:t>
            </a:r>
            <a:r>
              <a:rPr sz="1150" b="1" i="0" dirty="0">
                <a:solidFill>
                  <a:srgbClr val="E8823A"/>
                </a:solidFill>
                <a:latin typeface="Arial"/>
              </a:rPr>
              <a:t> </a:t>
            </a:r>
            <a:r>
              <a:rPr sz="1150" b="1" i="0" dirty="0" err="1">
                <a:solidFill>
                  <a:srgbClr val="E8823A"/>
                </a:solidFill>
                <a:latin typeface="Arial"/>
              </a:rPr>
              <a:t>проверок</a:t>
            </a:r>
            <a:r>
              <a:rPr sz="1150" b="1" i="0" dirty="0">
                <a:solidFill>
                  <a:srgbClr val="E8823A"/>
                </a:solidFill>
                <a:latin typeface="Arial"/>
              </a:rPr>
              <a:t>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539996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823A"/>
                </a:solidFill>
                <a:latin typeface="Arial"/>
              </a:rPr>
              <a:t>Задача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029968" y="4539996"/>
            <a:ext cx="7278963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верификация ПД/РД · комиссия № 7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860036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823A"/>
                </a:solidFill>
                <a:latin typeface="Arial"/>
              </a:rPr>
              <a:t>Команда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029968" y="4860036"/>
            <a:ext cx="7278963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2 инженера в ядре · капитан Коньков Дмитрий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180076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823A"/>
                </a:solidFill>
                <a:latin typeface="Arial"/>
              </a:rPr>
              <a:t>Поддержка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2029968" y="5180076"/>
            <a:ext cx="7278963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5 консультационных ролей вне состава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5500116"/>
            <a:ext cx="1463040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823A"/>
                </a:solidFill>
                <a:latin typeface="Arial"/>
              </a:rPr>
              <a:t>Запрос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2029968" y="5500116"/>
            <a:ext cx="7278963" cy="3200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оплачиваемый пилот · старт — неделя 1 от соглашения</a:t>
            </a:r>
          </a:p>
        </p:txBody>
      </p:sp>
      <p:pic>
        <p:nvPicPr>
          <p:cNvPr id="17" name="Picture 16" descr="p1_15_350x350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10314432" y="5010912"/>
            <a:ext cx="1298448" cy="1298448"/>
          </a:xfrm>
          <a:prstGeom prst="rect">
            <a:avLst/>
          </a:prstGeom>
        </p:spPr>
      </p:pic>
      <p:sp>
        <p:nvSpPr>
          <p:cNvPr id="18" name="TextBox 17"/>
          <p:cNvSpPr txBox="1"/>
          <p:nvPr/>
        </p:nvSpPr>
        <p:spPr>
          <a:xfrm>
            <a:off x="9345507" y="4786715"/>
            <a:ext cx="2395728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00" b="1" i="0" spc="90" dirty="0">
                <a:solidFill>
                  <a:srgbClr val="E8823A"/>
                </a:solidFill>
                <a:latin typeface="Arial"/>
              </a:rPr>
              <a:t>СКАН → РЕПОЗИТОРИЙ</a:t>
            </a:r>
          </a:p>
        </p:txBody>
      </p:sp>
      <p:pic>
        <p:nvPicPr>
          <p:cNvPr id="23" name="Рисунок 22">
            <a:extLst>
              <a:ext uri="{FF2B5EF4-FFF2-40B4-BE49-F238E27FC236}">
                <a16:creationId xmlns:a16="http://schemas.microsoft.com/office/drawing/2014/main" id="{DA742368-AD47-4F1D-1DB0-B6522D521BF1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64922" y="-225690"/>
            <a:ext cx="2768135" cy="1384068"/>
          </a:xfrm>
          <a:prstGeom prst="rect">
            <a:avLst/>
          </a:prstGeom>
        </p:spPr>
      </p:pic>
      <p:pic>
        <p:nvPicPr>
          <p:cNvPr id="25" name="Рисунок 24">
            <a:extLst>
              <a:ext uri="{FF2B5EF4-FFF2-40B4-BE49-F238E27FC236}">
                <a16:creationId xmlns:a16="http://schemas.microsoft.com/office/drawing/2014/main" id="{884ADA3F-4FDE-6728-F128-4765E867B012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1143446" y="1295910"/>
            <a:ext cx="5578174" cy="2789088"/>
          </a:xfrm>
          <a:prstGeom prst="rect">
            <a:avLst/>
          </a:prstGeom>
        </p:spPr>
      </p:pic>
      <p:pic>
        <p:nvPicPr>
          <p:cNvPr id="27" name="Рисунок 26">
            <a:extLst>
              <a:ext uri="{FF2B5EF4-FFF2-40B4-BE49-F238E27FC236}">
                <a16:creationId xmlns:a16="http://schemas.microsoft.com/office/drawing/2014/main" id="{68BA2915-F5A4-F8D8-9016-8830D942CF51}"/>
              </a:ext>
            </a:extLst>
          </p:cNvPr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2237610" y="-164255"/>
            <a:ext cx="3606297" cy="1202099"/>
          </a:xfrm>
          <a:prstGeom prst="rect">
            <a:avLst/>
          </a:prstGeom>
        </p:spPr>
      </p:pic>
      <p:sp>
        <p:nvSpPr>
          <p:cNvPr id="22" name="TextBox 21">
            <a:extLst>
              <a:ext uri="{FF2B5EF4-FFF2-40B4-BE49-F238E27FC236}">
                <a16:creationId xmlns:a16="http://schemas.microsoft.com/office/drawing/2014/main" id="{F10B3810-0899-51C2-F6B4-2FC073A42DC7}"/>
              </a:ext>
            </a:extLst>
          </p:cNvPr>
          <p:cNvSpPr txBox="1"/>
          <p:nvPr/>
        </p:nvSpPr>
        <p:spPr>
          <a:xfrm>
            <a:off x="10825595" y="112401"/>
            <a:ext cx="1039941" cy="707886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r>
              <a:rPr lang="ru-RU" sz="2000" b="1" dirty="0" err="1">
                <a:solidFill>
                  <a:srgbClr val="EE9456"/>
                </a:solidFill>
              </a:rPr>
              <a:t>Техлаб</a:t>
            </a:r>
            <a:r>
              <a:rPr lang="ru-RU" sz="2000" b="1" dirty="0">
                <a:solidFill>
                  <a:srgbClr val="EE9456"/>
                </a:solidFill>
              </a:rPr>
              <a:t> </a:t>
            </a:r>
            <a:br>
              <a:rPr lang="ru-RU" sz="2000" b="1" dirty="0">
                <a:solidFill>
                  <a:srgbClr val="EE9456"/>
                </a:solidFill>
              </a:rPr>
            </a:br>
            <a:r>
              <a:rPr lang="ru-RU" sz="2000" b="1" dirty="0">
                <a:solidFill>
                  <a:srgbClr val="EE9456"/>
                </a:solidFill>
              </a:rPr>
              <a:t>Москва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ПРОБЛЕМА · ШОВ КОМПЛЕКТА · ПОЧЕМУ СЕЙЧАС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Дефект живёт в шве между файлами — платит срок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2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5096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" y="1362456"/>
            <a:ext cx="1073505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</a:pPr>
            <a:r>
              <a:rPr sz="900" b="1" i="0" spc="110">
                <a:solidFill>
                  <a:srgbClr val="E8823A"/>
                </a:solidFill>
                <a:latin typeface="Arial"/>
              </a:rPr>
              <a:t>КОРОТКИЙ ОТВЕТ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Каждый файл открывается чисто. Комплект противоречит сам себе — и это уезжает на площадку.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993391"/>
            <a:ext cx="3526536" cy="269748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928" y="1993391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6384" y="2231135"/>
            <a:ext cx="3087624" cy="2313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ЧТО СЕГОДНЯ НЕ ПРОВЕРЯЕТСЯ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Наш фокус — обнаружение противоречий между файлами комплекта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Проверка одной модели на коллизии — решённая задача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Сверка модели с листом, ведомостью, ТЗ и расчётом остаётся человеку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Рассмотренные решения охватывают смежные задачи; о фокусных различиях — A21, A22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31208" y="1993391"/>
            <a:ext cx="3526536" cy="269748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31208" y="1993391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50664" y="2231135"/>
            <a:ext cx="3087624" cy="2313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ОТКРЫТЫЙ КОНТЕКСТ · НЕ НАША ВЫРУЧКА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Срок приёмки зажат нормой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Госэкспертиза жилого ОКС — до 20 рабочих дней, общий предел 42 (п. 29 ПП РФ 145)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Эскроу: свыше 1,0 млн счетов и 7,5 трлн руб. на 01.07.2026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Ключевая ставка 14,00 % на 11.09.2026 — это ставка ЦБ, а не ставка вашего кредита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5488" y="1993391"/>
            <a:ext cx="3526536" cy="269748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95488" y="1993391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14944" y="2231135"/>
            <a:ext cx="3087624" cy="23134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ПОЧЕМУ ОКНО ОТКРЫЛОСЬ СЕЙЧАС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Норма уже требует модель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01.07.2024 — модель обязательна для МКД; 01.01.2025 — малоэтажные ЖК (ПП 331/2357)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01.04.2026 — ГОСТ Р 21.101-2026: ревизии, электронный пакет, GUID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Часть задач первого потока поставили застройщики — оценка команды, открытой разбивки нет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5138928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Наш фокус — непротиворечивость комплекта между файлами: модель, лист, ведомость, расчёт. Пример находки — следующий экран.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5870448"/>
            <a:ext cx="11055096" cy="1249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dirty="0" err="1">
                <a:solidFill>
                  <a:srgbClr val="79828A"/>
                </a:solidFill>
                <a:latin typeface="Arial"/>
              </a:rPr>
              <a:t>Атрибуции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исходной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версии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: ЦБ РФ (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ключевая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ставка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на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11.09.2026),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Банк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России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(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эскроу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на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01.07.2026), ПП РФ 331 в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ред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. 2357, ГОСТ Р 21.101-2026 (№ 129-ст), ПП РФ 145 (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разд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. IV). 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ПРИМЕР · КАК ВЫГЛЯДИТ НАХОДКА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От расхождения в 10 мм до файла BCF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3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5096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" y="1362456"/>
            <a:ext cx="1073505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</a:pPr>
            <a:r>
              <a:rPr sz="900" b="1" i="0" spc="110">
                <a:solidFill>
                  <a:srgbClr val="E8823A"/>
                </a:solidFill>
                <a:latin typeface="Arial"/>
              </a:rPr>
              <a:t>ВАЖНО ПРО КАРТИНКУ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Иллюстрация сценария, не скриншот рабочего интерфейса. Значения 30 мм, 40 мм и 10 мм — демо-кейс из наших материалов, не данные заказчика.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901952"/>
            <a:ext cx="3477768" cy="1389888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928" y="1901952"/>
            <a:ext cx="3477768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68096" y="2084832"/>
            <a:ext cx="307543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8823A"/>
                </a:solidFill>
                <a:latin typeface="Arial"/>
              </a:rPr>
              <a:t>1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Модель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D4DBE1"/>
                </a:solidFill>
                <a:latin typeface="Arial"/>
              </a:rPr>
              <a:t>Защитный слой 30 мм. IFC2X3, этаж 2, ось 4.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062983" y="2450591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43D"/>
                </a:solidFill>
                <a:latin typeface="Arial"/>
              </a:rPr>
              <a:t>→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4355592" y="1901952"/>
            <a:ext cx="3477768" cy="1389888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355592" y="1901952"/>
            <a:ext cx="3477768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4556760" y="2084832"/>
            <a:ext cx="307543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4DA3E8"/>
                </a:solidFill>
                <a:latin typeface="Arial"/>
              </a:rPr>
              <a:t>2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Лист КЖ-12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D4DBE1"/>
                </a:solidFill>
                <a:latin typeface="Arial"/>
              </a:rPr>
              <a:t>Тот же узел — 40 мм. PDF/A, ревизия 3.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51647" y="2450591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43D"/>
                </a:solidFill>
                <a:latin typeface="Arial"/>
              </a:rPr>
              <a:t>→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8144256" y="1901952"/>
            <a:ext cx="3477768" cy="1389888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Rectangle 19"/>
          <p:cNvSpPr/>
          <p:nvPr/>
        </p:nvSpPr>
        <p:spPr>
          <a:xfrm>
            <a:off x="8144256" y="1901952"/>
            <a:ext cx="3477768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345424" y="2084832"/>
            <a:ext cx="307543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4CC38A"/>
                </a:solidFill>
                <a:latin typeface="Arial"/>
              </a:rPr>
              <a:t>3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Расхождение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D4DBE1"/>
                </a:solidFill>
                <a:latin typeface="Arial"/>
              </a:rPr>
              <a:t>10 мм между моделью и листом. Сверку считает детерминированный слой.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3493008"/>
            <a:ext cx="3477768" cy="1389888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Rectangle 22"/>
          <p:cNvSpPr/>
          <p:nvPr/>
        </p:nvSpPr>
        <p:spPr>
          <a:xfrm>
            <a:off x="566928" y="3493008"/>
            <a:ext cx="3477768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768096" y="3675888"/>
            <a:ext cx="307543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E8823A"/>
                </a:solidFill>
                <a:latin typeface="Arial"/>
              </a:rPr>
              <a:t>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Карточка замечания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D4DBE1"/>
                </a:solidFill>
                <a:latin typeface="Arial"/>
              </a:rPr>
              <a:t>Трасса до источника: требование → элемент модели с GUID → строка листа. Полный GUID и номер пункта в иллюстрации не приводим.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4062983" y="4041648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43D"/>
                </a:solidFill>
                <a:latin typeface="Arial"/>
              </a:rPr>
              <a:t>→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4355592" y="3493008"/>
            <a:ext cx="3477768" cy="1389888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355592" y="3493008"/>
            <a:ext cx="3477768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4556760" y="3675888"/>
            <a:ext cx="307543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4DA3E8"/>
                </a:solidFill>
                <a:latin typeface="Arial"/>
              </a:rPr>
              <a:t>5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Решение эксперта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D4DBE1"/>
                </a:solidFill>
                <a:latin typeface="Arial"/>
              </a:rPr>
              <a:t>Принять или отклонить решает аттестованный эксперт заказчика: итоговый статус ставит человек.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851647" y="4041648"/>
            <a:ext cx="27432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300" b="1" i="0">
                <a:solidFill>
                  <a:srgbClr val="2B343D"/>
                </a:solidFill>
                <a:latin typeface="Arial"/>
              </a:rPr>
              <a:t>→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144256" y="3493008"/>
            <a:ext cx="3477768" cy="1389888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Rectangle 30"/>
          <p:cNvSpPr/>
          <p:nvPr/>
        </p:nvSpPr>
        <p:spPr>
          <a:xfrm>
            <a:off x="8144256" y="3493008"/>
            <a:ext cx="3477768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2" name="TextBox 31"/>
          <p:cNvSpPr txBox="1"/>
          <p:nvPr/>
        </p:nvSpPr>
        <p:spPr>
          <a:xfrm>
            <a:off x="8345424" y="3675888"/>
            <a:ext cx="3075432" cy="10972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00"/>
              </a:spcAft>
            </a:pPr>
            <a:r>
              <a:rPr sz="1300" b="1" i="0">
                <a:solidFill>
                  <a:srgbClr val="4CC38A"/>
                </a:solidFill>
                <a:latin typeface="Arial"/>
              </a:rPr>
              <a:t>6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500"/>
              </a:spcAft>
            </a:pPr>
            <a:r>
              <a:rPr sz="1050" b="1" i="0">
                <a:solidFill>
                  <a:srgbClr val="FFFFFF"/>
                </a:solidFill>
                <a:latin typeface="Arial"/>
              </a:rPr>
              <a:t>Файл BCF</a:t>
            </a:r>
          </a:p>
          <a:p>
            <a:pPr algn="l">
              <a:lnSpc>
                <a:spcPct val="118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D4DBE1"/>
                </a:solidFill>
                <a:latin typeface="Arial"/>
              </a:rPr>
              <a:t>Выгрузка BCF 2.1/3.0 файлом для вашего реестра замечаний. Обмен с СОД не подтверждён.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5029200"/>
            <a:ext cx="11055096" cy="694944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4" name="TextBox 33"/>
          <p:cNvSpPr txBox="1"/>
          <p:nvPr/>
        </p:nvSpPr>
        <p:spPr>
          <a:xfrm>
            <a:off x="804672" y="5157216"/>
            <a:ext cx="10579608" cy="5120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 spc="100">
                <a:solidFill>
                  <a:srgbClr val="E8705F"/>
                </a:solidFill>
                <a:latin typeface="Arial"/>
              </a:rPr>
              <a:t>ЧЕГО В ЭТОМ СЦЕНАРИИ НЕТ</a:t>
            </a:r>
          </a:p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Подсветки находки на листе нет: список, карточка и трасса — приёмочное испытание первых двух недель пилота. Причину система не устанавливает: даёт факт и источник.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8" y="5852159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Один вывод: находка доезжает до эксперта с трассой до источника, а решение остаётся за человеком.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РЕШЕНИЕ И ГРАНИЦЫ · ГДЕ МЫ СТОИМ В ПРОЦЕССЕ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Место AeroBIM в процессе приёмки комплекта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4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5096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" y="1362456"/>
            <a:ext cx="1073505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</a:pPr>
            <a:r>
              <a:rPr sz="900" b="1" i="0" spc="110">
                <a:solidFill>
                  <a:srgbClr val="E8823A"/>
                </a:solidFill>
                <a:latin typeface="Arial"/>
              </a:rPr>
              <a:t>КОРОТКИЙ ОТВЕТ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Три полки стоят в разных местах процесса. Наш фокус — приёмка комплекта; пилот ограничен согласованной областью проверок.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993391"/>
            <a:ext cx="3526536" cy="2542032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928" y="1993391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6384" y="2231135"/>
            <a:ext cx="3087624" cy="21579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СОД ЗАКАЗЧИКА · 10D, PILOT-BIM, SAREX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Наличие, маршрут, ЭЦП, комплектность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Проверяет, что документ пришёл и прошёл маршрут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Содержание файлов между собой не сверяет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Для нас это канал доставки замечаний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31208" y="1993391"/>
            <a:ext cx="3526536" cy="2542032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31208" y="1993391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50664" y="2231135"/>
            <a:ext cx="3087624" cy="21579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ПРОВЕРКА МОДЕЛИ · SOLIBRI, TANGL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Модель, атрибуты, коллизии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Проверяет модель до выгрузки, в среде автора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Ведомость, записку и расчёт не сверяет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Работает раньше приёмки комплекта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5488" y="1993391"/>
            <a:ext cx="3526536" cy="2542032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95488" y="1993391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14944" y="2231135"/>
            <a:ext cx="3087624" cy="22214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ШЛЮЗ КОМПЛЕКТА · AEROBIM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Прототип: непротиворечивость между файлами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Область проверок фиксирует профиль приёмки: готовность проверок и форматов различается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Замечание с пунктом нормы, этажом и GUID → файл BCF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Итоговый статус комплекта ставит аттестованный эксперт заказчика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4718303"/>
            <a:ext cx="352653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66928" y="4837175"/>
            <a:ext cx="3416808" cy="891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E8823A"/>
                </a:solidFill>
                <a:latin typeface="Arial"/>
              </a:rPr>
              <a:t>Принцип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D4DBE1"/>
                </a:solidFill>
                <a:latin typeface="Arial"/>
              </a:rPr>
              <a:t>Вердикт считает детерминированный слой, статус ставит эксперт; изменение статуса моделью запрещено (ADR-001).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31208" y="4718303"/>
            <a:ext cx="352653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331208" y="4837175"/>
            <a:ext cx="3416808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Нет данных — не «ок»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D4DBE1"/>
                </a:solidFill>
                <a:latin typeface="Arial"/>
              </a:rPr>
              <a:t>Незавершённая обязательная проверка не позволяет выдать положительный результат по комплекту.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95488" y="4718303"/>
            <a:ext cx="352653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095488" y="4837175"/>
            <a:ext cx="3416808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Ограничение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D4DBE1"/>
                </a:solidFill>
                <a:latin typeface="Arial"/>
              </a:rPr>
              <a:t>Прямое сравнительное испытание — задача пилота; фокус — шов комплекта.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5764783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Право вердикта не переносится на алгоритм: запрет для сервисной учётной записи — заявленная реализация, закрытая тестом в нашем репозитории.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258559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Порядок гейтов — мировая практика по материалам v12: bSI IFC Validation Service (схема), CORENET X (машиночитаемая подача по этапам), Solibri и Speckle. Интеграцию с этими полками не заявляем.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РЕЗУЛЬТАТЫ · ЧТО ИЗМЕРЕНО И НА КАКИХ ДАННЫХ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Что измерено и на каких 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5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362456"/>
            <a:ext cx="6867144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D4DBE1"/>
                </a:solidFill>
                <a:latin typeface="Arial"/>
              </a:rPr>
              <a:t>Наборы данных и ограничения названы в тех же строках. Измерения на рабочем комплекте — протокол пилота.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1783080"/>
            <a:ext cx="2615184" cy="2532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80">
                <a:solidFill>
                  <a:srgbClr val="79828A"/>
                </a:solidFill>
                <a:latin typeface="Arial"/>
              </a:rPr>
              <a:t>ЧТО ИЗМЕРЯЕТСЯ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310128" y="1783080"/>
            <a:ext cx="1197864" cy="2532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80">
                <a:solidFill>
                  <a:srgbClr val="79828A"/>
                </a:solidFill>
                <a:latin typeface="Arial"/>
              </a:rPr>
              <a:t>РЕЗУЛЬТАТ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636008" y="1783080"/>
            <a:ext cx="2706624" cy="2532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80">
                <a:solidFill>
                  <a:srgbClr val="79828A"/>
                </a:solidFill>
                <a:latin typeface="Arial"/>
              </a:rPr>
              <a:t>НАБОР ДАННЫХ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470648" y="1700784"/>
            <a:ext cx="4023360" cy="2532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80">
                <a:solidFill>
                  <a:srgbClr val="79828A"/>
                </a:solidFill>
                <a:latin typeface="Arial"/>
              </a:rPr>
              <a:t>ОГРАНИЧЕНИЕ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1954022"/>
            <a:ext cx="11055096" cy="10972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Rectangle 13"/>
          <p:cNvSpPr/>
          <p:nvPr/>
        </p:nvSpPr>
        <p:spPr>
          <a:xfrm>
            <a:off x="475488" y="2072894"/>
            <a:ext cx="11237976" cy="420242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TextBox 14"/>
          <p:cNvSpPr txBox="1"/>
          <p:nvPr/>
        </p:nvSpPr>
        <p:spPr>
          <a:xfrm>
            <a:off x="566928" y="2072894"/>
            <a:ext cx="2615184" cy="4202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Извлечение требований, macro F1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10128" y="2072894"/>
            <a:ext cx="1197864" cy="4202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8823A"/>
                </a:solidFill>
                <a:latin typeface="Arial"/>
              </a:rPr>
              <a:t>0,86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636008" y="2072894"/>
            <a:ext cx="2706624" cy="4202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фикстура репозитория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470648" y="2072894"/>
            <a:ext cx="4023360" cy="4202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Не переносится на ваш комплект; интервал при n = 6 не публикуем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2451988"/>
            <a:ext cx="1105509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66928" y="2529712"/>
            <a:ext cx="2615184" cy="26955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Точное совпадение полей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310128" y="2529712"/>
            <a:ext cx="1197864" cy="26955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8823A"/>
                </a:solidFill>
                <a:latin typeface="Arial"/>
              </a:rPr>
              <a:t>0,4325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636008" y="2529712"/>
            <a:ext cx="2706624" cy="26955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открытый бенч AECV, 585 полей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470648" y="2529712"/>
            <a:ext cx="4023360" cy="269557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Другая задача и другой корпус; это не F1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66928" y="2758121"/>
            <a:ext cx="1105509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Rectangle 24"/>
          <p:cNvSpPr/>
          <p:nvPr/>
        </p:nvSpPr>
        <p:spPr>
          <a:xfrm>
            <a:off x="475488" y="2835845"/>
            <a:ext cx="11237976" cy="420242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66928" y="2835845"/>
            <a:ext cx="2615184" cy="4202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Полнота на внесённых дефектах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3310128" y="2835845"/>
            <a:ext cx="1197864" cy="4202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8823A"/>
                </a:solidFill>
                <a:latin typeface="Arial"/>
              </a:rPr>
              <a:t>10 из 10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4636008" y="2835845"/>
            <a:ext cx="2706624" cy="4202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искусственно внесённые дефекты, засев 15.09.2026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470648" y="2835845"/>
            <a:ext cx="4023360" cy="4202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Чувствительность контура на синтетике, а не полнота продукта; нижняя граница Уилсона 0,722</a:t>
            </a:r>
          </a:p>
        </p:txBody>
      </p:sp>
      <p:sp>
        <p:nvSpPr>
          <p:cNvPr id="30" name="Rectangle 29"/>
          <p:cNvSpPr/>
          <p:nvPr/>
        </p:nvSpPr>
        <p:spPr>
          <a:xfrm>
            <a:off x="566928" y="3214939"/>
            <a:ext cx="1105509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66928" y="3292663"/>
            <a:ext cx="2615184" cy="4202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Полнота, второй прогон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3310128" y="3292663"/>
            <a:ext cx="1197864" cy="4202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8705F"/>
                </a:solidFill>
                <a:latin typeface="Arial"/>
              </a:rPr>
              <a:t>1 из 8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4636008" y="3292663"/>
            <a:ext cx="2706624" cy="4202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прогон засева на мини-IFC; атрибуция набора расходится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7470648" y="3292663"/>
            <a:ext cx="4023360" cy="4202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Уилсон [0,022; 0,471]; расхождение с засевом не разрешено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3671757"/>
            <a:ext cx="1105509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75488" y="3749481"/>
            <a:ext cx="11237976" cy="420242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66928" y="3749481"/>
            <a:ext cx="2615184" cy="4202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Покрытие перечня требований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310128" y="3749481"/>
            <a:ext cx="1197864" cy="4202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8823A"/>
                </a:solidFill>
                <a:latin typeface="Arial"/>
              </a:rPr>
              <a:t>4 из 24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636008" y="3749481"/>
            <a:ext cx="2706624" cy="4202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перечень типовых замечаний госэкспертизы по КР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7470648" y="3749481"/>
            <a:ext cx="4023360" cy="4202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Покрытие перечня, а не точность (16,7 %)</a:t>
            </a:r>
          </a:p>
        </p:txBody>
      </p:sp>
      <p:sp>
        <p:nvSpPr>
          <p:cNvPr id="41" name="Rectangle 40"/>
          <p:cNvSpPr/>
          <p:nvPr/>
        </p:nvSpPr>
        <p:spPr>
          <a:xfrm>
            <a:off x="566928" y="4128575"/>
            <a:ext cx="1105509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566928" y="4206299"/>
            <a:ext cx="2615184" cy="4202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Время прогона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3310128" y="4206299"/>
            <a:ext cx="1197864" cy="4202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8823A"/>
                </a:solidFill>
                <a:latin typeface="Arial"/>
              </a:rPr>
              <a:t>≈ 4,5 с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4636008" y="4206299"/>
            <a:ext cx="2706624" cy="4202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единичный стендовый прогон, анализируемый объём 3,3 КБ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7470648" y="4206299"/>
            <a:ext cx="4023360" cy="42024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Не подтверждает время обработки рабочего комплекта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566928" y="4507674"/>
            <a:ext cx="11055096" cy="566928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7" name="TextBox 46"/>
          <p:cNvSpPr txBox="1"/>
          <p:nvPr/>
        </p:nvSpPr>
        <p:spPr>
          <a:xfrm>
            <a:off x="804672" y="4635690"/>
            <a:ext cx="1057960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АТТЕСТОВАНО ПРОГОНОМ НАШЕГО CI 15.09.2026</a:t>
            </a:r>
          </a:p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3 197 тестов пройдено из 3 217 собранных, 20 пропущено, 0 упавших; фронтенд — 387; пять ворот PASS. Это прогон нашего CI по пину, а не внешняя аттестация.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66928" y="5166042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10 из 10 и 1 из 8 — разные наборы данных: вместе они не складываются, и ни один из них не измерен на рабочем комплекте.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ПРИГОДНОСТЬ ДАННЫХ · РЕЖИМ РАБОТЫ С ФАЙЛАМИ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Сначала карта пригодности данных, потом точность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6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5096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" y="1362456"/>
            <a:ext cx="1073505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</a:pPr>
            <a:r>
              <a:rPr sz="900" b="1" i="0" spc="110">
                <a:solidFill>
                  <a:srgbClr val="E8823A"/>
                </a:solidFill>
                <a:latin typeface="Arial"/>
              </a:rPr>
              <a:t>КОРОТКИЙ ОТВЕТ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Комплект задачи разобран офлайн в закрытом контуре. Состав комплекта не публикуем, файлы наружу не уходят — наружу уходят метрики.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993391"/>
            <a:ext cx="3526536" cy="2487168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928" y="1993391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6384" y="2231135"/>
            <a:ext cx="3087624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ЧТО ВИДИМ В ВЫГРУЗКЕ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Факты, а не впечатления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У 16 152 IfcSpace не заполнен NetFloorArea — нет данных для проверки площади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Оси IfcGrid: 0/13/53 по пакетам; локация по IfcBuildingStorey+контур IfcSpace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Арматура и сети ИОС — не проверяли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31208" y="1993391"/>
            <a:ext cx="3526536" cy="2487168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31208" y="1993391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50664" y="2231135"/>
            <a:ext cx="3087624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ЧТО ЭТО ДАЁТ ДЛЯ ПРИЁМКИ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Пустое значение — это «нет данных»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Незаполненное поле — запрос к автору, а не нулевая площадь и не «ок»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Профиль приёмки настраиваем под факт данных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Нет осей — локация по IfcBuildingStorey и контуру IfcSpace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5488" y="1993391"/>
            <a:ext cx="3526536" cy="2487168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95488" y="1993391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14944" y="2231135"/>
            <a:ext cx="3087624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РЕЖИМ ДАННЫХ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Ваши файлы остаются в вашем периметре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Адреса и имена объектов в отчёт не попадают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Канал передачи фиксируем письмом: артефакта доставки у нас нет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Пробный доступ — по запросу: стенд, on-prem или прогон с нами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4663440"/>
            <a:ext cx="352653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66928" y="4782312"/>
            <a:ext cx="3416808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E8823A"/>
                </a:solidFill>
                <a:latin typeface="Arial"/>
              </a:rPr>
              <a:t>Порядок работы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D4DBE1"/>
                </a:solidFill>
                <a:latin typeface="Arial"/>
              </a:rPr>
              <a:t>Сначала аудит пригодности, потом точность: иначе цифра не держится на приёмке.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31208" y="4663440"/>
            <a:ext cx="352653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331208" y="4782312"/>
            <a:ext cx="3416808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Причины не додумываем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D4DBE1"/>
                </a:solidFill>
                <a:latin typeface="Arial"/>
              </a:rPr>
              <a:t>По имеющейся выгрузке значение недоступно; причина в этом материале не установлена.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95488" y="4663440"/>
            <a:ext cx="352653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095488" y="4782312"/>
            <a:ext cx="3416808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Крупные файлы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D4DBE1"/>
                </a:solidFill>
                <a:latin typeface="Arial"/>
              </a:rPr>
              <a:t>Лимит 256 МиБ на файл действует сегодня; потоковый разбор крупных файлов — план на неделю 1 пилота.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5532120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Невозможность проверки — это не нарушение проекта: мы фиксируем факт выгрузки и запрос данных, а не вину автора.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126480"/>
            <a:ext cx="11055096" cy="1249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dirty="0" err="1">
                <a:solidFill>
                  <a:srgbClr val="79828A"/>
                </a:solidFill>
                <a:latin typeface="Arial"/>
              </a:rPr>
              <a:t>Источники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: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карта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пригодности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данных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комплекта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,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отчёт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разбора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IFC в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закрытом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контуре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,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журнал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ограничений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репозитория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. 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ЦЕННОСТЬ ПИЛОТА · ИЛЛЮСТРАТИВНЫЙ СЦЕНАРИЙ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Сценарная стоимость задержки согласования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7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5096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" y="1362456"/>
            <a:ext cx="1073505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</a:pPr>
            <a:r>
              <a:rPr sz="900" b="1" i="0" spc="110">
                <a:solidFill>
                  <a:srgbClr val="E8823A"/>
                </a:solidFill>
                <a:latin typeface="Arial"/>
              </a:rPr>
              <a:t>КАК ЧИТАТЬ ЭТИ ЧИСЛА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Иллюстративный сценарий, а не измеренная экономия AeroBIM. Формула: долг × ставка × календарные дни / 365. 14 дней — допущение примера.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1938528"/>
            <a:ext cx="1975103" cy="2532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80">
                <a:solidFill>
                  <a:srgbClr val="79828A"/>
                </a:solidFill>
                <a:latin typeface="Arial"/>
              </a:rPr>
              <a:t>СЦЕНАРИЙ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670048" y="1938528"/>
            <a:ext cx="2569464" cy="2532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80">
                <a:solidFill>
                  <a:srgbClr val="79828A"/>
                </a:solidFill>
                <a:latin typeface="Arial"/>
              </a:rPr>
              <a:t>ФАКТИЧЕСКИЙ ДОЛГ — ДОПУЩЕНИЕ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367528" y="1938528"/>
            <a:ext cx="1014983" cy="2532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80">
                <a:solidFill>
                  <a:srgbClr val="79828A"/>
                </a:solidFill>
                <a:latin typeface="Arial"/>
              </a:rPr>
              <a:t>СТАВКА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510528" y="1938528"/>
            <a:ext cx="1746503" cy="2532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80">
                <a:solidFill>
                  <a:srgbClr val="79828A"/>
                </a:solidFill>
                <a:latin typeface="Arial"/>
              </a:rPr>
              <a:t>ЦЕНА ДНЯ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385048" y="1938528"/>
            <a:ext cx="3108960" cy="2532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80">
                <a:solidFill>
                  <a:srgbClr val="79828A"/>
                </a:solidFill>
                <a:latin typeface="Arial"/>
              </a:rPr>
              <a:t>ИТОГ ЗА 14 КАЛЕНДАРНЫХ ДНЕЙ (ДОПУЩЕНИЕ)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191766"/>
            <a:ext cx="11055096" cy="10972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75488" y="2219198"/>
            <a:ext cx="11237976" cy="311340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66928" y="2246630"/>
            <a:ext cx="1975103" cy="311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4DBE1"/>
                </a:solidFill>
                <a:latin typeface="Arial"/>
              </a:rPr>
              <a:t>консервативный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2670048" y="2246630"/>
            <a:ext cx="2569464" cy="311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4DBE1"/>
                </a:solidFill>
                <a:latin typeface="Arial"/>
              </a:rPr>
              <a:t>1,5 млрд руб. — 50 % лимита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367528" y="2246630"/>
            <a:ext cx="1014983" cy="311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4DBE1"/>
                </a:solidFill>
                <a:latin typeface="Arial"/>
              </a:rPr>
              <a:t>10 %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510528" y="2246630"/>
            <a:ext cx="1746503" cy="311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4DBE1"/>
                </a:solidFill>
                <a:latin typeface="Arial"/>
              </a:rPr>
              <a:t>0,41 млн руб.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8385048" y="2246630"/>
            <a:ext cx="3108960" cy="311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8823A"/>
                </a:solidFill>
                <a:latin typeface="Arial"/>
              </a:rPr>
              <a:t>5,8 млн руб.</a:t>
            </a:r>
          </a:p>
        </p:txBody>
      </p:sp>
      <p:sp>
        <p:nvSpPr>
          <p:cNvPr id="23" name="Rectangle 22"/>
          <p:cNvSpPr/>
          <p:nvPr/>
        </p:nvSpPr>
        <p:spPr>
          <a:xfrm>
            <a:off x="566928" y="2516822"/>
            <a:ext cx="1105509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/>
          <p:cNvSpPr txBox="1"/>
          <p:nvPr/>
        </p:nvSpPr>
        <p:spPr>
          <a:xfrm>
            <a:off x="566928" y="2557970"/>
            <a:ext cx="1975103" cy="311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4DBE1"/>
                </a:solidFill>
                <a:latin typeface="Arial"/>
              </a:rPr>
              <a:t>базовый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2670048" y="2557970"/>
            <a:ext cx="2569464" cy="311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4DBE1"/>
                </a:solidFill>
                <a:latin typeface="Arial"/>
              </a:rPr>
              <a:t>1,8 млрд руб. — 60 % лимита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367528" y="2557970"/>
            <a:ext cx="1014983" cy="311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4DBE1"/>
                </a:solidFill>
                <a:latin typeface="Arial"/>
              </a:rPr>
              <a:t>10 %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510528" y="2557970"/>
            <a:ext cx="1746503" cy="311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4DBE1"/>
                </a:solidFill>
                <a:latin typeface="Arial"/>
              </a:rPr>
              <a:t>0,49 млн руб.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8385048" y="2557970"/>
            <a:ext cx="3108960" cy="311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8823A"/>
                </a:solidFill>
                <a:latin typeface="Arial"/>
              </a:rPr>
              <a:t>6,9 млн руб.</a:t>
            </a:r>
          </a:p>
        </p:txBody>
      </p:sp>
      <p:sp>
        <p:nvSpPr>
          <p:cNvPr id="29" name="Rectangle 28"/>
          <p:cNvSpPr/>
          <p:nvPr/>
        </p:nvSpPr>
        <p:spPr>
          <a:xfrm>
            <a:off x="566928" y="2828163"/>
            <a:ext cx="1105509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0" name="Rectangle 29"/>
          <p:cNvSpPr/>
          <p:nvPr/>
        </p:nvSpPr>
        <p:spPr>
          <a:xfrm>
            <a:off x="475488" y="2841879"/>
            <a:ext cx="11237976" cy="311340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1" name="TextBox 30"/>
          <p:cNvSpPr txBox="1"/>
          <p:nvPr/>
        </p:nvSpPr>
        <p:spPr>
          <a:xfrm>
            <a:off x="566928" y="2869311"/>
            <a:ext cx="1975103" cy="311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4DBE1"/>
                </a:solidFill>
                <a:latin typeface="Arial"/>
              </a:rPr>
              <a:t>пик стройки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2670048" y="2869311"/>
            <a:ext cx="2569464" cy="311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4DBE1"/>
                </a:solidFill>
                <a:latin typeface="Arial"/>
              </a:rPr>
              <a:t>3,0 млрд руб. — лимит выбран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5367528" y="2869311"/>
            <a:ext cx="1014983" cy="311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4DBE1"/>
                </a:solidFill>
                <a:latin typeface="Arial"/>
              </a:rPr>
              <a:t>10 %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6510528" y="2869311"/>
            <a:ext cx="1746503" cy="311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D4DBE1"/>
                </a:solidFill>
                <a:latin typeface="Arial"/>
              </a:rPr>
              <a:t>0,82 млн руб.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8385048" y="2869311"/>
            <a:ext cx="3108960" cy="3113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E8823A"/>
                </a:solidFill>
                <a:latin typeface="Arial"/>
              </a:rPr>
              <a:t>11,5 млн руб.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566928" y="3272091"/>
            <a:ext cx="1105509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>
                <a:solidFill>
                  <a:srgbClr val="E8705F"/>
                </a:solidFill>
                <a:latin typeface="Arial"/>
              </a:rPr>
              <a:t>Условие рядом с суммой:  </a:t>
            </a:r>
            <a:r>
              <a:rPr sz="1050" b="0">
                <a:solidFill>
                  <a:srgbClr val="D4DBE1"/>
                </a:solidFill>
                <a:latin typeface="Arial"/>
              </a:rPr>
              <a:t>сумма возникает только если задержка лежит на критическом пути и сдвигает дату ввода. Иначе эффекта нет.</a:t>
            </a:r>
          </a:p>
        </p:txBody>
      </p:sp>
      <p:sp>
        <p:nvSpPr>
          <p:cNvPr id="37" name="Rounded Rectangle 36"/>
          <p:cNvSpPr/>
          <p:nvPr/>
        </p:nvSpPr>
        <p:spPr>
          <a:xfrm>
            <a:off x="566928" y="3564699"/>
            <a:ext cx="11055096" cy="822960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TextBox 37"/>
          <p:cNvSpPr txBox="1"/>
          <p:nvPr/>
        </p:nvSpPr>
        <p:spPr>
          <a:xfrm>
            <a:off x="804672" y="3692715"/>
            <a:ext cx="1057960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ДОПУЩЕНИЯ ПРИМЕРА · ЖИЛОЙ КОМПЛЕКС 50 000 М²</a:t>
            </a:r>
          </a:p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Полная стоимость строительства ≈ 81 тыс. руб./м²: бюджет ≈ 4,1 млрд руб., лимит проектного кредита ≈ 3 млрд руб. Ставка проектного финансирования — 9,95 % годовых в I кв. 2026, в расчёте берём 10 %. Проценты — на фактическую задолженность за календарные дни; покрытие эскроу по РФ ≈ 70 %. Подробнее — A33.</a:t>
            </a:r>
          </a:p>
        </p:txBody>
      </p:sp>
      <p:sp>
        <p:nvSpPr>
          <p:cNvPr id="39" name="Rectangle 38"/>
          <p:cNvSpPr/>
          <p:nvPr/>
        </p:nvSpPr>
        <p:spPr>
          <a:xfrm>
            <a:off x="566928" y="4515675"/>
            <a:ext cx="352653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66928" y="4634547"/>
            <a:ext cx="3416808" cy="6065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E8823A"/>
                </a:solidFill>
                <a:latin typeface="Arial"/>
              </a:rPr>
              <a:t>Что это не доказывает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D4DBE1"/>
                </a:solidFill>
                <a:latin typeface="Arial"/>
              </a:rPr>
              <a:t>Это стоимость календарного времени по открытым данным, а не экономия нашего контура.</a:t>
            </a:r>
          </a:p>
        </p:txBody>
      </p:sp>
      <p:sp>
        <p:nvSpPr>
          <p:cNvPr id="41" name="Rectangle 40"/>
          <p:cNvSpPr/>
          <p:nvPr/>
        </p:nvSpPr>
        <p:spPr>
          <a:xfrm>
            <a:off x="4331208" y="4515675"/>
            <a:ext cx="352653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4331208" y="4634547"/>
            <a:ext cx="3416808" cy="6065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Что не переносим на себя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D4DBE1"/>
                </a:solidFill>
                <a:latin typeface="Arial"/>
              </a:rPr>
              <a:t>«Ускорение вдвое» из релизов гос-сервисов и часы эксперта в модель не входят — A29.</a:t>
            </a:r>
          </a:p>
        </p:txBody>
      </p:sp>
      <p:sp>
        <p:nvSpPr>
          <p:cNvPr id="43" name="Rectangle 42"/>
          <p:cNvSpPr/>
          <p:nvPr/>
        </p:nvSpPr>
        <p:spPr>
          <a:xfrm>
            <a:off x="8095488" y="4515675"/>
            <a:ext cx="352653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8095488" y="4634547"/>
            <a:ext cx="3416808" cy="6065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Что проверяем в пилоте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D4DBE1"/>
                </a:solidFill>
                <a:latin typeface="Arial"/>
              </a:rPr>
              <a:t>Минус один круг согласования на одном корпусе — цель пилота: дельта ревизий видна в вашей СОД.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5724144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Расчёт окупаемости — после фиксации эффекта в пилоте; гипотеза подписки — A8+.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6272784"/>
            <a:ext cx="9820656" cy="12490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 dirty="0" err="1">
                <a:solidFill>
                  <a:srgbClr val="79828A"/>
                </a:solidFill>
                <a:latin typeface="Arial"/>
              </a:rPr>
              <a:t>Атрибуции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исходной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версии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: ЦБ РФ —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ставки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проектного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финансирования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9,95 % (I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кв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. 2026) и 9,92 % (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середина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2026),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ключевая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ставка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14,00 % с 11.09.2026;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статистика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</a:t>
            </a:r>
            <a:r>
              <a:rPr sz="800" b="0" i="0" dirty="0" err="1">
                <a:solidFill>
                  <a:srgbClr val="79828A"/>
                </a:solidFill>
                <a:latin typeface="Arial"/>
              </a:rPr>
              <a:t>себестоимости</a:t>
            </a:r>
            <a:r>
              <a:rPr sz="800" b="0" i="0" dirty="0">
                <a:solidFill>
                  <a:srgbClr val="79828A"/>
                </a:solidFill>
                <a:latin typeface="Arial"/>
              </a:rPr>
              <a:t> 2026. 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ГРАНИЦЫ MVP · ОГРАНИЧЕНИЕ · СРОК (ПЛАН) · ОТВЕТСТВЕННЫЙ · ПРОВЕРКА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Arial"/>
              </a:rPr>
              <a:t>Границы MVP и план проверки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8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5096" cy="62179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621792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08660" y="1078992"/>
            <a:ext cx="7123176" cy="621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</a:pPr>
            <a:r>
              <a:rPr sz="900" b="1" i="0" spc="110" dirty="0">
                <a:solidFill>
                  <a:srgbClr val="E8823A"/>
                </a:solidFill>
                <a:latin typeface="Arial"/>
              </a:rPr>
              <a:t>КОРОТКИЙ ОТВЕТ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dirty="0" err="1">
                <a:solidFill>
                  <a:srgbClr val="FFFFFF"/>
                </a:solidFill>
                <a:latin typeface="Arial"/>
              </a:rPr>
              <a:t>Пилот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работает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внутри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периметра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заказчика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проверяем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семантику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модели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и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требования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в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формате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IDS.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Ниже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—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открытые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ограничения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;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сроки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считаем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неделями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от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соглашения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,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ответственный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—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роль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020824"/>
            <a:ext cx="3575303" cy="2532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80">
                <a:solidFill>
                  <a:srgbClr val="79828A"/>
                </a:solidFill>
                <a:latin typeface="Arial"/>
              </a:rPr>
              <a:t>ОГРАНИЧЕНИЕ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270248" y="2020824"/>
            <a:ext cx="1746503" cy="2532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80">
                <a:solidFill>
                  <a:srgbClr val="79828A"/>
                </a:solidFill>
                <a:latin typeface="Arial"/>
              </a:rPr>
              <a:t>СРОК · ПЛАН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144768" y="2020824"/>
            <a:ext cx="1655064" cy="2532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80">
                <a:solidFill>
                  <a:srgbClr val="79828A"/>
                </a:solidFill>
                <a:latin typeface="Arial"/>
              </a:rPr>
              <a:t>ОТВЕТСТВЕННЫЙ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927848" y="1975104"/>
            <a:ext cx="3566160" cy="25323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 i="0" spc="80">
                <a:solidFill>
                  <a:srgbClr val="79828A"/>
                </a:solidFill>
                <a:latin typeface="Arial"/>
              </a:rPr>
              <a:t>ЧЕМ ПРОВЕРИМ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2228342"/>
            <a:ext cx="11055096" cy="10972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Rectangle 15"/>
          <p:cNvSpPr/>
          <p:nvPr/>
        </p:nvSpPr>
        <p:spPr>
          <a:xfrm>
            <a:off x="475488" y="2255774"/>
            <a:ext cx="11237976" cy="540258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66928" y="2283206"/>
            <a:ext cx="3575303" cy="5402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Площадь по геометрии контура IfcSpace: в коде статус «не реализовано», чтобы пустой результат нельзя было выдать за расчёт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4270248" y="2283206"/>
            <a:ext cx="1746503" cy="5402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Этап 2, в контуре пилота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44768" y="2283206"/>
            <a:ext cx="1655064" cy="5402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Ядро: системный инженер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927848" y="2283206"/>
            <a:ext cx="3566160" cy="5402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Сейчас тест подтверждает только статус и отсутствие расчётных площадей в отчёте; работающий расчёт потребует отдельного приёмочного испытания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2782316"/>
            <a:ext cx="1105509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566928" y="2823464"/>
            <a:ext cx="3575303" cy="396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Единый вход: заявлен, приёмочное испытание OIDC-входа в IdP — этап 2 пилота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4270248" y="2823464"/>
            <a:ext cx="1746503" cy="396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Этап 2, в контуре пилота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144768" y="2823464"/>
            <a:ext cx="1655064" cy="396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Ядро и служба ИБ заказчика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927848" y="2823464"/>
            <a:ext cx="3566160" cy="396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Приёмочное испытание входа на тестовом контуре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3179064"/>
            <a:ext cx="1105509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Rectangle 26"/>
          <p:cNvSpPr/>
          <p:nvPr/>
        </p:nvSpPr>
        <p:spPr>
          <a:xfrm>
            <a:off x="475488" y="3192780"/>
            <a:ext cx="11237976" cy="396748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xtBox 27"/>
          <p:cNvSpPr txBox="1"/>
          <p:nvPr/>
        </p:nvSpPr>
        <p:spPr>
          <a:xfrm>
            <a:off x="566928" y="3220212"/>
            <a:ext cx="3575303" cy="396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Импорт замечаний в вашу СОД: в журнале стоит «не проверено»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270248" y="3220212"/>
            <a:ext cx="1746503" cy="396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В пилоте, тестовый контур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144768" y="3220212"/>
            <a:ext cx="1655064" cy="396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Ядро и владелец СОД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927848" y="3220212"/>
            <a:ext cx="3566160" cy="396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Лог импорта на тестовом контуре; выгрузка файла BCF — это не подтверждённый обмен с СОД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3575812"/>
            <a:ext cx="1105509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66928" y="3616959"/>
            <a:ext cx="3575303" cy="396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Подсветки находки прямо на листе в интерфейсе нет: есть список, карточка и трасса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4270248" y="3616959"/>
            <a:ext cx="1746503" cy="396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Недели 1–2 пилота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6144768" y="3616959"/>
            <a:ext cx="1655064" cy="396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Ядро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7927848" y="3616959"/>
            <a:ext cx="3566160" cy="396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Приёмочное испытание на вашем листе</a:t>
            </a:r>
          </a:p>
        </p:txBody>
      </p:sp>
      <p:sp>
        <p:nvSpPr>
          <p:cNvPr id="37" name="Rectangle 36"/>
          <p:cNvSpPr/>
          <p:nvPr/>
        </p:nvSpPr>
        <p:spPr>
          <a:xfrm>
            <a:off x="566928" y="3972559"/>
            <a:ext cx="1105509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8" name="Rectangle 37"/>
          <p:cNvSpPr/>
          <p:nvPr/>
        </p:nvSpPr>
        <p:spPr>
          <a:xfrm>
            <a:off x="475488" y="3986275"/>
            <a:ext cx="11237976" cy="396748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9" name="TextBox 38"/>
          <p:cNvSpPr txBox="1"/>
          <p:nvPr/>
        </p:nvSpPr>
        <p:spPr>
          <a:xfrm>
            <a:off x="566928" y="4013707"/>
            <a:ext cx="3575303" cy="396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Сети ИОС и арматура не измерены: коллизии по ним не заявляем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4270248" y="4013707"/>
            <a:ext cx="1746503" cy="396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Недели 4–8, после согласования области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144768" y="4013707"/>
            <a:ext cx="1655064" cy="396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Ядро и ваш эксперт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927848" y="4013707"/>
            <a:ext cx="3566160" cy="3967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Отдельный протокол замера; до него статус «не проверяли»</a:t>
            </a:r>
          </a:p>
        </p:txBody>
      </p:sp>
      <p:sp>
        <p:nvSpPr>
          <p:cNvPr id="43" name="Rectangle 42"/>
          <p:cNvSpPr/>
          <p:nvPr/>
        </p:nvSpPr>
        <p:spPr>
          <a:xfrm>
            <a:off x="566928" y="4369308"/>
            <a:ext cx="1105509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566928" y="4410456"/>
            <a:ext cx="3575303" cy="5402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Независимые разметчики привлекаются в пилоте: согласие 0,705 и 0,707 получено на симуляции разметки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4270248" y="4410456"/>
            <a:ext cx="1746503" cy="5402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Недели 4–8 пилота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6144768" y="4410456"/>
            <a:ext cx="1655064" cy="5402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Капитан и ваш эксперт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7927848" y="4410456"/>
            <a:ext cx="3566160" cy="54025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Двойная слепая разметка с интервалами Уилсона</a:t>
            </a:r>
          </a:p>
        </p:txBody>
      </p:sp>
      <p:sp>
        <p:nvSpPr>
          <p:cNvPr id="48" name="Rounded Rectangle 47"/>
          <p:cNvSpPr/>
          <p:nvPr/>
        </p:nvSpPr>
        <p:spPr>
          <a:xfrm>
            <a:off x="566928" y="5060442"/>
            <a:ext cx="11055096" cy="621792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9" name="TextBox 48"/>
          <p:cNvSpPr txBox="1"/>
          <p:nvPr/>
        </p:nvSpPr>
        <p:spPr>
          <a:xfrm>
            <a:off x="804672" y="5188458"/>
            <a:ext cx="10579608" cy="43891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ОРГАНИЗАЦИОННЫЕ ПУНКТЫ · ОТДЕЛЬНАЯ ЗАДАЧА, НЕ КОНТУР ПРОВЕРОК</a:t>
            </a:r>
          </a:p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D4DBE1"/>
                </a:solidFill>
                <a:latin typeface="Arial"/>
              </a:rPr>
              <a:t>Юрлицо: ИП или ООО — оформляем до подписания соглашения (3–7 раб. дней). Заявка в реестр отеч. ПО — план IV кв. 2026. П. 6.3 — 30 и 150 дней. A31.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566928" y="5791962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Ни одно из этих ограничений в этой версии материалов не объявлено устранённым: статус в коде и план проверки названы рядом.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566928" y="6309360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Источники: журнал ограничений репозитория, ADR-001, модель угроз пилота, план пилота. Пункты со статусом «не проверено» остаются открытыми.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ПЛАН ПИЛОТА · ОБЯЗАТЕЛЬНЫЙ РАЗДЕЛ РЕШЕНИЯ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Arial"/>
              </a:rPr>
              <a:t>Восемь недель от соглашения, критерии фиксируем до старта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9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5096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" y="1362456"/>
            <a:ext cx="1073505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</a:pPr>
            <a:r>
              <a:rPr sz="900" b="1" i="0" spc="110">
                <a:solidFill>
                  <a:srgbClr val="E8823A"/>
                </a:solidFill>
                <a:latin typeface="Arial"/>
              </a:rPr>
              <a:t>КОРОТКИЙ ОТВЕТ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Восемь недель на вашем контуре; недели считаем от соглашения, а не от даты. Каждый этап заканчивается артефактом по формам оператора.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993391"/>
            <a:ext cx="3526536" cy="2487168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928" y="1993391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6384" y="2231135"/>
            <a:ext cx="3087624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НЕДЕЛИ 0–1 · КОНТУР И БАЗОВЫЙ ЗАМЕР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Изолированная машина, одна ревизия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Режим данных фиксируем письмом: что показываем и в каком виде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Недели 1–2: замер срока и полноты на вашем комплекте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Канон ревизии: одна ревизия — один вердикт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31208" y="1993391"/>
            <a:ext cx="3526536" cy="2487168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31208" y="1993391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50664" y="2231135"/>
            <a:ext cx="3087624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НЕДЕЛИ 2–3 · ПЕРВЫЙ ПРОГОН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Профиль приёмки и книга замечаний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Профиль: владелец, дата, согласованный объём проверок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Находки отдаём файлом BCF; импорт — испытание на тестовом контуре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Ложные срабатывания и пропуски ведём отдельными строками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5488" y="1993391"/>
            <a:ext cx="3526536" cy="2487168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95488" y="1993391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14944" y="2231135"/>
            <a:ext cx="3087624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НЕДЕЛИ 4–8 · ЗАМЕР И АКТ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Схема замера согласована до старта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Режим А: находки валидирует ваш эксперт — покрытие и прирост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Режим Б: двойная слепая разметка живыми разметчиками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Итог — акт завершения пилота по формам оператора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4663440"/>
            <a:ext cx="352653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66928" y="4782312"/>
            <a:ext cx="3416808" cy="7863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E8823A"/>
                </a:solidFill>
                <a:latin typeface="Arial"/>
              </a:rPr>
              <a:t>Целевые критерии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D4DBE1"/>
                </a:solidFill>
                <a:latin typeface="Arial"/>
              </a:rPr>
              <a:t>Целевой порог 0,60; полнота 0,90 и 30 минут на комплект — цели пилота. Метрика и правило приёмки подлежат однозначной фиксации до пилота; планируемый n = 111.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31208" y="4663440"/>
            <a:ext cx="352653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331208" y="4782312"/>
            <a:ext cx="3416808" cy="7863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Стоп-правило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D4DBE1"/>
                </a:solidFill>
                <a:latin typeface="Arial"/>
              </a:rPr>
              <a:t>При непрохождении критерия фиксируем результат; возможное сужение области — отдельное решение и новая оценка.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95488" y="4663440"/>
            <a:ext cx="352653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095488" y="4782312"/>
            <a:ext cx="3416808" cy="7863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Что подписываем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D4DBE1"/>
                </a:solidFill>
                <a:latin typeface="Arial"/>
              </a:rPr>
              <a:t>По формам Фонда: программа испытаний, трёхстороннее соглашение, методика замера, акт завершения.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5605272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0,60, 0,90 и 30 минут — цели пилота, а не достигнутые результаты: лист целевых KPI и профиль приёмки пока не подписаны.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181344"/>
            <a:ext cx="1105509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Методика из репозитория: двойная слепая разметка, интервалы Уилсона. Согласие 0,705 и 0,707 получено на симуляции разметки при n = 28 — это не независимая экспертная валидация; независимые разметчики привлекаются в пилоте.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СЦЕНАРИЙ ИНТЕГРАЦИИ · ОБЯЗАТЕЛЬНЫЙ РАЗДЕЛ РЕШЕНИЯ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Интеграция: действия в пилоте и после него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10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5096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" y="1362456"/>
            <a:ext cx="1073505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</a:pPr>
            <a:r>
              <a:rPr sz="900" b="1" i="0" spc="110">
                <a:solidFill>
                  <a:srgbClr val="E8823A"/>
                </a:solidFill>
                <a:latin typeface="Arial"/>
              </a:rPr>
              <a:t>КОРОТКИЙ ОТВЕТ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Контур, доступ, данные, реестр замечаний, тираж: часть шагов — внутри пилота, часть — после него. Ни один из них не объявлен выполненным.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993391"/>
            <a:ext cx="3526536" cy="2615184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928" y="1993391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6384" y="2231135"/>
            <a:ext cx="3087624" cy="22311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В ПИЛОТЕ · КОНТУР И ДОСТУП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On-prem Docker, офлайн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Заявлено: образ, прогон и журнал — наша сторона; машина остаётся вашей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Ограничение: заявлен, приёмочное испытание OIDC-входа в IdP — этап 2 пилота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План: единый вход в ваш IdP по OIDC — этап 2, приёмочное испытание на тестовом контуре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31208" y="1993391"/>
            <a:ext cx="3526536" cy="2615184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31208" y="1993391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50664" y="2231135"/>
            <a:ext cx="3087624" cy="22311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В ПИЛОТЕ · ДАННЫЕ И СОД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Замечания живут в вашем реестре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Заявлено: выгрузка BCF 2.1/3.0 файлом, проверена по схеме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Ограничение: импорт в СОД помечен «не проверено» — файл BCF ещё не обмен с СОД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Профиль приёмки — IDS: 50 файлов содержат 847 опубликованных проверок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5488" y="1993391"/>
            <a:ext cx="3526536" cy="2615184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95488" y="1993391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14944" y="2231135"/>
            <a:ext cx="3087624" cy="223113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ПОСЛЕ ПИЛОТА · ТИРАЖ И ПЕРЕДАЧА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Новый объект — новый профиль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Ядро одно: новый заказчик — новый профиль IDS, не релиз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Юрлицо и передача РИД по п. 6.3 — сроки 30 и 150 дней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Заявка в реестр отеч. ПО — план IV кв. 2026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4773167"/>
            <a:ext cx="352653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566928" y="4892039"/>
            <a:ext cx="3416808" cy="7863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E8823A"/>
                </a:solidFill>
                <a:latin typeface="Arial"/>
              </a:rPr>
              <a:t>Роли и право вердикта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D4DBE1"/>
                </a:solidFill>
                <a:latin typeface="Arial"/>
              </a:rPr>
              <a:t>Итоговый статус ставит аттестованный эксперт заказчика; сервисной учётной записи это запрещено.</a:t>
            </a:r>
          </a:p>
        </p:txBody>
      </p:sp>
      <p:sp>
        <p:nvSpPr>
          <p:cNvPr id="22" name="Rectangle 21"/>
          <p:cNvSpPr/>
          <p:nvPr/>
        </p:nvSpPr>
        <p:spPr>
          <a:xfrm>
            <a:off x="4331208" y="4773167"/>
            <a:ext cx="352653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4331208" y="4892039"/>
            <a:ext cx="3416808" cy="7863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Что остаётся у вас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D4DBE1"/>
                </a:solidFill>
                <a:latin typeface="Arial"/>
              </a:rPr>
              <a:t>Исходные файлы не покидают периметр: наружу уходят только производные метрики.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095488" y="4773167"/>
            <a:ext cx="352653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095488" y="4892039"/>
            <a:ext cx="3416808" cy="7863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Форматы на входе</a:t>
            </a:r>
          </a:p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D4DBE1"/>
                </a:solidFill>
                <a:latin typeface="Arial"/>
              </a:rPr>
              <a:t>IFC, PDF/A, XML, IDS — заявленная реализация. DWG, RVT и NWD — только экспортом по вашему стандарту; готовность форматов различается, испытание в пилоте.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5714999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Офлайн-развёртывание доступно, но это не подтверждение завершённого управления доступом: единый вход и обмен с СОД — испытания пилота.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236208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Источники: карта контуров развёртывания, п. 2.2.2 и 3.1.1 ТЗ, журнал ограничений репозитория. Технические детали контура — A2 и A16.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КОМАНДА · НЕПРЕРЫВНОСТЬ · ЗАПРОС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Команда и передача проекта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11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5096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" y="1362456"/>
            <a:ext cx="1073505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</a:pPr>
            <a:r>
              <a:rPr sz="900" b="1" i="0" spc="110">
                <a:solidFill>
                  <a:srgbClr val="E8823A"/>
                </a:solidFill>
                <a:latin typeface="Arial"/>
              </a:rPr>
              <a:t>КОРОТКИЙ ОТВЕТ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Ядро — два инженера, поддержка — консультационные роли вне состава. Просим оплачиваемый пилот на одном корпусе: три позиции письмом.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975104"/>
            <a:ext cx="3526536" cy="2688336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928" y="1975104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6384" y="2212848"/>
            <a:ext cx="3087624" cy="2304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ЯДРО · ДВА ИНЖЕНЕРА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Коньков Дмитрий — капитан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Архитектура ядра, норм-профиль, право вердикта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Конькова Елена — системный инженер: методика замера и CI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Один мейнтейнер в репозитории; план преемственности — в пакете передачи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31208" y="1975104"/>
            <a:ext cx="3526536" cy="2688336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31208" y="1975104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50664" y="2212848"/>
            <a:ext cx="3087624" cy="2304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НЕПРЕРЫВНОСТЬ · АРТЕФАКТЫ, А НЕ ЛЮДИ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Материалы готовы к передаче и развёртыванию без нас; подтверждения в деке нет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Публичный репозиторий, сборка воспроизводится по пину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Офлайн-образ, руководство оператора, пакет передачи КТ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Контур поддержки — 5 ролей вне состава: консультации, не соавторство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5488" y="1975104"/>
            <a:ext cx="3526536" cy="2688336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95488" y="1975104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14944" y="2212848"/>
            <a:ext cx="3087624" cy="23042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ЗАПРОС · ТРИ ПОЗИЦИИ ПИСЬМОМ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Оплачиваемый пилот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Комплект одной ревизии с IFC и эксперт-валидатор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Режим данных и лист целевых KPI — письмом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Изолированная машина и каталог ревизии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Приз задачи и передача прав — A9 и A31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869179"/>
            <a:ext cx="1691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823A"/>
                </a:solidFill>
                <a:latin typeface="Arial"/>
              </a:rPr>
              <a:t>Капитан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58568" y="4869179"/>
            <a:ext cx="93634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Коньков Дмитрий · +7 915 452-88-64 · konkov-dmitrij@yandex.ru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084064"/>
            <a:ext cx="1105509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66928" y="5143499"/>
            <a:ext cx="1691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823A"/>
                </a:solidFill>
                <a:latin typeface="Arial"/>
              </a:rPr>
              <a:t>Инженерия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58568" y="5143499"/>
            <a:ext cx="93634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Конькова Елена · konkovaelena@yandex.ru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5358383"/>
            <a:ext cx="1105509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566928" y="5417819"/>
            <a:ext cx="1691640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823A"/>
                </a:solidFill>
                <a:latin typeface="Arial"/>
              </a:rPr>
              <a:t>Репозиторий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2258568" y="5417819"/>
            <a:ext cx="9363456" cy="2743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github.com/KonkovDV/AeroBIM · MIT · офлайн-сборка · QR на обложке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5728715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Запрашиваем оплачиваемый пилот на одном корпусе; целевой порог 0,60 — метрику и правило приёмки фиксируем до старта.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6272784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Пилот закрываем по формам оператора: программа испытаний, соглашение, методика замера, акт. Аффилиации контура поддержки — по публичным профилям; фамилий третьих лиц как гарантов в материалах нет.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ВОПРОСЫ · A0 · НАВИГАТОР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Одиннадцать экранов и приложения A0–A33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A0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33856"/>
            <a:ext cx="11055096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33856"/>
            <a:ext cx="32004" cy="566928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55889" y="1119631"/>
            <a:ext cx="7491984" cy="6685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</a:pPr>
            <a:r>
              <a:rPr sz="900" b="1" i="0" spc="110" dirty="0">
                <a:solidFill>
                  <a:srgbClr val="E8823A"/>
                </a:solidFill>
                <a:latin typeface="Arial"/>
              </a:rPr>
              <a:t>КАК УСТРОЕНА ДЕКА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dirty="0" err="1">
                <a:solidFill>
                  <a:srgbClr val="FFFFFF"/>
                </a:solidFill>
                <a:latin typeface="Arial"/>
              </a:rPr>
              <a:t>Ход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показа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проблема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→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пример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→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решение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→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результаты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→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данные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→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стоимость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задержки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→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границы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MVP →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пилот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→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интеграция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→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команда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и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запрос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.</a:t>
            </a:r>
          </a:p>
        </p:txBody>
      </p:sp>
      <p:sp>
        <p:nvSpPr>
          <p:cNvPr id="11" name="Rounded Rectangle 10">
            <a:hlinkClick r:id="rId5" action="ppaction://hlinksldjump"/>
          </p:cNvPr>
          <p:cNvSpPr/>
          <p:nvPr/>
        </p:nvSpPr>
        <p:spPr>
          <a:xfrm>
            <a:off x="566928" y="1883664"/>
            <a:ext cx="3526536" cy="896112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TextBox 11">
            <a:hlinkClick r:id="rId5" action="ppaction://hlinksldjump"/>
          </p:cNvPr>
          <p:cNvSpPr txBox="1"/>
          <p:nvPr/>
        </p:nvSpPr>
        <p:spPr>
          <a:xfrm>
            <a:off x="768096" y="2067560"/>
            <a:ext cx="312420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 spc="90">
                <a:solidFill>
                  <a:srgbClr val="E8823A"/>
                </a:solidFill>
                <a:latin typeface="Arial"/>
              </a:rPr>
              <a:t>A1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Какая у вас точность?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9828A"/>
                </a:solidFill>
                <a:latin typeface="Arial"/>
              </a:rPr>
              <a:t>Уровни чисел, набор данных, n, целевой порог 0,60</a:t>
            </a:r>
          </a:p>
        </p:txBody>
      </p:sp>
      <p:sp>
        <p:nvSpPr>
          <p:cNvPr id="13" name="Rounded Rectangle 12">
            <a:hlinkClick r:id="rId6" action="ppaction://hlinksldjump"/>
          </p:cNvPr>
          <p:cNvSpPr/>
          <p:nvPr/>
        </p:nvSpPr>
        <p:spPr>
          <a:xfrm>
            <a:off x="4331208" y="1883664"/>
            <a:ext cx="3526536" cy="896112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>
            <a:hlinkClick r:id="rId6" action="ppaction://hlinksldjump"/>
          </p:cNvPr>
          <p:cNvSpPr txBox="1"/>
          <p:nvPr/>
        </p:nvSpPr>
        <p:spPr>
          <a:xfrm>
            <a:off x="4532376" y="2067560"/>
            <a:ext cx="312420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 spc="90">
                <a:solidFill>
                  <a:srgbClr val="4DA3E8"/>
                </a:solidFill>
                <a:latin typeface="Arial"/>
              </a:rPr>
              <a:t>A2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Как это встанет в наш контур?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9828A"/>
                </a:solidFill>
                <a:latin typeface="Arial"/>
              </a:rPr>
              <a:t>On-prem, роли, выгрузка BCF, лимиты</a:t>
            </a:r>
          </a:p>
        </p:txBody>
      </p:sp>
      <p:sp>
        <p:nvSpPr>
          <p:cNvPr id="15" name="Rounded Rectangle 14">
            <a:hlinkClick r:id="rId7" action="ppaction://hlinksldjump"/>
          </p:cNvPr>
          <p:cNvSpPr/>
          <p:nvPr/>
        </p:nvSpPr>
        <p:spPr>
          <a:xfrm>
            <a:off x="8095488" y="1883664"/>
            <a:ext cx="3526536" cy="896112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>
            <a:hlinkClick r:id="rId7" action="ppaction://hlinksldjump"/>
          </p:cNvPr>
          <p:cNvSpPr txBox="1"/>
          <p:nvPr/>
        </p:nvSpPr>
        <p:spPr>
          <a:xfrm>
            <a:off x="8296656" y="2011680"/>
            <a:ext cx="312420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 spc="90">
                <a:solidFill>
                  <a:srgbClr val="4CC38A"/>
                </a:solidFill>
                <a:latin typeface="Arial"/>
              </a:rPr>
              <a:t>A3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Как работаете с нашими данными?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9828A"/>
                </a:solidFill>
                <a:latin typeface="Arial"/>
              </a:rPr>
              <a:t>Режим письмом · пробный доступ по запросу</a:t>
            </a:r>
          </a:p>
        </p:txBody>
      </p:sp>
      <p:sp>
        <p:nvSpPr>
          <p:cNvPr id="17" name="Rounded Rectangle 16">
            <a:hlinkClick r:id="rId8" action="ppaction://hlinksldjump"/>
          </p:cNvPr>
          <p:cNvSpPr/>
          <p:nvPr/>
        </p:nvSpPr>
        <p:spPr>
          <a:xfrm>
            <a:off x="566928" y="2962656"/>
            <a:ext cx="3526536" cy="896112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>
            <a:hlinkClick r:id="rId8" action="ppaction://hlinksldjump"/>
          </p:cNvPr>
          <p:cNvSpPr txBox="1"/>
          <p:nvPr/>
        </p:nvSpPr>
        <p:spPr>
          <a:xfrm>
            <a:off x="768096" y="3090672"/>
            <a:ext cx="312420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 spc="90">
                <a:solidFill>
                  <a:srgbClr val="E8823A"/>
                </a:solidFill>
                <a:latin typeface="Arial"/>
              </a:rPr>
              <a:t>A4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Какие изменения цикла проверяем?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9828A"/>
                </a:solidFill>
                <a:latin typeface="Arial"/>
              </a:rPr>
              <a:t>Гипотезы эффекта E1–E5 · сценарий — экран 7 и A33</a:t>
            </a:r>
          </a:p>
        </p:txBody>
      </p:sp>
      <p:sp>
        <p:nvSpPr>
          <p:cNvPr id="19" name="Rounded Rectangle 18">
            <a:hlinkClick r:id="rId9" action="ppaction://hlinksldjump"/>
          </p:cNvPr>
          <p:cNvSpPr/>
          <p:nvPr/>
        </p:nvSpPr>
        <p:spPr>
          <a:xfrm>
            <a:off x="4331208" y="2962656"/>
            <a:ext cx="3526536" cy="896112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>
            <a:hlinkClick r:id="rId9" action="ppaction://hlinksldjump"/>
          </p:cNvPr>
          <p:cNvSpPr txBox="1"/>
          <p:nvPr/>
        </p:nvSpPr>
        <p:spPr>
          <a:xfrm>
            <a:off x="4532376" y="3090672"/>
            <a:ext cx="312420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 spc="90">
                <a:solidFill>
                  <a:srgbClr val="4DA3E8"/>
                </a:solidFill>
                <a:latin typeface="Arial"/>
              </a:rPr>
              <a:t>A5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Чем отличается фокус AeroBIM?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9828A"/>
                </a:solidFill>
                <a:latin typeface="Arial"/>
              </a:rPr>
              <a:t>Полки: документ, модель, норма, шов</a:t>
            </a:r>
          </a:p>
        </p:txBody>
      </p:sp>
      <p:sp>
        <p:nvSpPr>
          <p:cNvPr id="21" name="Rounded Rectangle 20">
            <a:hlinkClick r:id="rId10" action="ppaction://hlinksldjump"/>
          </p:cNvPr>
          <p:cNvSpPr/>
          <p:nvPr/>
        </p:nvSpPr>
        <p:spPr>
          <a:xfrm>
            <a:off x="8095488" y="2962656"/>
            <a:ext cx="3526536" cy="896112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xtBox 21">
            <a:hlinkClick r:id="rId10" action="ppaction://hlinksldjump"/>
          </p:cNvPr>
          <p:cNvSpPr txBox="1"/>
          <p:nvPr/>
        </p:nvSpPr>
        <p:spPr>
          <a:xfrm>
            <a:off x="8296656" y="3090672"/>
            <a:ext cx="312420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 spc="90">
                <a:solidFill>
                  <a:srgbClr val="4CC38A"/>
                </a:solidFill>
                <a:latin typeface="Arial"/>
              </a:rPr>
              <a:t>A6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Что из ТЗ закрыто и чем подтвердите?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9828A"/>
                </a:solidFill>
                <a:latin typeface="Arial"/>
              </a:rPr>
              <a:t>R1–R15, приёмочные испытания, артефакты</a:t>
            </a:r>
          </a:p>
        </p:txBody>
      </p:sp>
      <p:sp>
        <p:nvSpPr>
          <p:cNvPr id="23" name="Rounded Rectangle 22">
            <a:hlinkClick r:id="rId11" action="ppaction://hlinksldjump"/>
          </p:cNvPr>
          <p:cNvSpPr/>
          <p:nvPr/>
        </p:nvSpPr>
        <p:spPr>
          <a:xfrm>
            <a:off x="566928" y="4041648"/>
            <a:ext cx="3526536" cy="896112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TextBox 23">
            <a:hlinkClick r:id="rId11" action="ppaction://hlinksldjump"/>
          </p:cNvPr>
          <p:cNvSpPr txBox="1"/>
          <p:nvPr/>
        </p:nvSpPr>
        <p:spPr>
          <a:xfrm>
            <a:off x="768096" y="4169663"/>
            <a:ext cx="312420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 spc="90">
                <a:solidFill>
                  <a:srgbClr val="E8823A"/>
                </a:solidFill>
                <a:latin typeface="Arial"/>
              </a:rPr>
              <a:t>A7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Как вы отвечаете на темы оценки?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9828A"/>
                </a:solidFill>
                <a:latin typeface="Arial"/>
              </a:rPr>
              <a:t>Тематическая карта материалов, без спорных весов</a:t>
            </a:r>
          </a:p>
        </p:txBody>
      </p:sp>
      <p:sp>
        <p:nvSpPr>
          <p:cNvPr id="25" name="Rounded Rectangle 24">
            <a:hlinkClick r:id="rId12" action="ppaction://hlinksldjump"/>
          </p:cNvPr>
          <p:cNvSpPr/>
          <p:nvPr/>
        </p:nvSpPr>
        <p:spPr>
          <a:xfrm>
            <a:off x="4331208" y="4041648"/>
            <a:ext cx="3526536" cy="896112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>
            <a:hlinkClick r:id="rId12" action="ppaction://hlinksldjump"/>
          </p:cNvPr>
          <p:cNvSpPr txBox="1"/>
          <p:nvPr/>
        </p:nvSpPr>
        <p:spPr>
          <a:xfrm>
            <a:off x="4532376" y="4169663"/>
            <a:ext cx="312420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 spc="90">
                <a:solidFill>
                  <a:srgbClr val="4DA3E8"/>
                </a:solidFill>
                <a:latin typeface="Arial"/>
              </a:rPr>
              <a:t>A8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Кому это продаётся дальше?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9828A"/>
                </a:solidFill>
                <a:latin typeface="Arial"/>
              </a:rPr>
              <a:t>Класс покупателя · гипотеза подписки — A8+</a:t>
            </a:r>
          </a:p>
        </p:txBody>
      </p:sp>
      <p:sp>
        <p:nvSpPr>
          <p:cNvPr id="27" name="Rounded Rectangle 26">
            <a:hlinkClick r:id="rId13" action="ppaction://hlinksldjump"/>
          </p:cNvPr>
          <p:cNvSpPr/>
          <p:nvPr/>
        </p:nvSpPr>
        <p:spPr>
          <a:xfrm>
            <a:off x="8095488" y="4041648"/>
            <a:ext cx="3526536" cy="896112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8" name="TextBox 27">
            <a:hlinkClick r:id="rId13" action="ppaction://hlinksldjump"/>
          </p:cNvPr>
          <p:cNvSpPr txBox="1"/>
          <p:nvPr/>
        </p:nvSpPr>
        <p:spPr>
          <a:xfrm>
            <a:off x="8296656" y="4169663"/>
            <a:ext cx="3124200" cy="7132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1" i="0" spc="90">
                <a:solidFill>
                  <a:srgbClr val="4CC38A"/>
                </a:solidFill>
                <a:latin typeface="Arial"/>
              </a:rPr>
              <a:t>A9</a:t>
            </a:r>
          </a:p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Чьё это будет по праву?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9828A"/>
                </a:solidFill>
                <a:latin typeface="Arial"/>
              </a:rPr>
              <a:t>MIT, п. 6.3, юрлицо, реестр ПО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66928" y="5577840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Каждый ответ строим одинаково: число с набором данных и ограничением, затем шаг, который проверяет его в пилоте. Где числа нет — говорим прямо.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66928" y="6254496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Версия от 16.09.2026. В материале разделены результаты, оценки и планы пилота. Нумерация A0–A33 — приложения этой деки; официальная шкала оценки уточняется у организатора — A28.</a:t>
            </a:r>
          </a:p>
        </p:txBody>
      </p:sp>
      <p:sp>
        <p:nvSpPr>
          <p:cNvPr id="31" name="TextBox Extra Appendices"/>
          <p:cNvSpPr txBox="1"/>
          <p:nvPr/>
        </p:nvSpPr>
        <p:spPr>
          <a:xfrm>
            <a:off x="571500" y="5054600"/>
            <a:ext cx="11049000" cy="4064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79828A"/>
                </a:solidFill>
                <a:latin typeface="Arial"/>
              </a:rPr>
              <a:t>Дополнения к карточкам: A1+ — что аттестовано в CI, что измерено, что в пилоте · A8+ — модель денег и сценарная оценка сегмента · A22+ — цены и статусы из обзора. Приложения A10–A33 — по номеру в правом нижнем углу; карточки выше кликабельны в режиме показа.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ВОПРОСЫ · A1 · ТОЧНОСТЬ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Какая у вас точность и на чём она измерена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A1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5096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" y="1362456"/>
            <a:ext cx="1073505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</a:pPr>
            <a:r>
              <a:rPr sz="900" b="1" i="0" spc="110">
                <a:solidFill>
                  <a:srgbClr val="E8823A"/>
                </a:solidFill>
                <a:latin typeface="Arial"/>
              </a:rPr>
              <a:t>КОРОТКИЙ ОТВЕТ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Число называем только с набором данных и размером выборки. Два уровня измерены на наших наборах, третий — ваш комплект — по протоколу.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975104"/>
            <a:ext cx="3526536" cy="2542032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928" y="1975104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6384" y="2212848"/>
            <a:ext cx="3087624" cy="21579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УРОВНИ ЧИСЕЛ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Три уровня, а не одна цифра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Открытый бенч AECV: 0,4325 macro-метрики, n = 585 — это не F1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Уровень 2 — фикстура репозитория: macro F1 извлечения 0,86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Уровень 3 — ваш комплект: KPI из ТЗ как цели пилота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31208" y="1975104"/>
            <a:ext cx="3526536" cy="2542032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31208" y="1975104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50664" y="2212848"/>
            <a:ext cx="3087624" cy="21579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ПРОВЕРЯЕМ СЕБЯ ПО ЧУЖИМ СПИСКАМ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Покрытие — не точность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Перечень госэкспертизы по КР: 24 позиции карты покрытия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Покрываем 4 позиции из 24 — это покрытие перечня, а не точность (16,7 %)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Число по вашему корпусу получаем на неделях 4–8 пилота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5488" y="1975104"/>
            <a:ext cx="3526536" cy="2542032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95488" y="1975104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14944" y="2212848"/>
            <a:ext cx="3087624" cy="215798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ПРОТОКОЛ ЗАМЕРА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Критерий фиксируем до пилота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Заморозка набора, валидация, целевой порог 0,60 письмом — пока не подписано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Метрику и правило приёмки фиксируем до пилота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Размер выборки фиксируем до пилота; формулы мощности — в заметках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Засев 10 из 10, Уилсон 0,722 — A14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63440"/>
            <a:ext cx="11055096" cy="822960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04672" y="4791455"/>
            <a:ext cx="10579608" cy="640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КАК ПОЯВИТСЯ ПИЛОТНАЯ ЦИФРА · ДВА РЕЖИМА</a:t>
            </a:r>
          </a:p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Режим А: находки валидирует ваш эксперт — считаем покрытие и прирост к ручной проверке. Режим Б: двойная слепая разметка на отложенной выборке — считаем точность с интервалом Уилсона. Режим выбираете вы до старта, а не после результата.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596128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Фикстурные интервалы при n = 6 мы не публикуем, поэтому цифру пилота не анонсируем заранее: она появляется по протоколу.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272784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Источники: протокол измерения качества, карта покрытия по опубликованным перечням типовых замечаний, открытый бенч AECV (режим macro_extended, только открытые корпуса). Сводная таблица измерений — экран 5.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ВОПРОСЫ · A1+ · ДОКАЗАТЕЛЬСТВА ПО УРОВНЯМ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Что аттестовано в нашем CI, что измерено, что в пилоте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A1+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188720"/>
            <a:ext cx="3526536" cy="3310128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6384" y="1426464"/>
            <a:ext cx="3087624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УРОВЕНЬ 1 · ПРОГОН НАШЕГО CI 15.09.2026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3 197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900"/>
              </a:spcAft>
            </a:pPr>
            <a:r>
              <a:rPr sz="950" b="0" i="0">
                <a:solidFill>
                  <a:srgbClr val="79828A"/>
                </a:solidFill>
                <a:latin typeface="Arial"/>
              </a:rPr>
              <a:t>из 3 217 собранных · 20 пропущено · 0 упавших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Пять ворот PASS: линтер, типы, тесты, фронтенд, сборка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Фронтенд: 387 тестов, сборка PASS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Пин коммита 8f0a462d, run_id 35003401086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20 пропущенных тестов перечислены в отчёте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Это прогон нашего CI, а не внешняя аттестация продукта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1208" y="1188720"/>
            <a:ext cx="3526536" cy="3310128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31208" y="1188720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50664" y="1426464"/>
            <a:ext cx="3087624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УРОВЕНЬ 2 · ИЗМЕРЕНО НА НАШИХ НАБОРАХ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0,86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900"/>
              </a:spcAft>
            </a:pPr>
            <a:r>
              <a:rPr sz="950" b="0" i="0">
                <a:solidFill>
                  <a:srgbClr val="79828A"/>
                </a:solidFill>
                <a:latin typeface="Arial"/>
              </a:rPr>
              <a:t>macro F1 извлечения на фикстуре репозитория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Открытый бенч AECV: 0,4325 macro-метрики, n = 585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Согласие разметки 0,705 и 0,707 при n = 28 — симуляция, не независимая валидация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Единичный стендовый прогон ≈ 4,5 с на 3,3 КБ — время рабочего комплекта не подтверждает (A14)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Сводная таблица измерений — экран 5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5488" y="1188720"/>
            <a:ext cx="3526536" cy="3310128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95488" y="1188720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14944" y="1426464"/>
            <a:ext cx="3087624" cy="29260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УРОВЕНЬ 3 · ВАШ КОМПЛЕКТ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2600" b="1" i="0">
                <a:solidFill>
                  <a:srgbClr val="FFFFFF"/>
                </a:solidFill>
                <a:latin typeface="Arial"/>
              </a:rPr>
              <a:t>Протокол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900"/>
              </a:spcAft>
            </a:pPr>
            <a:r>
              <a:rPr sz="950" b="0" i="0">
                <a:solidFill>
                  <a:srgbClr val="79828A"/>
                </a:solidFill>
                <a:latin typeface="Arial"/>
              </a:rPr>
              <a:t>замер на вашем контуре; лимит 256 МиБ на файл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Пригодность данных — до разговора о точности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Целевой порог 0,60; метрика и правило приёмки фиксируются до пилота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Цифры пилота появятся на неделях 4–8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Полнота 1 из 8 — второй прогон полноты, рядом с 10 из 10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626864"/>
            <a:ext cx="11055096" cy="786384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04672" y="4754879"/>
            <a:ext cx="10579608" cy="603503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ТЕХНИЧЕСКОЕ ПРИМЕЧАНИЕ · ЧЕМ МЕРИМ И КАК НАЗЫВАЮТСЯ ПОЛЯ</a:t>
            </a:r>
          </a:p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</a:pPr>
            <a:r>
              <a:rPr sz="980" b="0" i="0">
                <a:solidFill>
                  <a:srgbClr val="D4DBE1"/>
                </a:solidFill>
                <a:latin typeface="Arial"/>
              </a:rPr>
              <a:t>Линейка отраслевая: 50 опубликованных файлов IDS содержат 847 проверок (у нас не подтверждены): 24 файла МОГЭ — 389, 22 файла СПб ГАУ ЦГЭ — 356, 4 файла ЦИМ АГР — 102. 837 коллизий за 5 959,65 мс — открытая пара duplex из IFC-Bench: скорость движка, а не связка АР и ИОС. Время стенда — единичный замер.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504688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Рядом с каждым числом стоит набор данных и ограничение; вердикт считает детерминированный слой. Измерения на рабочем комплекте заказчика — протокол первых двух недель пилота.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309360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Источники: базовый прогон CI (пин 8f0a462d от 15.09.2026), отчёт разбора IFC в закрытом контуре, открытый корпус IFC-Bench, опубликованные файлы IDS МОГЭ и СПб ГАУ ЦГЭ.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ВОПРОСЫ · A2 · ИНТЕГРАЦИЯ И БЕЗОПАСНОСТЬ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Как это встанет в наш контур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A2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5096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" y="1362456"/>
            <a:ext cx="1073505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</a:pPr>
            <a:r>
              <a:rPr sz="900" b="1" i="0" spc="110">
                <a:solidFill>
                  <a:srgbClr val="E8823A"/>
                </a:solidFill>
                <a:latin typeface="Arial"/>
              </a:rPr>
              <a:t>КОРОТКИЙ ОТВЕТ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Заходим в ваш контур: on-prem, без внешних вызовов. Облако для таких данных не предлагаем.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975104"/>
            <a:ext cx="3526536" cy="246888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928" y="1975104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6384" y="2212848"/>
            <a:ext cx="3087624" cy="2084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КОНТУР И РАЗВЁРТКА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Docker-образ в вашем периметре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Офлайн-сборка, без внешних вызовов и телеметрии; журнал остаётся у вас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Демо на демо-дне идёт офлайн на контрольном наборе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Где лежат данные — один файл: шесть поверхностей хранения (A16)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31208" y="1975104"/>
            <a:ext cx="3526536" cy="246888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31208" y="1975104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50664" y="2212848"/>
            <a:ext cx="3087624" cy="2084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ФОРМАТЫ И ЛИМИТЫ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Предел назван числом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На входе IFC, PDF/A, XML, IDS; на выходе BCF и отчёт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Комплект до 1,5 ГБ, один IFC до 256 МиБ, Office до 500 МБ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Кэш IFC ограничен 2,0 ГиБ; потоковый разбор — план, лимит сегодня не снят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5488" y="1975104"/>
            <a:ext cx="3526536" cy="246888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95488" y="1975104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14944" y="2212848"/>
            <a:ext cx="3087624" cy="2084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ГРАНИЦА MVP · ДОСТУП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Работаем внутри периметра заказчика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Ограничение: единый вход — заявлен, этап 2 пилота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План: приёмочное испытание входа в пилоте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Ограничение: импорт BCF в СОД не проверен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Роли Эксперт и Пользователь; статус ставит эксперт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608576"/>
            <a:ext cx="11055096" cy="603504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04672" y="4736592"/>
            <a:ext cx="10579608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ЧТО НУЖНО ОТ ВАШЕЙ СЛУЖБЫ ИБ · ОДИН ЛИСТ</a:t>
            </a:r>
          </a:p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Изолированная машина без интернета, каталог с комплектом одной ревизии, учётная запись для реестра замечаний. Модель угроз и перечень портов отдаём до установки.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321808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Лимиты названы числом: комплект 1,5 ГБ, IFC 256 МиБ, Office 500 МБ, кэш 2,0 ГиБ. Доступность офлайн-развёртывания не означает завершённого управления доступом.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272784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Источники: карта контуров развёртывания, модель угроз пилота, журнал ограничений репозитория. Пункты со статусом «не проверено» остаются открытыми; план проверки — экран 8.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ВОПРОСЫ · A3 · ДАННЫЕ, NDA, САМОПРОВЕРКА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Что с данными и как проверить самим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A3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5096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" y="1362456"/>
            <a:ext cx="1073505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</a:pPr>
            <a:r>
              <a:rPr sz="900" b="1" i="0" spc="110">
                <a:solidFill>
                  <a:srgbClr val="E8823A"/>
                </a:solidFill>
                <a:latin typeface="Arial"/>
              </a:rPr>
              <a:t>КОРОТКИЙ ОТВЕТ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Комплект задачи разобран офлайн в закрытом контуре. Файлов заказчика в публичном репозитории нет.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975104"/>
            <a:ext cx="3526536" cy="237744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928" y="1975104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6384" y="2212848"/>
            <a:ext cx="3087624" cy="19933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РЕЖИМ РАБОТЫ С ВАШИМИ ФАЙЛАМИ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Разбор офлайн, изолированный контур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Адреса и имена объектов в отчёты не попадают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Наружу — только производные метрики и статусы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Состав комплекта не публикуем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31208" y="1975104"/>
            <a:ext cx="3526536" cy="237744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31208" y="1975104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50664" y="2212848"/>
            <a:ext cx="3087624" cy="19933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ЧТО ПРОСИМ ПИСЬМЕННО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Три позиции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Комплект одной ревизии с IFC и эксперт-валидатор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Режим данных и перечень допустимых артефактов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Лист целевых KPI с дирекцией техзаказчика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5488" y="1975104"/>
            <a:ext cx="3526536" cy="237744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95488" y="1975104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14944" y="2212848"/>
            <a:ext cx="3087624" cy="19933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КАК СНИМАЕМ РИСК СПОРА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Одна ревизия — один вердикт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Трасса до источника по каждой находке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Находка без ссылки на источник не сохраняется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Ключевые решения — письмом, а не на словах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517136"/>
            <a:ext cx="11055096" cy="658368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04672" y="4645151"/>
            <a:ext cx="10579608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КАК ВЫ ПРОВЕРЯЕТЕ САМИ · ЗАПРОС ЗАКАЗЧИКА 09.09</a:t>
            </a:r>
          </a:p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Обезличенные отчёты собраны; канал передачи фиксируем письмом. Пробный доступ на выбор: тестовый аккаунт на стенде, образ on-prem или сопровождаемый прогон.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303519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Три запроса заказчика от 09.09 отвечаем письмом: ссылки на отчёты, механика пробного доступа и формат пилота отдельным документом.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272784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Источники: заявление о работе с данными, протокол приёмки качества, карточка согласования по задаче. Артефакта доставки отчётов у нас на руках нет — передачу подтверждаем письмом.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ВОПРОСЫ · A4 · ЭКОНОМИКА ЭФФЕКТА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Какие изменения цикла проверяем в пилоте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A4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5096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" y="1362456"/>
            <a:ext cx="1073505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</a:pPr>
            <a:r>
              <a:rPr sz="900" b="1" i="0" spc="110">
                <a:solidFill>
                  <a:srgbClr val="E8823A"/>
                </a:solidFill>
                <a:latin typeface="Arial"/>
              </a:rPr>
              <a:t>КОРОТКИЙ ОТВЕТ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Считаем на ваших днях: снятые круги согласования, длительность круга и стоимость дня. Цель пилота — минус один круг.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975104"/>
            <a:ext cx="5408676" cy="237744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928" y="1975104"/>
            <a:ext cx="540867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6384" y="2212848"/>
            <a:ext cx="4969764" cy="19933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ПЯТЬ ГИПОТЕЗ ЭФФЕКТА E1–E5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План замера, а не результат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E1: меньше кругов согласования комплекта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E2: короче срок ответа на замечание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E3: меньше повторных замечаний по одному узлу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E4: меньше правок после экспертизы · E5: меньше переделок на площадке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Ни одна из пяти не измерена на ваших данных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3348" y="1975104"/>
            <a:ext cx="5408676" cy="237744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13348" y="1975104"/>
            <a:ext cx="540867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32804" y="2212848"/>
            <a:ext cx="4969764" cy="19933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ЧЕМ ПОДТВЕРЖДАЕМ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Вашими же записями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Замер «до и после» на вашей ревизии: таймер эксперта против прогона ≤ 30 минут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Дельта между ревизиями как объективный след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Стоимость дня подставляете вы — у нас её нет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Иллюстративный сценарий стоимости задержки — экран 7 и A33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517136"/>
            <a:ext cx="11055096" cy="603504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04672" y="4645151"/>
            <a:ext cx="10579608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ПОЧЕМУ МЕРИМ КРУГИ, А НЕ ЧАСЫ ЭКСПЕРТА</a:t>
            </a:r>
          </a:p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Часы эксперта — внутренняя метрика; мы мерим объективный след в СОД — даты ревизий и круг согласования видны в вашей СОД.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248655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Своих денег в этой модели нет: E1–E5 — гипотезы эффекта, которые проверяем на пилоте, а не заявленный результат. Условия оценки — A29.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272784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Контекст: ключевая ставка 14,00 % (ЦБ РФ, 11.09.2026), эскроу свыше 1,0 млн счетов и 7,5 трлн рублей (Банк России, 01.07.2026). Оценки переделок: около 5 % (CII, не подтверждено) и 0,38–0,76 % (ASCE).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ВОПРОСЫ · A5 · КОНКУРЕНТНОЕ ПОЛЕ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Чем отличается фокус AeroBIM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A5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5096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" y="1362456"/>
            <a:ext cx="1073505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</a:pPr>
            <a:r>
              <a:rPr sz="900" b="1" i="0" spc="110">
                <a:solidFill>
                  <a:srgbClr val="E8823A"/>
                </a:solidFill>
                <a:latin typeface="Arial"/>
              </a:rPr>
              <a:t>КОРОТКИЙ ОТВЕТ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Мы на другой полке: СОД отвечает за документ, валидаторы — за модель, нормоконтроль — за пункт нормы. Наш фокус — шов комплекта.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975104"/>
            <a:ext cx="3526536" cy="246888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928" y="1975104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6384" y="2212848"/>
            <a:ext cx="3087624" cy="2084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СОД И ПЛАТФОРМЫ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Документ и маршрут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10D, Pilot-BIM, Sarex: наличие, маршрут, ЭЦП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Сверку содержания файлов между собой не делают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Для нас это канал доставки замечаний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31208" y="1975104"/>
            <a:ext cx="3526536" cy="246888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31208" y="1975104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50664" y="2212848"/>
            <a:ext cx="3087624" cy="2084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МОДЕЛЬНЫЕ ВАЛИДАТОРЫ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Модель до выгрузки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Tangl control, Solibri: модель, атрибуты, коллизии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Работают в среде автора, до приёмки комплекта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Ведомость, записку и расчёт не сверяют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5488" y="1975104"/>
            <a:ext cx="3526536" cy="246888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95488" y="1975104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14944" y="2212848"/>
            <a:ext cx="3087624" cy="2084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ГОРОД И НОРМОКОНТРОЛЬ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Пункт нормы и оформление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Москва: ЦИМ АГР в IFC обязательна с 02.04.2026; сервис проверки — бета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Самопроверка бесплатна — в этот рынок не идём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«Норм Чекер» — пункт нормы; мы — непротиворечивость фактов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Почему не собрать это внутри — A19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718304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Точки сравнения назвали сами: Tangl control, «Норм Чекер», Solibri. Сравнений «голова к голове» не проводили.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272784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Состояние области на сентябрь 2026: IDS 1.0 buildingSMART — финальный стандарт (2024), Solibri Autorun — автопроверки по расписанию, bSI Validation Service — проверка схемы. Точки: tangl.cloud.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ВОПРОСЫ · A6 · МАТРИЦА ТЗ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Что из ТЗ закрыто и чем подтвердите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A6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5096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" y="1362456"/>
            <a:ext cx="1073505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</a:pPr>
            <a:r>
              <a:rPr sz="900" b="1" i="0" spc="110">
                <a:solidFill>
                  <a:srgbClr val="E8823A"/>
                </a:solidFill>
                <a:latin typeface="Arial"/>
              </a:rPr>
              <a:t>КОРОТКИЙ ОТВЕТ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Пятнадцать требований разложены построчно: что закрыто, каким артефактом и какое приёмочное испытание это подтверждает.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975104"/>
            <a:ext cx="5408676" cy="246888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928" y="1975104"/>
            <a:ext cx="540867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6384" y="2212848"/>
            <a:ext cx="4969764" cy="2084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ЗАЯВЛЕНО И ВОСПРОИЗВОДИТСЯ ОФЛАЙН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Артефакт рядом с каждой строкой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Разбор IFC, PDF/A и XML; профиль приёмки на IDS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Замечание с пунктом нормы, этажом и GUID → BCF 2.1/3.0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Инженерные счётчики CI — в A1+ и A13, в перечень функций не входят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Детерминированный вердикт по ADR-001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13348" y="1975104"/>
            <a:ext cx="5408676" cy="246888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6213348" y="1975104"/>
            <a:ext cx="540867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32804" y="2212848"/>
            <a:ext cx="4969764" cy="20848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ЗАКРЫВАЕТСЯ ПРИЁМОЧНЫМ ИСПЫТАНИЕМ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Срок и владелец названы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План: DWG и MS Office на входе — недели 1–2 пилота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Импорт BCF в СОД и единый вход — статус «не проверено»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План: сравнение версий и типов документации — недели 2–3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Замечания двуязычные: в выгрузке BCF [RU] и [EN], есть тест паритета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План: подсветка ошибок на листе — испытание недель 1–2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Срок 30 минут и полнота 0,90 — цели пилота, не результаты (A14)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608576"/>
            <a:ext cx="11055096" cy="603504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04672" y="4736592"/>
            <a:ext cx="10579608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СТАТУСЫ, А НЕ ГАЛОЧКИ</a:t>
            </a:r>
          </a:p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В матрице три статуса — готово, в работе, не проверено — и рядом артефакт. Пустая клетка означает «нет данных», а не «ок»; разделы ТЗ помечены TBD.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321808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Стабильность важнее рекорда: незавершённая обязательная проверка не позволяет выдать положительный результат по комплекту — отчёт не пишет «ошибок не найдено».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272784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Источники: матрица соответствия ТЗ, базовый прогон CI 8f0a462d от 15.09.2026, протоколы приёмочных испытаний контрольной точки 3.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ВОПРОСЫ · A7 · КАРТА МАТЕРИАЛОВ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Какими материалами отвечаем на каждую тему оценки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A7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5096" cy="603504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6035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" y="1362456"/>
            <a:ext cx="10735056" cy="60350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</a:pPr>
            <a:r>
              <a:rPr sz="900" b="1" i="0" spc="110">
                <a:solidFill>
                  <a:srgbClr val="E8823A"/>
                </a:solidFill>
                <a:latin typeface="Arial"/>
              </a:rPr>
              <a:t>КОРОТКИЙ ОТВЕТ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Это редакторская группировка наших материалов по темам, а не критерии организатора: официальная шкала и веса в наших материалах не согласованы — A28.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2071115"/>
            <a:ext cx="233172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8823A"/>
                </a:solidFill>
                <a:latin typeface="Arial"/>
              </a:rPr>
              <a:t>Соответствие задаче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98648" y="2071115"/>
            <a:ext cx="872337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D4DBE1"/>
                </a:solidFill>
                <a:latin typeface="Arial"/>
              </a:rPr>
              <a:t>Шов комплекта как постановка задачи комиссии № 7 — экраны 2 и 4; профиль приёмки под факт данных — экран 6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2578608"/>
            <a:ext cx="1105509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" name="TextBox 13"/>
          <p:cNvSpPr txBox="1"/>
          <p:nvPr/>
        </p:nvSpPr>
        <p:spPr>
          <a:xfrm>
            <a:off x="566928" y="2638044"/>
            <a:ext cx="233172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8823A"/>
                </a:solidFill>
                <a:latin typeface="Arial"/>
              </a:rPr>
              <a:t>Прототип и результаты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98648" y="2638044"/>
            <a:ext cx="872337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D4DBE1"/>
                </a:solidFill>
                <a:latin typeface="Arial"/>
              </a:rPr>
              <a:t>Экран 5 — таблица измерений с наборами данных и ограничениями; детали — A1, A1+, A13, A14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145536"/>
            <a:ext cx="1105509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TextBox 16"/>
          <p:cNvSpPr txBox="1"/>
          <p:nvPr/>
        </p:nvSpPr>
        <p:spPr>
          <a:xfrm>
            <a:off x="566928" y="3204972"/>
            <a:ext cx="233172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8823A"/>
                </a:solidFill>
                <a:latin typeface="Arial"/>
              </a:rPr>
              <a:t>Интеграция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98648" y="3204972"/>
            <a:ext cx="872337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D4DBE1"/>
                </a:solidFill>
                <a:latin typeface="Arial"/>
              </a:rPr>
              <a:t>Экраны 8 и 10 — on-prem, выгрузка BCF, профиль IDS, роли и лимиты; открытые пункты — экран 8 и A2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3712464"/>
            <a:ext cx="1105509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66928" y="3771900"/>
            <a:ext cx="233172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8823A"/>
                </a:solidFill>
                <a:latin typeface="Arial"/>
              </a:rPr>
              <a:t>Эффект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98648" y="3771900"/>
            <a:ext cx="872337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D4DBE1"/>
                </a:solidFill>
                <a:latin typeface="Arial"/>
              </a:rPr>
              <a:t>Экран 7 и A33 — иллюстративный сценарий стоимости задержки; A4 и A29 — гипотезы и единица измерения. Эффект фиксируется по протоколу в пилоте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279392"/>
            <a:ext cx="1105509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66928" y="4338827"/>
            <a:ext cx="2331720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8823A"/>
                </a:solidFill>
                <a:latin typeface="Arial"/>
              </a:rPr>
              <a:t>Команда и документация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898648" y="4338827"/>
            <a:ext cx="872337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100" b="0" i="0">
                <a:solidFill>
                  <a:srgbClr val="D4DBE1"/>
                </a:solidFill>
                <a:latin typeface="Arial"/>
              </a:rPr>
              <a:t>Экран 11 — состав, непрерывность и запрос; A31 — право и формы; A18 — ритм работы и открытые риски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5047488"/>
            <a:ext cx="11055096" cy="658368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TextBox 25"/>
          <p:cNvSpPr txBox="1"/>
          <p:nvPr/>
        </p:nvSpPr>
        <p:spPr>
          <a:xfrm>
            <a:off x="804672" y="5175504"/>
            <a:ext cx="10579608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ЧТО МЫ СОЗНАТЕЛЬНО НЕ ДЕЛАЕМ</a:t>
            </a:r>
          </a:p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Не присваиваем себе баллы, не цитируем спорные коды критериев и веса как официальные и не называем эту карту шкалой организатора. Порядок показа — A0.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5852160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Ни одна тема оценки не осталась без экрана с числом и указанием набора данных.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66928" y="6345936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В материалах два несовпадающих варианта шкалы Б1–Б5 и отдельная шкала приказа К1–К5 — расхождение не разрешено и вынесено как открытый вопрос (A28). Первичного документа со шкалой у нас нет.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ВОПРОСЫ · A8 · ТИРАЖ И КЛАСС ПОКУПАТЕЛЯ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Кому это продаётся дальше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A8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5096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" y="1362456"/>
            <a:ext cx="1073505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</a:pPr>
            <a:r>
              <a:rPr sz="900" b="1" i="0" spc="110">
                <a:solidFill>
                  <a:srgbClr val="E8823A"/>
                </a:solidFill>
                <a:latin typeface="Arial"/>
              </a:rPr>
              <a:t>КОРОТКИЙ ОТВЕТ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Покупатель — класс, а не логотип: застройщик по 214-ФЗ с обязанностью информационной модели, своей СОД и внешней экспертизой.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975104"/>
            <a:ext cx="3526536" cy="228600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928" y="1975104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6384" y="2212848"/>
            <a:ext cx="3087624" cy="1901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РАЗМЕР КЛАССА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Наша оценка по открытой базе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30–50 групп по открытой базе ЕРЗ.РФ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Признаки: 214-ФЗ, ДДУ после 01.07.2024, своя СОД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Это не воронка и не список контактов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31208" y="1975104"/>
            <a:ext cx="3526536" cy="228600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31208" y="1975104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50664" y="2212848"/>
            <a:ext cx="3087624" cy="1901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ГИПОТЕЗА ПОВТОРНОГО ИСПОЛЬЗОВАНИЯ ПРОФИЛЯ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Профиль, а не релиз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Профиль приёмки — файл IDS, а не новый релиз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50 файлов IDS содержат 847 опубликованных проверок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Из них 24 файла МОГЭ дают 389 проверок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5488" y="1975104"/>
            <a:ext cx="3526536" cy="228600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95488" y="1975104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14944" y="2212848"/>
            <a:ext cx="3087624" cy="1901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АКТИВ, КОТОРЫЙ ОСТАЁТСЯ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Норм-профиль и карта покрытия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Повторный актив: профиль переносится на следующий объект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Новый объект — новый профиль, ядро одно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Открытые форматы на входе и выходе: IDS, IFC, BCF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25696"/>
            <a:ext cx="11055096" cy="694944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04672" y="4553712"/>
            <a:ext cx="10579608" cy="61366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ЧЕМ ПОДТВЕРЖДЁН СПРОС, А ЧЕМ ПОКА НЕТ</a:t>
            </a:r>
          </a:p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50 открытых источников двух госэкспертиз и городского регламента переведены в 847 машиночитаемых проверок — это существование требований, а не подтверждённый спрос. Глубинные интервью с дирекцией техзаказчика — план до 25.09 (пять встреч).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230368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Тиражирование — следующий шаг после первого пилота: есть класс покупателя, протокол пилота и открытый профиль приёмки.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272784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Источники: открытая база ЕРЗ.РФ, приложение 4 приказа о программе, ПП РФ 331 в ред. 2357, опубликованные файлы IDS МОГЭ, СПб ГАУ ЦГЭ и ЦИМ АГР.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ВОПРОСЫ · A8+ · РЫНОК, МОДЕЛЬ ДЕНЕГ, ТИРАЖ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Считаем снизу и говорим, чья это цифра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A8+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188720"/>
            <a:ext cx="3526536" cy="320040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6384" y="1426464"/>
            <a:ext cx="3087624" cy="2816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КЛАСС ПОКУПАТЕЛЯ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214-ФЗ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900"/>
              </a:spcAft>
            </a:pPr>
            <a:r>
              <a:rPr sz="950" b="0" i="0">
                <a:solidFill>
                  <a:srgbClr val="79828A"/>
                </a:solidFill>
                <a:latin typeface="Arial"/>
              </a:rPr>
              <a:t>застройщик с моделью, СОД и внешней экспертизой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30–50 групп — наша оценка по открытой базе ЕРЗ.РФ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Проверяемый признак вместо отраслевой мечты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Воронка формируется по итогам пилота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1208" y="1188720"/>
            <a:ext cx="3526536" cy="320040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31208" y="1188720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50664" y="1426464"/>
            <a:ext cx="3087624" cy="2816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МОДЕЛЬ ДЕНЕГ · РАБОЧАЯ ГИПОТЕЗА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3,3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900"/>
              </a:spcAft>
            </a:pPr>
            <a:r>
              <a:rPr sz="950" b="0" i="0">
                <a:solidFill>
                  <a:srgbClr val="79828A"/>
                </a:solidFill>
                <a:latin typeface="Arial"/>
              </a:rPr>
              <a:t>млн руб./год — гипотеза подписки, не прайс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Рабочая гипотеза подписки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Состав гипотезы: 2,4 млн за контур и 0,9 млн за профиль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Уточняется по итогам первого пилота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Приз задачи — оплачиваемый пилот; подписка — следующий шаг (план)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Нулевой вход на MVP: без CAPEX (п. 2.2.2 ТЗ)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5488" y="1188720"/>
            <a:ext cx="3526536" cy="320040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95488" y="1188720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14944" y="1426464"/>
            <a:ext cx="3087624" cy="28163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РЫНОК · ЧЬЯ ЦИФРА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000" b="1" i="0">
                <a:solidFill>
                  <a:srgbClr val="FFFFFF"/>
                </a:solidFill>
                <a:latin typeface="Arial"/>
              </a:rPr>
              <a:t>50–55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900"/>
              </a:spcAft>
            </a:pPr>
            <a:r>
              <a:rPr sz="950" b="0" i="0">
                <a:solidFill>
                  <a:srgbClr val="79828A"/>
                </a:solidFill>
                <a:latin typeface="Arial"/>
              </a:rPr>
              <a:t>млрд руб. — инженерное ПО РФ, TAdviser, итоги 2025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Оценки расходятся: 50–55 млрд у TAdviser и около 38 млрд по консенсусу — обе чужие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SAM контроля качества ПД/РД — наша оценка: от 3 до 4 млрд руб.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Сценарная оценка сегмента: 30–50 групп × 3,3 млн руб./год = 99–165 млн руб./год при полном охвате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Это сценарная оценка, а не воронка и не прогноз продаж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535424"/>
            <a:ext cx="11055096" cy="603504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04672" y="4663440"/>
            <a:ext cx="10579608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КАК РАСТЁМ ПОСЛЕ ПЕРВОГО ПИЛОТА</a:t>
            </a:r>
          </a:p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Три рычага: второй профиль на том же ядре, тираж внутри группы застройщика, передача норм-профиля как актива. Новой платформы не нужно. A16.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248656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Числа рынка — оценки: верхние чужие, SAM и сценарная оценка сегмента наши. Уточняется по итогам первого пилота; расчёт окупаемости — после фиксации эффекта.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309360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Источники и атрибуции исходной версии материалов: TAdviser (инженерное ПО России), открытая база ЕРЗ.РФ. Чужие цифры помечены как чужие, гипотеза подписки — как гипотеза; срок возврата вложений не называем.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ВОПРОСЫ · A9 · ПРАВО, ЛИЦЕНЗИЯ, ПРИЗ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Чьё это будет по праву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A9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5096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658368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" y="1362456"/>
            <a:ext cx="10735056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</a:pPr>
            <a:r>
              <a:rPr sz="900" b="1" i="0" spc="110">
                <a:solidFill>
                  <a:srgbClr val="E8823A"/>
                </a:solidFill>
                <a:latin typeface="Arial"/>
              </a:rPr>
              <a:t>КОРОТКИЙ ОТВЕТ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Ядро остаётся под MIT. Приз задачи — оплачиваемое пилотное тестирование, 1 место — 2 000 000 рублей. Договор о передаче прав — между Партнёром и Финалистом, без Организатора (п. 6.3).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048256"/>
            <a:ext cx="3526536" cy="237744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928" y="2048256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6384" y="2286000"/>
            <a:ext cx="3087624" cy="19933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ЛИЦЕНЗИЯ И РИД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Ядро под MIT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Воспроизводимость проверяется независимо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Норм-профили и карта покрытия передаются по договору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Данные заказчика в репозиторий не попадают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Право продолжить без нас закреплено лицензией — A19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31208" y="2048256"/>
            <a:ext cx="3526536" cy="237744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31208" y="2048256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50664" y="2286000"/>
            <a:ext cx="3087624" cy="19933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КОРПОРАТИВНЫЙ КОНТУР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Юрлицо оформляется до подписания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Юрлицо оформляем до подписания соглашения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Заявка в реестр отеч. ПО — план IV кв. 2026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Заявку планируем в IV квартале 2026 — это план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Публичная доска задач пока не открыта — A18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5488" y="2048256"/>
            <a:ext cx="3526536" cy="237744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95488" y="2048256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14944" y="2286000"/>
            <a:ext cx="3087624" cy="19933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ПРОГРАММА · ГРАНИЦЫ ПРИЗА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Что именно мы просим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30 дней на контакт и 150 дней на соглашение (п. 6.3)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Мониторинг результата — 3 года по Положению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Призовой фонд программы 20 млн рублей — это фонд, а не наш приз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681728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Юрлица пока нет, записи в реестре ПО нет — это два открытых пункта, и мы не выдаём их за сделанное.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272784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Источники: Положение о программе (приказ № П-01-ОД-19/26 от 06.04.2026), пункты 6.1–6.4 и приложение 4; приказ о составах комиссий № П-01-ОД-52-1/26 от 17.06.2026.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ВОПРОСЫ · A10 · МИРОВАЯ ПРАКТИКА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Порядок проверки берём мировой, добавляем шов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A10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188720"/>
            <a:ext cx="3526536" cy="2487168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6384" y="1426464"/>
            <a:ext cx="3087624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ГЕЙТЫ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Порядок проверки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bSI IFC Validation Service — проверка схемы, шаг первый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CORENET X, Сингапур: машиночитаемая подача по этапам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BIM basis ILS, Нидерланды: отраслевой минимум по данным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IDS 1.0 buildingSMART — финальный стандарт (2024)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1208" y="1188720"/>
            <a:ext cx="3526536" cy="2487168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31208" y="1188720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50664" y="1426464"/>
            <a:ext cx="3087624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МЕТРОЛОГИЯ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Интервалы вместо одной цифры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Двойная слепая разметка — метод пилота; 0,705 и 0,707 — симуляция разметки, не независимая экспертная валидация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Интервал Уилсона; планируемый размер выборки n = 111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Целевой порог 0,60; метрика и правило приёмки фиксируются до пилота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5488" y="1188720"/>
            <a:ext cx="3526536" cy="2487168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95488" y="1188720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14944" y="1426464"/>
            <a:ext cx="3087624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ЭФФЕКТ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Чужие кейсы — в формулировке правообладателя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Копенгагенский аэропорт и Solibri: около 400 тыс. евро — публикация вендора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Переделки около 5 % стоимости проекта, разброс 2–20 % (CII, не подтверждено)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Контроценка ASCE, 01.2026: 0,38–0,76 %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936492"/>
            <a:ext cx="1691640" cy="278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823A"/>
                </a:solidFill>
                <a:latin typeface="Arial"/>
              </a:rPr>
              <a:t>Стандарт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58568" y="3936492"/>
            <a:ext cx="9363456" cy="278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IDS 1.0 buildingSMART — машиночитаемые требования к данным, финальный стандарт 2024 года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4155948"/>
            <a:ext cx="1105509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66928" y="4215384"/>
            <a:ext cx="1691640" cy="278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823A"/>
                </a:solidFill>
                <a:latin typeface="Arial"/>
              </a:rPr>
              <a:t>Метрология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58568" y="4215384"/>
            <a:ext cx="9363456" cy="278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Согласие и интервалы вместо одной цифры: 0,705, 0,707 и AC1 0,869 — симуляция разметки, n = 28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434840"/>
            <a:ext cx="1105509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66928" y="4494276"/>
            <a:ext cx="1691640" cy="278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823A"/>
                </a:solidFill>
                <a:latin typeface="Arial"/>
              </a:rPr>
              <a:t>Граница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58568" y="4494276"/>
            <a:ext cx="9363456" cy="278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Чужие кейсы приводим в формулировке правообладателя и не переносим их проценты на ваш объект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878324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Схему, модель и норму в мире уже проверяют машиной. В представленном обзоре ни один из этих гейтов не сверяет факты между файлами комплекта — это наш фокус.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272784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Источники: buildingSMART International, BCA Singapore (CORENET X), BIM basis ILS, Construction Industry Institute, ASCE JCEM 01.2026, публичный кейс Solibri по аэропорту Копенгагена.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ВОПРОСЫ · A11 · ГЕОМЕТРИЯ БЕЗ АТРИБУТОВ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Что проверяем при отсутствующих атрибутах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A11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5096" cy="65836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658368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" y="1362456"/>
            <a:ext cx="10735056" cy="65836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</a:pPr>
            <a:r>
              <a:rPr sz="900" b="1" i="0" spc="110">
                <a:solidFill>
                  <a:srgbClr val="E8823A"/>
                </a:solidFill>
                <a:latin typeface="Arial"/>
              </a:rPr>
              <a:t>КОРОТКИЙ ОТВЕТ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AeroBIM — прототип шлюза проверки согласованности комплекта; пилот ограничивается согласованной областью: семантика модели и требования в формате IDS. Площадь по геометрии в контур этапа 1 не входит — в коде стоит статус «не реализовано».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2048256"/>
            <a:ext cx="3526536" cy="2670048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928" y="2048256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6384" y="2286000"/>
            <a:ext cx="3087624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ФАКТ ПАКЕТА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Что видим в выгрузке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У 16 152 IfcSpace не заполнен NetFloorArea — нет данных для проверки площади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Оси IfcGrid: 0/13/53 по пакетам; локация по IfcBuildingStorey+контур IfcSpace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Комплект разобран офлайн, состав не публикуем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31208" y="2048256"/>
            <a:ext cx="3526536" cy="2670048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31208" y="2048256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50664" y="2286000"/>
            <a:ext cx="3087624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МЕТОД · ЧТО ДЕЛАЕМ ВМЕСТО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Этап 2 дорожной карты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Площадь по геометрии контура IfcSpace в коде помечена not_implemented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Включение — этап 2 дорожной карты, в контуре пилота (план)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Тест подтверждает только статус и отсутствие расчётных площадей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Этаж и секция — по IfcBuildingStorey, когда осей нет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5488" y="2048256"/>
            <a:ext cx="3526536" cy="2670048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95488" y="2048256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14944" y="2286000"/>
            <a:ext cx="3087624" cy="2286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ГРАНИЦА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Чего нет в пакете — того мы не проверяли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Коллизии по сетям и арматуре не заявляем: эти разделы не проверяли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Погрешность метода не называем до замера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Метрики на открытых корпусах помечены как открытый бенч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887468"/>
            <a:ext cx="1691640" cy="278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823A"/>
                </a:solidFill>
                <a:latin typeface="Arial"/>
              </a:rPr>
              <a:t>Факт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58568" y="4887468"/>
            <a:ext cx="9363456" cy="278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Незаполненное поле — это «нет данных» и запрос к автору, а не нулевая площадь и не «ок» в отчёте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5106924"/>
            <a:ext cx="1105509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66928" y="5166359"/>
            <a:ext cx="1691640" cy="278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823A"/>
                </a:solidFill>
                <a:latin typeface="Arial"/>
              </a:rPr>
              <a:t>Метод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58568" y="5166359"/>
            <a:ext cx="9363456" cy="278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Рядом с числом печатаем метод, контур и единицы измерения — цифру можно перепроверить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5495544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Пока расчёт площади по геометрии не реализован, мы его не заявляем как работающий — и статус в коде это подтверждает.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272784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Источники: карта пригодности данных комплекта (экран 6), отчёт разбора IFC, журнал ограничений репозитория.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ВОПРОСЫ · A12 · ТИРАЖ И МЕСТО В СТЕКЕ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Кому может быть полезен шлюз приёмки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A12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188720"/>
            <a:ext cx="3526536" cy="2487168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6384" y="1426464"/>
            <a:ext cx="3087624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ТИРАЖ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Класс объектов, а не логотипы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Застройщики по 214-ФЗ, техзаказчики, экспертиза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С 02.04.2026 машиночитаемая сдача АГР в IFC — распоряжение ДГП и ДИТ от 16.01.2026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Новый объект — новый профиль IDS, ядро одно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1208" y="1188720"/>
            <a:ext cx="3526536" cy="2487168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31208" y="1188720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50664" y="1426464"/>
            <a:ext cx="3087624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СТЕК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Никакой новой платформы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СОД остаётся системой доставки и маршрута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Модельные валидаторы работают до выгрузки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Наш фокус — приёмка комплекта и формулировка замечания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5488" y="1188720"/>
            <a:ext cx="3526536" cy="2487168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95488" y="1188720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14944" y="1426464"/>
            <a:ext cx="3087624" cy="210312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ПРАВО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MIT на ядро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Получатель по формам оператора — организация, поэтому юрлицо к соглашению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Код под MIT, передача РИД по п. 6.3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Заявка в реестр отеч. ПО — план IV кв. 2026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3936492"/>
            <a:ext cx="1691640" cy="278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823A"/>
                </a:solidFill>
                <a:latin typeface="Arial"/>
              </a:rPr>
              <a:t>Тираж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58568" y="3936492"/>
            <a:ext cx="9363456" cy="278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Гипотеза: один норм-профиль покрывает класс объектов и тираж идёт профилем; на пилоте не проверена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4155948"/>
            <a:ext cx="1105509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66928" y="4215384"/>
            <a:ext cx="1691640" cy="278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823A"/>
                </a:solidFill>
                <a:latin typeface="Arial"/>
              </a:rPr>
              <a:t>Стек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58568" y="4215384"/>
            <a:ext cx="9363456" cy="278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Ни один шаг маршрута не требует нашей платформы: на входе IDS и IFC, на выходе BCF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434840"/>
            <a:ext cx="1105509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66928" y="4494276"/>
            <a:ext cx="1691640" cy="278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823A"/>
                </a:solidFill>
                <a:latin typeface="Arial"/>
              </a:rPr>
              <a:t>Право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58568" y="4494276"/>
            <a:ext cx="9363456" cy="278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MIT на ядро и договор на профили: воспроизводимость остаётся проверяемой независимо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4896612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Тираж идёт профилем, а не платформой: ядро одно, под каждый объект настраивается норм-профиль на открытых форматах.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272784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Источники: Положение программы (п. 6.3), распоряжение ДГП и ДИТ Москвы № ДГП-Р-1/26/64-16-6/26 от 16.01.2026 (вступление 02.04.2026), ГОСТ Р 21.101-2026 в силе с 01.04.2026.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ВОПРОСЫ · A13 · ДОВЕРИЕ К ЦИФРЕ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У каждого числа назван набор данных и назван предел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A13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188720"/>
            <a:ext cx="3526536" cy="2706624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6384" y="1426464"/>
            <a:ext cx="3087624" cy="23225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МЕТКА НАБОРА ДАННЫХ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Число без набора данных не выходит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0,86 — macro F1 извлечения на фикстуре, не на ваших данных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0,4325 — расширенная macro-метрика бенча AECV, n = 585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10 из 10 — засев дефектов, Уилсон 0,722; 1 из 8 — другой прогон полноты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УГТ 6 — уровень заявки; детализация по этапам — в репозитории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1208" y="1188720"/>
            <a:ext cx="3526536" cy="2706624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31208" y="1188720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50664" y="1426464"/>
            <a:ext cx="3087624" cy="23225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МЕХАНИКА ДОВЕРИЯ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Числа собирает прогон CI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Целевой порог 0,60 и планируемый n = 111 фиксируем письмом до старта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Таблицу качества формирует CI: пин 8f0a462d, 3 197 из 3 217, фронтенд 387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При непрохождении критерия фиксируем результат; сужение области — отдельное решение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Прогон 0 из 6 — исторический пин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5488" y="1188720"/>
            <a:ext cx="3526536" cy="2706624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95488" y="1188720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14944" y="1426464"/>
            <a:ext cx="3087624" cy="23225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ЗАПРЕТ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Что запрещено в коде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ADR-001: языковой модели запрещено писать итоговый статус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Молчание не считается успехом: нет артефакта — этап не пройден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Запрос — оплачиваемый пилот на одном корпусе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Чего в интерфейсе нет, говорим сами: подсветки на листе пока нет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4119372"/>
            <a:ext cx="1691640" cy="278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823A"/>
                </a:solidFill>
                <a:latin typeface="Arial"/>
              </a:rPr>
              <a:t>Метка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258568" y="4119372"/>
            <a:ext cx="9363456" cy="278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Рядом с числом печатаем набор данных и размер выборки; интервал — там, где он посчитан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4338828"/>
            <a:ext cx="1105509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566928" y="4398264"/>
            <a:ext cx="1691640" cy="278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823A"/>
                </a:solidFill>
                <a:latin typeface="Arial"/>
              </a:rPr>
              <a:t>Гейт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258568" y="4398264"/>
            <a:ext cx="9363456" cy="278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Пять ворот качества в нашем CI: линтер, типы, тесты бэкенда и фронтенда, сборка — все PASS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617720"/>
            <a:ext cx="1105509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566928" y="4677156"/>
            <a:ext cx="1691640" cy="278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 i="0">
                <a:solidFill>
                  <a:srgbClr val="E8823A"/>
                </a:solidFill>
                <a:latin typeface="Arial"/>
              </a:rPr>
              <a:t>Вердикт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58568" y="4677156"/>
            <a:ext cx="9363456" cy="2788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Итоговый статус комплекта ставит аттестованный эксперт заказчика, а не наш сервис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66928" y="5042916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Любое названное число можно повторить из нашего репозитория по пину — это проверяемость наших чисел, а не внешняя аттестация продукта.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6272784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Источники: базовый отчёт прогона CI (пин 8f0a462d, attested_by: ci), протокол измерения качества, ГОСТ Р 58048-2017, ADR-001. Сводная таблица измерений — экран 5.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ВОПРОСЫ · A14 · СРОК КОМПЛЕКТА И ПОЛНОТА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Срок и полнота: что измерено и на каких данных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A14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188720"/>
            <a:ext cx="3526536" cy="3145536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6384" y="1426464"/>
            <a:ext cx="3087624" cy="2761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КРИТЕРИЙ ТЗ · СРОК НА КОМПЛЕКТ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≤ 30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900"/>
              </a:spcAft>
            </a:pPr>
            <a:r>
              <a:rPr sz="950" b="0" i="0">
                <a:solidFill>
                  <a:srgbClr val="79828A"/>
                </a:solidFill>
                <a:latin typeface="Arial"/>
              </a:rPr>
              <a:t>минут на комплект — цель пилота, не результат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Бюджет этапов (план): 5 приём + 18 разбор + 2 сверка + 5 отчёт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Единичный стендовый прогон 15.09: около 4,5 с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Анализируемый объём — 3,3 КБ при инвентаре около 1,76 МБ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Не подтверждает время рабочего комплекта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Число на вашем комплекте — неделя 1 (план)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1208" y="1188720"/>
            <a:ext cx="3526536" cy="3145536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31208" y="1188720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50664" y="1426464"/>
            <a:ext cx="3087624" cy="2761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ПОЛНОТА НА ВНЕСЁННЫХ ДЕФЕКТАХ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10 / 10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900"/>
              </a:spcAft>
            </a:pPr>
            <a:r>
              <a:rPr sz="950" b="0" i="0">
                <a:solidFill>
                  <a:srgbClr val="79828A"/>
                </a:solidFill>
                <a:latin typeface="Arial"/>
              </a:rPr>
              <a:t>искусственно внесённые дефекты, засев 15.09 — синтетика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Нижняя граница Уилсона 0,722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Второй прогон полноты — 1 из 8, Уилсон [0,022; 0,471]; расхождение с засевом открыто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CONTROL до инъекций: ноль находок, детерминизм pass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Зачёт по тройке: правило, GUID элемента, пункт нормы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5488" y="1188720"/>
            <a:ext cx="3526536" cy="3145536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95488" y="1188720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14944" y="1426464"/>
            <a:ext cx="3087624" cy="2761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6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ПОРОГ ПИЛОТА · ТОЧНОСТЬ</a:t>
            </a:r>
          </a:p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200"/>
              </a:spcAft>
            </a:pPr>
            <a:r>
              <a:rPr sz="3400" b="1" i="0">
                <a:solidFill>
                  <a:srgbClr val="FFFFFF"/>
                </a:solidFill>
                <a:latin typeface="Arial"/>
              </a:rPr>
              <a:t>0,60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900"/>
              </a:spcAft>
            </a:pPr>
            <a:r>
              <a:rPr sz="950" b="0" i="0">
                <a:solidFill>
                  <a:srgbClr val="79828A"/>
                </a:solidFill>
                <a:latin typeface="Arial"/>
              </a:rPr>
              <a:t>целевой порог, фиксируется до пилота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Метрика и правило приёмки подлежат однозначной фиксации до пилота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Планируемый размер выборки фиксируем до пилота (формулы — в заметках)</a:t>
            </a:r>
          </a:p>
          <a:p>
            <a:pPr marL="158750" indent="-158750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00" b="0" i="0">
                <a:solidFill>
                  <a:srgbClr val="D4DBE1"/>
                </a:solidFill>
                <a:latin typeface="Arial"/>
              </a:rPr>
              <a:t>При непрохождении критерия фиксируем результат; сужение области — отдельное решение и новая оценка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480560"/>
            <a:ext cx="11055096" cy="676656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04672" y="4608576"/>
            <a:ext cx="10579608" cy="49377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ЧТО ЭТИ ЧИСЛА НЕ ЗНАЧАТ · ГОВОРИМ САМИ, ДО ВОПРОСА</a:t>
            </a:r>
          </a:p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Замер времени единичный, SLA он не задаёт: прогон около 4,5 с на 3,3 КБ. 10 из 10 — чувствительность контура на искусственных дефектах, а не полнота продукта.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248656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На рабочем комплекте заказчика ни срок, ни полнота не измерены: это первые две недели пилота по плану.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309360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Источники: отчёт стенда по масштабу пакета (схема 1.4.0, блок scale_honesty; имена полей — в заметках); отчёт прогона засева (10/10, Уилсон 0,722, claim_level synthetic_only); замок речи 1.3.0.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ВОПРОСЫ · A15 · РАБОЧЕЕ МЕСТО ЭКСПЕРТА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9321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Что видит эксперт: находка, основания, решение, выгрузка BCF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A15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5096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" y="1425956"/>
            <a:ext cx="1073505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</a:pPr>
            <a:r>
              <a:rPr sz="900" b="1" i="0" spc="110" dirty="0">
                <a:solidFill>
                  <a:srgbClr val="E8823A"/>
                </a:solidFill>
                <a:latin typeface="Arial"/>
              </a:rPr>
              <a:t>КОРОТКИЙ ОТВЕТ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 dirty="0" err="1">
                <a:solidFill>
                  <a:srgbClr val="FFFFFF"/>
                </a:solidFill>
                <a:latin typeface="Arial"/>
              </a:rPr>
              <a:t>Замечание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—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не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строка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в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логе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: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трасса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до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источника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,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фильтр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по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норме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,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приоритет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,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выгрузка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BCF.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Статус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ставит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200" b="0" i="0" dirty="0" err="1">
                <a:solidFill>
                  <a:srgbClr val="FFFFFF"/>
                </a:solidFill>
                <a:latin typeface="Arial"/>
              </a:rPr>
              <a:t>эксперт</a:t>
            </a:r>
            <a:r>
              <a:rPr sz="1200" b="0" i="0" dirty="0">
                <a:solidFill>
                  <a:srgbClr val="FFFFFF"/>
                </a:solidFill>
                <a:latin typeface="Arial"/>
              </a:rPr>
              <a:t>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975104"/>
            <a:ext cx="3526536" cy="228600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928" y="1975104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6384" y="2212848"/>
            <a:ext cx="3087624" cy="1901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СПИСОК НАХОДОК И ФИЛЬТРЫ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Панель находок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Фильтр по пункту нормы: все или только пропущенные требования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Сортировка по приоритету разбора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Колонки рабочего места заданы кодом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31208" y="1975104"/>
            <a:ext cx="3526536" cy="228600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31208" y="1975104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50664" y="2212848"/>
            <a:ext cx="3087624" cy="1901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КАРТОЧКА ЗАМЕЧАНИЯ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Что внутри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Норма, элемент и GUID, история решений эксперта, кнопка отклонения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Шаги доказательства: от требования ТЗ до строки в модели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5488" y="1975104"/>
            <a:ext cx="3526536" cy="228600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95488" y="1975104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14944" y="2212848"/>
            <a:ext cx="3087624" cy="19019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ЧТО УХОДИТ ДАЛЬШЕ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Выгрузка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BCF 2.1 и 3.0 структурно; текст замечания двуязычный: [RU] и [EN]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Импорт в вашу СОД не подтверждён: выгрузка файла BCF — это ещё не обмен с СОД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425696"/>
            <a:ext cx="11055096" cy="713232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04672" y="4553712"/>
            <a:ext cx="10579608" cy="60655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ЧЕГО В ИНТЕРФЕЙСЕ ПОКА НЕТ · ГОВОРИМ ПРЯМО</a:t>
            </a:r>
          </a:p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Подсветки ошибки прямо на листе чертежа в интерфейсе нет: есть список, карточка, трасса и дымовой тест на фикстуре. Это приёмочное испытание первых двух недель пилота, а не готовая функция.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266944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Рабочее место собрано вокруг решения эксперта, а не вокруг числа находок.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272784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Источники: модули рабочего места во фронтенде, экспортёр BCF с двуязычным текстом замечания и тестом паритета локалей, разбор интерфейса эксперта.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ВОПРОСЫ · A16 · ДАННЫЕ, ЗАМЕНА, РЕСУРСЫ КОНТУРА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Хранение данных и ограничения ресурсов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A16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5096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" y="1362456"/>
            <a:ext cx="1073505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</a:pPr>
            <a:r>
              <a:rPr sz="900" b="1" i="0" spc="110">
                <a:solidFill>
                  <a:srgbClr val="E8823A"/>
                </a:solidFill>
                <a:latin typeface="Arial"/>
              </a:rPr>
              <a:t>КОРОТКИЙ ОТВЕТ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Данные остаются в вашем контуре: шесть поверхностей хранения выгружены в отчёт, лимиты заданы кодом.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975104"/>
            <a:ext cx="3526536" cy="2596896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928" y="1975104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6384" y="2212848"/>
            <a:ext cx="3087624" cy="22128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ГДЕ ЛЕЖАТ ДАННЫЕ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Шесть поверхностей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Отчёты, необязательная база, срок хранения, кэш разбора, память процесса, Redis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Фоновые задачи идут в процессе API, очередь воркеров не заявляем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Адреса и имена объектов в отчёты не попадают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31208" y="1975104"/>
            <a:ext cx="3526536" cy="2596896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31208" y="1975104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50664" y="2212848"/>
            <a:ext cx="3087624" cy="22128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ЧТО МЕНЯЕТСЯ ПОД ТРЕБОВАНИЕ ИБ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58 из 63 точек — живые адаптеры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Одна на памяти, четыре пустые: BCF API, валидатор bSI, ИИ-советчик, MEP-коллизии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Офлайн-установка: образ 913 330 688 байт ≈ 0,85 ГиБ (0,91 ГБ), lock-файлы, SBOM, инструкция — без данных заказчика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Прежняя запись размера образа в гигабайтах была ошибкой единиц — снята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5488" y="1975104"/>
            <a:ext cx="3526536" cy="2596896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95488" y="1975104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14944" y="2212848"/>
            <a:ext cx="3087624" cy="22128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РЕСУРСЫ КОНТУРА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Инженерные рамки, не смета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256 МиБ на модель, 8 × 256 МиБ ≈ 2 ГиБ — расчётная рамка, не измеренная память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Замер памяти на федеративном пакете пока не сделан — так и написано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Коммерческие условия и гипотеза подписки — A8+; здесь только инженерные рамки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700016"/>
            <a:ext cx="11055096" cy="566928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04672" y="4828031"/>
            <a:ext cx="10579608" cy="38404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ЧТО ОТДАЁМ СЛУЖБЕ ИБ ДО УСТАНОВКИ · ОДИН ЛИСТ</a:t>
            </a:r>
          </a:p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Инвентарь хранения, матрица замены, лимиты, SBOM офлайн-комплекта и правила выгрузки. Это инженерные рамки из кода, а не смета и не заключение по безопасности.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358383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Подготовленные материалы для службы ИБ лежат в репозитории файлами; управление доступом остаётся открытым пунктом — единый вход — заявлен, этап 2 пилота.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309360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Источники: инвентарь размещения данных; матрица замены (58 живых / 1 в памяти / 4 пустые); отчёт офлайн-комплекта. Заключения по 152-ФЗ у нас нет и мы его не заявляем.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ВОПРОСЫ · A17 · ГДЕ РАБОТАЕТ ИИ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Где именно работает ИИ и где ему запрещено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A17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5096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" y="1362456"/>
            <a:ext cx="1073505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</a:pPr>
            <a:r>
              <a:rPr sz="900" b="1" i="0" spc="110">
                <a:solidFill>
                  <a:srgbClr val="E8823A"/>
                </a:solidFill>
                <a:latin typeface="Arial"/>
              </a:rPr>
              <a:t>КОРОТКИЙ ОТВЕТ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ИИ читает текст требований и готовит формулировку. Вердикт считает детерминированный слой, статус ставит эксперт.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975104"/>
            <a:ext cx="3526536" cy="237744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928" y="1975104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6384" y="2212848"/>
            <a:ext cx="3087624" cy="19933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ЧТО ДЕЛАЕТ ИИ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Текст, не вердикт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Извлечение требований из ТЗ и записки, черновик формулировки замечания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Внешний ИИ-советчик по умолчанию выключен: в матрице замены это пустая точка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Бюджет ИИ-советчика в сроке комплекта — 2 минуты из 30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31208" y="1975104"/>
            <a:ext cx="3526536" cy="237744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31208" y="1975104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50664" y="2212848"/>
            <a:ext cx="3087624" cy="19933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ЧТО ДЕЛАЕТ ДЕТЕРМИНИРОВАННЫЙ СЛОЙ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Проверки и статус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IDS-валидация, геометрические коллизии, сверка ведомостей и разделов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Один и тот же вход даёт один и тот же результат — тест на детерминизм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Вердикт воспроизводится по пину прогона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5488" y="1975104"/>
            <a:ext cx="3526536" cy="237744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95488" y="1975104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14944" y="2212848"/>
            <a:ext cx="3087624" cy="19933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ЧЕГО ИИ НЕ ДЕЛАЕТ · ЗАПРЕТ В КОДЕ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ADR-001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ИИ не меняет итоговый статус проверки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ИИ не создаёт замечание без ссылки на норму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Сервисной учётной записи запрещено ставить статус комплекта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517136"/>
            <a:ext cx="11055096" cy="658368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04672" y="4645151"/>
            <a:ext cx="10579608" cy="4754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ПОЧЕМУ ЭТО НЕ ИИ РАДИ ИИ · ЧЕСТНАЯ РАМКА</a:t>
            </a:r>
          </a:p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Извлечение требований: macro F1 0,86 на фикстуре. Бенч AECV: 0,4325 на 585 полях. Порог пилота 0,60 при выборке 111 замечаний; метрику фиксируем до пилота.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321807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ИИ снимает ручную работу с текстом, а ответственность за вердикт остаётся у человека.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272784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Источники: ADR-001 и тесты детерминизма; матрица замены (внешний советчик — пустая точка); базовый отчёт прогона: macro F1 извлечения 0,86 на фикстуре; открытый бенч AECV 0,4325 при n = 585.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ВОПРОСЫ · A18 · УПРАВЛЯЕМОСТЬ И РИСКИ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Как устроена работа: ворота, ритм, открытые риски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A18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5096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" y="1362456"/>
            <a:ext cx="1073505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</a:pPr>
            <a:r>
              <a:rPr sz="900" b="1" i="0" spc="110">
                <a:solidFill>
                  <a:srgbClr val="E8823A"/>
                </a:solidFill>
                <a:latin typeface="Arial"/>
              </a:rPr>
              <a:t>КОРОТКИЙ ОТВЕТ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Контрольная точка — GO как регуляторно-измерительный MVP. Запрашиваем оплачиваемый пилот: первый контур — один корпус.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975104"/>
            <a:ext cx="3526536" cy="237744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928" y="1975104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6384" y="2212848"/>
            <a:ext cx="3087624" cy="19933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ВОРОТА И ДОКАЗАТЕЛЬСТВА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Пять ворот CI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Стиль, типы, тесты, фронтенд, сборка — все PASS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3 197 тестов из 3 217 прошли, 20 пропущены, падений нет — пин подписан CI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Перед пушем — свои ворота: скан NDA-паттернов и свежесть живых пинов 7 дней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31208" y="1975104"/>
            <a:ext cx="3526536" cy="237744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31208" y="1975104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50664" y="2212848"/>
            <a:ext cx="3087624" cy="19933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РИТМ ПОСТАВКИ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Недельный инженерный статус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Решения фиксируются как ADR, известные дефекты — списком в репозитории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Пины доказательств обновляются командой, а не правкой файла руками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Контрольная точка закрывается пакетом передачи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5488" y="1975104"/>
            <a:ext cx="3526536" cy="237744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95488" y="1975104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14944" y="2212848"/>
            <a:ext cx="3087624" cy="19933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ОТКРЫТЫЕ РИСКИ · НАЗЫВАЕМ САМИ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Три риска открыты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RT-001, RT-002, RT-003 — в репозитории с владельцем и сроком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Корпуса заказчика нет, профиль приёмки не подписан, MEP не измерен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Публичная доска задач ещё не открыта (план)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517136"/>
            <a:ext cx="11055096" cy="603504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04672" y="4645151"/>
            <a:ext cx="10579608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ЧТО ЭТО ДАЁТ ЗАКАЗЧИКУ · ОДИН ЛИСТ</a:t>
            </a:r>
          </a:p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Перед пушем 15.09 мы сняли четыре формулировки сильнее доказанного: пути машины в пине, инвентарный масштаб, sla_pass как SLA, 10 из 10 как полноту. A20.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266944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Управляемость видна в файлах: ворота, пины, ADR и явный список того, чего мы не заявляем.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272784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Источники: weekly-eng-status-latest.json (checkpoint GO, RT-001/002/003 открыты); CI-пин с пятью воротами PASS; pre_push_gate.py, check_live_evidence_freshness.py, scan_nda_gate_patterns.py.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ВОПРОСЫ · A19 · СВОИМИ СИЛАМИ ИЛИ ГОТОВОЕ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Что входит в объём самостоятельной разработки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A19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5096" cy="566928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566928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" y="1362456"/>
            <a:ext cx="10735056" cy="56692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</a:pPr>
            <a:r>
              <a:rPr sz="900" b="1" i="0" spc="110">
                <a:solidFill>
                  <a:srgbClr val="E8823A"/>
                </a:solidFill>
                <a:latin typeface="Arial"/>
              </a:rPr>
              <a:t>КОРОТКИЙ ОТВЕТ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Дорого не проверить один файл, а собрать шов комплекта, доказательства и правила речи о точности.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975104"/>
            <a:ext cx="3526536" cy="237744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928" y="1975104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6384" y="2212848"/>
            <a:ext cx="3087624" cy="19933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ЧТО ПРИДЁТСЯ СОБРАТЬ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Не одна проверка, а контур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48 протоколов, 76 адаптеров, 63 точки замены — каркас, а не набор скриптов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Компиляция требований ТЗ в IDS, трасса до нормы, выгрузка BCF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История решений эксперта и книга замечаний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331208" y="1975104"/>
            <a:ext cx="3526536" cy="237744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31208" y="1975104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50664" y="2212848"/>
            <a:ext cx="3087624" cy="19933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ЧТО ОБЫЧНО НЕДООЦЕНИВАЮТ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Доказательства и ворота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Пины прогонов, тесты на честность формулировок, свежесть данных, скан NDA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Офлайн-установка: образ, lock-файлы, SBOM и инструкция — отдельная работа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Правила речи о цифрах: корпус, выборка, интервал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5488" y="1975104"/>
            <a:ext cx="3526536" cy="2377440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95488" y="1975104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14944" y="2212848"/>
            <a:ext cx="3087624" cy="19933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ЧТО ОСТАЁТСЯ У ВАС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Код по MIT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Свой код под MIT: можно продолжить самим, без привязки к нам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Профиль приёмки — это данные IDS, а не форк ядра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Воспроизводимость проверяется независимо по пину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4517136"/>
            <a:ext cx="11055096" cy="603504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TextBox 20"/>
          <p:cNvSpPr txBox="1"/>
          <p:nvPr/>
        </p:nvSpPr>
        <p:spPr>
          <a:xfrm>
            <a:off x="804672" y="4645151"/>
            <a:ext cx="10579608" cy="42062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ЧЕСТНО О ГРАНИЦЕ · ЧЕГО МЫ НЕ ДАЁМ</a:t>
            </a:r>
          </a:p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Мы даём измеримый контур и правила, по которым каждую цифру можно проверить.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248655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Оценка команды: собрать это своими силами возможно, но объём работ выходит за рамки двух месяцев — это наша оценка, а не измерение.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566928" y="6272784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Источники: architecture_inventory — 48 протоколов, 76 адаптеров, 63 DI-токена; offline-bundle-trial-latest.json; лицензии: свой код MIT, IfcOpenShell и IfcTester — LGPL за интерфейсом.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АНАЛОГИ · A21 · ШЕСТЬ СЕГМЕНТОВ РЫНКА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Карта рассмотренных решений: шесть категорий и наш фокус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A21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170432"/>
            <a:ext cx="3526536" cy="2212848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70432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6384" y="1408176"/>
            <a:ext cx="3087624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1 · ЧЕКЕРЫ МОДЕЛИ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Геометрия и свойства модели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Solibri, Navisworks, BIMcollab Zoom, Verifi3D, Simplebim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Проверяют модель по наборам правил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Текст комплекта ПД и РД в проверку не входит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1208" y="1170432"/>
            <a:ext cx="3526536" cy="2212848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31208" y="1170432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50664" y="1408176"/>
            <a:ext cx="3087624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2 · КООРДИНАЦИЯ И BCF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Маршрут замечания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Revizto, BIMcollab Nexus, Dalux Box, Speckle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Закрывают маршрут: кто, кому, к какому сроку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Само замечание формулирует человек, а не система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5488" y="1170432"/>
            <a:ext cx="3526536" cy="2212848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95488" y="1170432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14944" y="1408176"/>
            <a:ext cx="3087624" cy="18288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3 · ПРОВЕРКА НОРМ · SOTA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Государственный шлюз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CORENET X и Model Checker Сингапура, UpCodes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Одна подача на семь агентств, 20 рабочих дней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Проверки не заменяют решение аттестованного специалиста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3566160"/>
            <a:ext cx="3526536" cy="1883664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566928" y="3566160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786384" y="3803904"/>
            <a:ext cx="3087624" cy="14996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4 · СОД И ПЛАТФОРМЫ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Наличие и маршрут документов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Exon, Pilot-BIM, Vitro-CAD, SAREX, 10D СОД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Непротиворечивость содержания между моделью и текстом не проверяют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4331208" y="3566160"/>
            <a:ext cx="3526536" cy="1883664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331208" y="3566160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2" name="TextBox 21"/>
          <p:cNvSpPr txBox="1"/>
          <p:nvPr/>
        </p:nvSpPr>
        <p:spPr>
          <a:xfrm>
            <a:off x="4550664" y="3803904"/>
            <a:ext cx="3087624" cy="14996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5 · РФ-НОРМОКОНТРОЛЬ И ЭКСПЕРТИЗА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Форма и состав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«Цифровой нормоконтроль» Москвы, ЦИМ АГР, XML-схемы, Tangl control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Смысловые расхождения между ведомостью и моделью остаются человеку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95488" y="3566160"/>
            <a:ext cx="3526536" cy="1883664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4" name="Rectangle 23"/>
          <p:cNvSpPr/>
          <p:nvPr/>
        </p:nvSpPr>
        <p:spPr>
          <a:xfrm>
            <a:off x="8095488" y="3566160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5" name="TextBox 24"/>
          <p:cNvSpPr txBox="1"/>
          <p:nvPr/>
        </p:nvSpPr>
        <p:spPr>
          <a:xfrm>
            <a:off x="8314944" y="3803904"/>
            <a:ext cx="3087624" cy="149961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6 · AI-ВОЛНА И ОТКРЫТЫЕ ИНСТРУМЕНТЫ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Компоненты, не приёмка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IfcTester и IfcOpenShell, IDS-Audit-tool, Bonsai, Hexagon с Avvir, Augmenta, Hypar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Отчёта по российскому комплекту ПД и РД в представленном обзоре мы не нашли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566928" y="5687568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Категории пересекаются; в рассмотренном обзоре наш фокус — сверка фактов между файлами комплекта.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309360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Точки обзора на 16.09.2026, атрибуции исходной версии: solibri.com, revizto.com, bimcollab.com, dalux.com, validate.buildingsmart.org, ifcopenshell.org, speckle.systems, tangl.cloud.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АНАЛОГИ · A22 · СРАВНИТЕЛЬНАЯ МАТРИЦА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Arial"/>
              </a:rPr>
              <a:t>Четырнадцать решений по шести признакам и зрелости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A22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335024"/>
            <a:ext cx="2359152" cy="348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80">
                <a:solidFill>
                  <a:srgbClr val="79828A"/>
                </a:solidFill>
                <a:latin typeface="Arial"/>
              </a:rPr>
              <a:t>РЕШЕНИЕ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3054096" y="1335024"/>
            <a:ext cx="932688" cy="348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80">
                <a:solidFill>
                  <a:srgbClr val="79828A"/>
                </a:solidFill>
                <a:latin typeface="Arial"/>
              </a:rPr>
              <a:t>КОМПЛЕКТ ПД/РД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114800" y="1335024"/>
            <a:ext cx="1133855" cy="348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80">
                <a:solidFill>
                  <a:srgbClr val="79828A"/>
                </a:solidFill>
                <a:latin typeface="Arial"/>
              </a:rPr>
              <a:t>ДЕТЕРМИНИЗМ И ПИН ПРОГОНА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376672" y="1335024"/>
            <a:ext cx="804672" cy="348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80">
                <a:solidFill>
                  <a:srgbClr val="79828A"/>
                </a:solidFill>
                <a:latin typeface="Arial"/>
              </a:rPr>
              <a:t>РФ-НОРМЫ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309360" y="1335024"/>
            <a:ext cx="914399" cy="348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80">
                <a:solidFill>
                  <a:srgbClr val="79828A"/>
                </a:solidFill>
                <a:latin typeface="Arial"/>
              </a:rPr>
              <a:t>ОТКРЫТОСТЬ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351776" y="1335024"/>
            <a:ext cx="914399" cy="348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80">
                <a:solidFill>
                  <a:srgbClr val="79828A"/>
                </a:solidFill>
                <a:latin typeface="Arial"/>
              </a:rPr>
              <a:t>ОБМЕН С СОД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394192" y="1335024"/>
            <a:ext cx="1078992" cy="348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80">
                <a:solidFill>
                  <a:srgbClr val="79828A"/>
                </a:solidFill>
                <a:latin typeface="Arial"/>
              </a:rPr>
              <a:t>ЧТЕНИЕ RVT / NWD / DWG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9601200" y="1335024"/>
            <a:ext cx="1042416" cy="34899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750" b="1" i="0" spc="80">
                <a:solidFill>
                  <a:srgbClr val="79828A"/>
                </a:solidFill>
                <a:latin typeface="Arial"/>
              </a:rPr>
              <a:t>ЗРЕЛОСТЬ И ВНЕДРЕНИЯ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1684020"/>
            <a:ext cx="10204704" cy="10972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7" name="Rectangle 16"/>
          <p:cNvSpPr/>
          <p:nvPr/>
        </p:nvSpPr>
        <p:spPr>
          <a:xfrm>
            <a:off x="475488" y="1711452"/>
            <a:ext cx="10387584" cy="201295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566928" y="1738884"/>
            <a:ext cx="235915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D4DBE1"/>
                </a:solidFill>
                <a:latin typeface="Arial"/>
              </a:rPr>
              <a:t>Solibri Office и Site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054096" y="1738884"/>
            <a:ext cx="932688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114800" y="1738884"/>
            <a:ext cx="1133855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376672" y="1738884"/>
            <a:ext cx="80467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6309360" y="1738884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351776" y="1738884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94192" y="1738884"/>
            <a:ext cx="107899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9601200" y="1738884"/>
            <a:ext cx="1042416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+</a:t>
            </a:r>
          </a:p>
        </p:txBody>
      </p:sp>
      <p:sp>
        <p:nvSpPr>
          <p:cNvPr id="26" name="Rectangle 25"/>
          <p:cNvSpPr/>
          <p:nvPr/>
        </p:nvSpPr>
        <p:spPr>
          <a:xfrm>
            <a:off x="566928" y="1899031"/>
            <a:ext cx="10204704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66928" y="1940179"/>
            <a:ext cx="235915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D4DBE1"/>
                </a:solidFill>
                <a:latin typeface="Arial"/>
              </a:rPr>
              <a:t>Autodesk Navisworks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3054096" y="1940179"/>
            <a:ext cx="932688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114800" y="1940179"/>
            <a:ext cx="1133855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376672" y="1940179"/>
            <a:ext cx="80467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8705F"/>
                </a:solidFill>
                <a:latin typeface="Arial"/>
              </a:rPr>
              <a:t>×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6309360" y="1940179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351776" y="1940179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33" name="TextBox 32"/>
          <p:cNvSpPr txBox="1"/>
          <p:nvPr/>
        </p:nvSpPr>
        <p:spPr>
          <a:xfrm>
            <a:off x="8394192" y="1940179"/>
            <a:ext cx="107899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+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9601200" y="1940179"/>
            <a:ext cx="1042416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+</a:t>
            </a:r>
          </a:p>
        </p:txBody>
      </p:sp>
      <p:sp>
        <p:nvSpPr>
          <p:cNvPr id="35" name="Rectangle 34"/>
          <p:cNvSpPr/>
          <p:nvPr/>
        </p:nvSpPr>
        <p:spPr>
          <a:xfrm>
            <a:off x="566928" y="2100326"/>
            <a:ext cx="10204704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6" name="Rectangle 35"/>
          <p:cNvSpPr/>
          <p:nvPr/>
        </p:nvSpPr>
        <p:spPr>
          <a:xfrm>
            <a:off x="475488" y="2114042"/>
            <a:ext cx="10387584" cy="201295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7" name="TextBox 36"/>
          <p:cNvSpPr txBox="1"/>
          <p:nvPr/>
        </p:nvSpPr>
        <p:spPr>
          <a:xfrm>
            <a:off x="566928" y="2141474"/>
            <a:ext cx="235915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D4DBE1"/>
                </a:solidFill>
                <a:latin typeface="Arial"/>
              </a:rPr>
              <a:t>Revizto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3054096" y="2141474"/>
            <a:ext cx="932688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39" name="TextBox 38"/>
          <p:cNvSpPr txBox="1"/>
          <p:nvPr/>
        </p:nvSpPr>
        <p:spPr>
          <a:xfrm>
            <a:off x="4114800" y="2141474"/>
            <a:ext cx="1133855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40" name="TextBox 39"/>
          <p:cNvSpPr txBox="1"/>
          <p:nvPr/>
        </p:nvSpPr>
        <p:spPr>
          <a:xfrm>
            <a:off x="5376672" y="2141474"/>
            <a:ext cx="80467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6309360" y="2141474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7351776" y="2141474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+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8394192" y="2141474"/>
            <a:ext cx="107899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9601200" y="2141474"/>
            <a:ext cx="1042416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+</a:t>
            </a:r>
          </a:p>
        </p:txBody>
      </p:sp>
      <p:sp>
        <p:nvSpPr>
          <p:cNvPr id="45" name="Rectangle 44"/>
          <p:cNvSpPr/>
          <p:nvPr/>
        </p:nvSpPr>
        <p:spPr>
          <a:xfrm>
            <a:off x="566928" y="2301621"/>
            <a:ext cx="10204704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566928" y="2342769"/>
            <a:ext cx="235915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D4DBE1"/>
                </a:solidFill>
                <a:latin typeface="Arial"/>
              </a:rPr>
              <a:t>BIMcollab Zoom и Nexus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3054096" y="2342769"/>
            <a:ext cx="932688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4114800" y="2342769"/>
            <a:ext cx="1133855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5376672" y="2342769"/>
            <a:ext cx="80467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50" name="TextBox 49"/>
          <p:cNvSpPr txBox="1"/>
          <p:nvPr/>
        </p:nvSpPr>
        <p:spPr>
          <a:xfrm>
            <a:off x="6309360" y="2342769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51" name="TextBox 50"/>
          <p:cNvSpPr txBox="1"/>
          <p:nvPr/>
        </p:nvSpPr>
        <p:spPr>
          <a:xfrm>
            <a:off x="7351776" y="2342769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+</a:t>
            </a:r>
          </a:p>
        </p:txBody>
      </p:sp>
      <p:sp>
        <p:nvSpPr>
          <p:cNvPr id="52" name="TextBox 51"/>
          <p:cNvSpPr txBox="1"/>
          <p:nvPr/>
        </p:nvSpPr>
        <p:spPr>
          <a:xfrm>
            <a:off x="8394192" y="2342769"/>
            <a:ext cx="107899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9601200" y="2342769"/>
            <a:ext cx="1042416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+</a:t>
            </a:r>
          </a:p>
        </p:txBody>
      </p:sp>
      <p:sp>
        <p:nvSpPr>
          <p:cNvPr id="54" name="Rectangle 53"/>
          <p:cNvSpPr/>
          <p:nvPr/>
        </p:nvSpPr>
        <p:spPr>
          <a:xfrm>
            <a:off x="566928" y="2502916"/>
            <a:ext cx="10204704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5" name="Rectangle 54"/>
          <p:cNvSpPr/>
          <p:nvPr/>
        </p:nvSpPr>
        <p:spPr>
          <a:xfrm>
            <a:off x="475488" y="2516632"/>
            <a:ext cx="10387584" cy="201295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566928" y="2544064"/>
            <a:ext cx="235915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D4DBE1"/>
                </a:solidFill>
                <a:latin typeface="Arial"/>
              </a:rPr>
              <a:t>Dalux Box</a:t>
            </a:r>
          </a:p>
        </p:txBody>
      </p:sp>
      <p:sp>
        <p:nvSpPr>
          <p:cNvPr id="57" name="TextBox 56"/>
          <p:cNvSpPr txBox="1"/>
          <p:nvPr/>
        </p:nvSpPr>
        <p:spPr>
          <a:xfrm>
            <a:off x="3054096" y="2544064"/>
            <a:ext cx="932688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58" name="TextBox 57"/>
          <p:cNvSpPr txBox="1"/>
          <p:nvPr/>
        </p:nvSpPr>
        <p:spPr>
          <a:xfrm>
            <a:off x="4114800" y="2544064"/>
            <a:ext cx="1133855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5376672" y="2544064"/>
            <a:ext cx="80467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6309360" y="2544064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61" name="TextBox 60"/>
          <p:cNvSpPr txBox="1"/>
          <p:nvPr/>
        </p:nvSpPr>
        <p:spPr>
          <a:xfrm>
            <a:off x="7351776" y="2544064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+</a:t>
            </a:r>
          </a:p>
        </p:txBody>
      </p:sp>
      <p:sp>
        <p:nvSpPr>
          <p:cNvPr id="62" name="TextBox 61"/>
          <p:cNvSpPr txBox="1"/>
          <p:nvPr/>
        </p:nvSpPr>
        <p:spPr>
          <a:xfrm>
            <a:off x="8394192" y="2544064"/>
            <a:ext cx="107899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63" name="TextBox 62"/>
          <p:cNvSpPr txBox="1"/>
          <p:nvPr/>
        </p:nvSpPr>
        <p:spPr>
          <a:xfrm>
            <a:off x="9601200" y="2544064"/>
            <a:ext cx="1042416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+</a:t>
            </a:r>
          </a:p>
        </p:txBody>
      </p:sp>
      <p:sp>
        <p:nvSpPr>
          <p:cNvPr id="64" name="Rectangle 63"/>
          <p:cNvSpPr/>
          <p:nvPr/>
        </p:nvSpPr>
        <p:spPr>
          <a:xfrm>
            <a:off x="566928" y="2704211"/>
            <a:ext cx="10204704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65" name="TextBox 64"/>
          <p:cNvSpPr txBox="1"/>
          <p:nvPr/>
        </p:nvSpPr>
        <p:spPr>
          <a:xfrm>
            <a:off x="566928" y="2745359"/>
            <a:ext cx="235915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D4DBE1"/>
                </a:solidFill>
                <a:latin typeface="Arial"/>
              </a:rPr>
              <a:t>bSI Validation Service</a:t>
            </a:r>
          </a:p>
        </p:txBody>
      </p:sp>
      <p:sp>
        <p:nvSpPr>
          <p:cNvPr id="66" name="TextBox 65"/>
          <p:cNvSpPr txBox="1"/>
          <p:nvPr/>
        </p:nvSpPr>
        <p:spPr>
          <a:xfrm>
            <a:off x="3054096" y="2745359"/>
            <a:ext cx="932688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67" name="TextBox 66"/>
          <p:cNvSpPr txBox="1"/>
          <p:nvPr/>
        </p:nvSpPr>
        <p:spPr>
          <a:xfrm>
            <a:off x="4114800" y="2745359"/>
            <a:ext cx="1133855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68" name="TextBox 67"/>
          <p:cNvSpPr txBox="1"/>
          <p:nvPr/>
        </p:nvSpPr>
        <p:spPr>
          <a:xfrm>
            <a:off x="5376672" y="2745359"/>
            <a:ext cx="80467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69" name="TextBox 68"/>
          <p:cNvSpPr txBox="1"/>
          <p:nvPr/>
        </p:nvSpPr>
        <p:spPr>
          <a:xfrm>
            <a:off x="6309360" y="2745359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+</a:t>
            </a:r>
          </a:p>
        </p:txBody>
      </p:sp>
      <p:sp>
        <p:nvSpPr>
          <p:cNvPr id="70" name="TextBox 69"/>
          <p:cNvSpPr txBox="1"/>
          <p:nvPr/>
        </p:nvSpPr>
        <p:spPr>
          <a:xfrm>
            <a:off x="7351776" y="2745359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71" name="TextBox 70"/>
          <p:cNvSpPr txBox="1"/>
          <p:nvPr/>
        </p:nvSpPr>
        <p:spPr>
          <a:xfrm>
            <a:off x="8394192" y="2745359"/>
            <a:ext cx="107899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72" name="TextBox 71"/>
          <p:cNvSpPr txBox="1"/>
          <p:nvPr/>
        </p:nvSpPr>
        <p:spPr>
          <a:xfrm>
            <a:off x="9601200" y="2745359"/>
            <a:ext cx="1042416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73" name="Rectangle 72"/>
          <p:cNvSpPr/>
          <p:nvPr/>
        </p:nvSpPr>
        <p:spPr>
          <a:xfrm>
            <a:off x="566928" y="2905506"/>
            <a:ext cx="10204704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4" name="Rectangle 73"/>
          <p:cNvSpPr/>
          <p:nvPr/>
        </p:nvSpPr>
        <p:spPr>
          <a:xfrm>
            <a:off x="475488" y="2919222"/>
            <a:ext cx="10387584" cy="201295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75" name="TextBox 74"/>
          <p:cNvSpPr txBox="1"/>
          <p:nvPr/>
        </p:nvSpPr>
        <p:spPr>
          <a:xfrm>
            <a:off x="566928" y="2946654"/>
            <a:ext cx="235915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D4DBE1"/>
                </a:solidFill>
                <a:latin typeface="Arial"/>
              </a:rPr>
              <a:t>IfcTester (IfcOpenShell)</a:t>
            </a:r>
          </a:p>
        </p:txBody>
      </p:sp>
      <p:sp>
        <p:nvSpPr>
          <p:cNvPr id="76" name="TextBox 75"/>
          <p:cNvSpPr txBox="1"/>
          <p:nvPr/>
        </p:nvSpPr>
        <p:spPr>
          <a:xfrm>
            <a:off x="3054096" y="2946654"/>
            <a:ext cx="932688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77" name="TextBox 76"/>
          <p:cNvSpPr txBox="1"/>
          <p:nvPr/>
        </p:nvSpPr>
        <p:spPr>
          <a:xfrm>
            <a:off x="4114800" y="2946654"/>
            <a:ext cx="1133855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78" name="TextBox 77"/>
          <p:cNvSpPr txBox="1"/>
          <p:nvPr/>
        </p:nvSpPr>
        <p:spPr>
          <a:xfrm>
            <a:off x="5376672" y="2946654"/>
            <a:ext cx="80467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79" name="TextBox 78"/>
          <p:cNvSpPr txBox="1"/>
          <p:nvPr/>
        </p:nvSpPr>
        <p:spPr>
          <a:xfrm>
            <a:off x="6309360" y="2946654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+</a:t>
            </a:r>
          </a:p>
        </p:txBody>
      </p:sp>
      <p:sp>
        <p:nvSpPr>
          <p:cNvPr id="80" name="TextBox 79"/>
          <p:cNvSpPr txBox="1"/>
          <p:nvPr/>
        </p:nvSpPr>
        <p:spPr>
          <a:xfrm>
            <a:off x="7351776" y="2946654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81" name="TextBox 80"/>
          <p:cNvSpPr txBox="1"/>
          <p:nvPr/>
        </p:nvSpPr>
        <p:spPr>
          <a:xfrm>
            <a:off x="8394192" y="2946654"/>
            <a:ext cx="107899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82" name="TextBox 81"/>
          <p:cNvSpPr txBox="1"/>
          <p:nvPr/>
        </p:nvSpPr>
        <p:spPr>
          <a:xfrm>
            <a:off x="9601200" y="2946654"/>
            <a:ext cx="1042416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83" name="Rectangle 82"/>
          <p:cNvSpPr/>
          <p:nvPr/>
        </p:nvSpPr>
        <p:spPr>
          <a:xfrm>
            <a:off x="566928" y="3106801"/>
            <a:ext cx="10204704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84" name="TextBox 83"/>
          <p:cNvSpPr txBox="1"/>
          <p:nvPr/>
        </p:nvSpPr>
        <p:spPr>
          <a:xfrm>
            <a:off x="566928" y="3147949"/>
            <a:ext cx="235915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D4DBE1"/>
                </a:solidFill>
                <a:latin typeface="Arial"/>
              </a:rPr>
              <a:t>Speckle Automate</a:t>
            </a:r>
          </a:p>
        </p:txBody>
      </p:sp>
      <p:sp>
        <p:nvSpPr>
          <p:cNvPr id="85" name="TextBox 84"/>
          <p:cNvSpPr txBox="1"/>
          <p:nvPr/>
        </p:nvSpPr>
        <p:spPr>
          <a:xfrm>
            <a:off x="3054096" y="3147949"/>
            <a:ext cx="932688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86" name="TextBox 85"/>
          <p:cNvSpPr txBox="1"/>
          <p:nvPr/>
        </p:nvSpPr>
        <p:spPr>
          <a:xfrm>
            <a:off x="4114800" y="3147949"/>
            <a:ext cx="1133855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87" name="TextBox 86"/>
          <p:cNvSpPr txBox="1"/>
          <p:nvPr/>
        </p:nvSpPr>
        <p:spPr>
          <a:xfrm>
            <a:off x="5376672" y="3147949"/>
            <a:ext cx="80467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88" name="TextBox 87"/>
          <p:cNvSpPr txBox="1"/>
          <p:nvPr/>
        </p:nvSpPr>
        <p:spPr>
          <a:xfrm>
            <a:off x="6309360" y="3147949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+</a:t>
            </a:r>
          </a:p>
        </p:txBody>
      </p:sp>
      <p:sp>
        <p:nvSpPr>
          <p:cNvPr id="89" name="TextBox 88"/>
          <p:cNvSpPr txBox="1"/>
          <p:nvPr/>
        </p:nvSpPr>
        <p:spPr>
          <a:xfrm>
            <a:off x="7351776" y="3147949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90" name="TextBox 89"/>
          <p:cNvSpPr txBox="1"/>
          <p:nvPr/>
        </p:nvSpPr>
        <p:spPr>
          <a:xfrm>
            <a:off x="8394192" y="3147949"/>
            <a:ext cx="107899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91" name="TextBox 90"/>
          <p:cNvSpPr txBox="1"/>
          <p:nvPr/>
        </p:nvSpPr>
        <p:spPr>
          <a:xfrm>
            <a:off x="9601200" y="3147949"/>
            <a:ext cx="1042416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92" name="Rectangle 91"/>
          <p:cNvSpPr/>
          <p:nvPr/>
        </p:nvSpPr>
        <p:spPr>
          <a:xfrm>
            <a:off x="566928" y="3308096"/>
            <a:ext cx="10204704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3" name="Rectangle 92"/>
          <p:cNvSpPr/>
          <p:nvPr/>
        </p:nvSpPr>
        <p:spPr>
          <a:xfrm>
            <a:off x="475488" y="3321812"/>
            <a:ext cx="10387584" cy="201295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4" name="TextBox 93"/>
          <p:cNvSpPr txBox="1"/>
          <p:nvPr/>
        </p:nvSpPr>
        <p:spPr>
          <a:xfrm>
            <a:off x="566928" y="3349244"/>
            <a:ext cx="235915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D4DBE1"/>
                </a:solidFill>
                <a:latin typeface="Arial"/>
              </a:rPr>
              <a:t>CORENET X и Model Checker</a:t>
            </a:r>
          </a:p>
        </p:txBody>
      </p:sp>
      <p:sp>
        <p:nvSpPr>
          <p:cNvPr id="95" name="TextBox 94"/>
          <p:cNvSpPr txBox="1"/>
          <p:nvPr/>
        </p:nvSpPr>
        <p:spPr>
          <a:xfrm>
            <a:off x="3054096" y="3349244"/>
            <a:ext cx="932688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96" name="TextBox 95"/>
          <p:cNvSpPr txBox="1"/>
          <p:nvPr/>
        </p:nvSpPr>
        <p:spPr>
          <a:xfrm>
            <a:off x="4114800" y="3349244"/>
            <a:ext cx="1133855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+</a:t>
            </a:r>
          </a:p>
        </p:txBody>
      </p:sp>
      <p:sp>
        <p:nvSpPr>
          <p:cNvPr id="97" name="TextBox 96"/>
          <p:cNvSpPr txBox="1"/>
          <p:nvPr/>
        </p:nvSpPr>
        <p:spPr>
          <a:xfrm>
            <a:off x="5376672" y="3349244"/>
            <a:ext cx="80467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8705F"/>
                </a:solidFill>
                <a:latin typeface="Arial"/>
              </a:rPr>
              <a:t>×</a:t>
            </a:r>
          </a:p>
        </p:txBody>
      </p:sp>
      <p:sp>
        <p:nvSpPr>
          <p:cNvPr id="98" name="TextBox 97"/>
          <p:cNvSpPr txBox="1"/>
          <p:nvPr/>
        </p:nvSpPr>
        <p:spPr>
          <a:xfrm>
            <a:off x="6309360" y="3349244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99" name="TextBox 98"/>
          <p:cNvSpPr txBox="1"/>
          <p:nvPr/>
        </p:nvSpPr>
        <p:spPr>
          <a:xfrm>
            <a:off x="7351776" y="3349244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100" name="TextBox 99"/>
          <p:cNvSpPr txBox="1"/>
          <p:nvPr/>
        </p:nvSpPr>
        <p:spPr>
          <a:xfrm>
            <a:off x="8394192" y="3349244"/>
            <a:ext cx="107899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101" name="TextBox 100"/>
          <p:cNvSpPr txBox="1"/>
          <p:nvPr/>
        </p:nvSpPr>
        <p:spPr>
          <a:xfrm>
            <a:off x="9601200" y="3349244"/>
            <a:ext cx="1042416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+</a:t>
            </a:r>
          </a:p>
        </p:txBody>
      </p:sp>
      <p:sp>
        <p:nvSpPr>
          <p:cNvPr id="102" name="Rectangle 101"/>
          <p:cNvSpPr/>
          <p:nvPr/>
        </p:nvSpPr>
        <p:spPr>
          <a:xfrm>
            <a:off x="566928" y="3509391"/>
            <a:ext cx="10204704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3" name="TextBox 102"/>
          <p:cNvSpPr txBox="1"/>
          <p:nvPr/>
        </p:nvSpPr>
        <p:spPr>
          <a:xfrm>
            <a:off x="566928" y="3550539"/>
            <a:ext cx="235915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D4DBE1"/>
                </a:solidFill>
                <a:latin typeface="Arial"/>
              </a:rPr>
              <a:t>UpCodes</a:t>
            </a:r>
          </a:p>
        </p:txBody>
      </p:sp>
      <p:sp>
        <p:nvSpPr>
          <p:cNvPr id="104" name="TextBox 103"/>
          <p:cNvSpPr txBox="1"/>
          <p:nvPr/>
        </p:nvSpPr>
        <p:spPr>
          <a:xfrm>
            <a:off x="3054096" y="3550539"/>
            <a:ext cx="932688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105" name="TextBox 104"/>
          <p:cNvSpPr txBox="1"/>
          <p:nvPr/>
        </p:nvSpPr>
        <p:spPr>
          <a:xfrm>
            <a:off x="4114800" y="3550539"/>
            <a:ext cx="1133855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106" name="TextBox 105"/>
          <p:cNvSpPr txBox="1"/>
          <p:nvPr/>
        </p:nvSpPr>
        <p:spPr>
          <a:xfrm>
            <a:off x="5376672" y="3550539"/>
            <a:ext cx="80467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8705F"/>
                </a:solidFill>
                <a:latin typeface="Arial"/>
              </a:rPr>
              <a:t>×</a:t>
            </a:r>
          </a:p>
        </p:txBody>
      </p:sp>
      <p:sp>
        <p:nvSpPr>
          <p:cNvPr id="107" name="TextBox 106"/>
          <p:cNvSpPr txBox="1"/>
          <p:nvPr/>
        </p:nvSpPr>
        <p:spPr>
          <a:xfrm>
            <a:off x="6309360" y="3550539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108" name="TextBox 107"/>
          <p:cNvSpPr txBox="1"/>
          <p:nvPr/>
        </p:nvSpPr>
        <p:spPr>
          <a:xfrm>
            <a:off x="7351776" y="3550539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109" name="TextBox 108"/>
          <p:cNvSpPr txBox="1"/>
          <p:nvPr/>
        </p:nvSpPr>
        <p:spPr>
          <a:xfrm>
            <a:off x="8394192" y="3550539"/>
            <a:ext cx="107899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110" name="TextBox 109"/>
          <p:cNvSpPr txBox="1"/>
          <p:nvPr/>
        </p:nvSpPr>
        <p:spPr>
          <a:xfrm>
            <a:off x="9601200" y="3550539"/>
            <a:ext cx="1042416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+</a:t>
            </a:r>
          </a:p>
        </p:txBody>
      </p:sp>
      <p:sp>
        <p:nvSpPr>
          <p:cNvPr id="111" name="Rectangle 110"/>
          <p:cNvSpPr/>
          <p:nvPr/>
        </p:nvSpPr>
        <p:spPr>
          <a:xfrm>
            <a:off x="566928" y="3710686"/>
            <a:ext cx="10204704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2" name="Rectangle 111"/>
          <p:cNvSpPr/>
          <p:nvPr/>
        </p:nvSpPr>
        <p:spPr>
          <a:xfrm>
            <a:off x="475488" y="3724402"/>
            <a:ext cx="10387584" cy="201295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13" name="TextBox 112"/>
          <p:cNvSpPr txBox="1"/>
          <p:nvPr/>
        </p:nvSpPr>
        <p:spPr>
          <a:xfrm>
            <a:off x="566928" y="3751834"/>
            <a:ext cx="235915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D4DBE1"/>
                </a:solidFill>
                <a:latin typeface="Arial"/>
              </a:rPr>
              <a:t>Tangl control</a:t>
            </a:r>
          </a:p>
        </p:txBody>
      </p:sp>
      <p:sp>
        <p:nvSpPr>
          <p:cNvPr id="114" name="TextBox 113"/>
          <p:cNvSpPr txBox="1"/>
          <p:nvPr/>
        </p:nvSpPr>
        <p:spPr>
          <a:xfrm>
            <a:off x="3054096" y="3751834"/>
            <a:ext cx="932688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115" name="TextBox 114"/>
          <p:cNvSpPr txBox="1"/>
          <p:nvPr/>
        </p:nvSpPr>
        <p:spPr>
          <a:xfrm>
            <a:off x="4114800" y="3751834"/>
            <a:ext cx="1133855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116" name="TextBox 115"/>
          <p:cNvSpPr txBox="1"/>
          <p:nvPr/>
        </p:nvSpPr>
        <p:spPr>
          <a:xfrm>
            <a:off x="5376672" y="3751834"/>
            <a:ext cx="80467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+</a:t>
            </a:r>
          </a:p>
        </p:txBody>
      </p:sp>
      <p:sp>
        <p:nvSpPr>
          <p:cNvPr id="117" name="TextBox 116"/>
          <p:cNvSpPr txBox="1"/>
          <p:nvPr/>
        </p:nvSpPr>
        <p:spPr>
          <a:xfrm>
            <a:off x="6309360" y="3751834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118" name="TextBox 117"/>
          <p:cNvSpPr txBox="1"/>
          <p:nvPr/>
        </p:nvSpPr>
        <p:spPr>
          <a:xfrm>
            <a:off x="7351776" y="3751834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119" name="TextBox 118"/>
          <p:cNvSpPr txBox="1"/>
          <p:nvPr/>
        </p:nvSpPr>
        <p:spPr>
          <a:xfrm>
            <a:off x="8394192" y="3751834"/>
            <a:ext cx="107899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120" name="TextBox 119"/>
          <p:cNvSpPr txBox="1"/>
          <p:nvPr/>
        </p:nvSpPr>
        <p:spPr>
          <a:xfrm>
            <a:off x="9601200" y="3751834"/>
            <a:ext cx="1042416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+</a:t>
            </a:r>
          </a:p>
        </p:txBody>
      </p:sp>
      <p:sp>
        <p:nvSpPr>
          <p:cNvPr id="121" name="Rectangle 120"/>
          <p:cNvSpPr/>
          <p:nvPr/>
        </p:nvSpPr>
        <p:spPr>
          <a:xfrm>
            <a:off x="566928" y="3911981"/>
            <a:ext cx="10204704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2" name="TextBox 121"/>
          <p:cNvSpPr txBox="1"/>
          <p:nvPr/>
        </p:nvSpPr>
        <p:spPr>
          <a:xfrm>
            <a:off x="566928" y="3953129"/>
            <a:ext cx="235915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D4DBE1"/>
                </a:solidFill>
                <a:latin typeface="Arial"/>
              </a:rPr>
              <a:t>Pilot-BIM, Vitro-CAD, SAREX, Exon</a:t>
            </a:r>
          </a:p>
        </p:txBody>
      </p:sp>
      <p:sp>
        <p:nvSpPr>
          <p:cNvPr id="123" name="TextBox 122"/>
          <p:cNvSpPr txBox="1"/>
          <p:nvPr/>
        </p:nvSpPr>
        <p:spPr>
          <a:xfrm>
            <a:off x="3054096" y="3953129"/>
            <a:ext cx="932688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124" name="TextBox 123"/>
          <p:cNvSpPr txBox="1"/>
          <p:nvPr/>
        </p:nvSpPr>
        <p:spPr>
          <a:xfrm>
            <a:off x="4114800" y="3953129"/>
            <a:ext cx="1133855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125" name="TextBox 124"/>
          <p:cNvSpPr txBox="1"/>
          <p:nvPr/>
        </p:nvSpPr>
        <p:spPr>
          <a:xfrm>
            <a:off x="5376672" y="3953129"/>
            <a:ext cx="80467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+</a:t>
            </a:r>
          </a:p>
        </p:txBody>
      </p:sp>
      <p:sp>
        <p:nvSpPr>
          <p:cNvPr id="126" name="TextBox 125"/>
          <p:cNvSpPr txBox="1"/>
          <p:nvPr/>
        </p:nvSpPr>
        <p:spPr>
          <a:xfrm>
            <a:off x="6309360" y="3953129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127" name="TextBox 126"/>
          <p:cNvSpPr txBox="1"/>
          <p:nvPr/>
        </p:nvSpPr>
        <p:spPr>
          <a:xfrm>
            <a:off x="7351776" y="3953129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+</a:t>
            </a:r>
          </a:p>
        </p:txBody>
      </p:sp>
      <p:sp>
        <p:nvSpPr>
          <p:cNvPr id="128" name="TextBox 127"/>
          <p:cNvSpPr txBox="1"/>
          <p:nvPr/>
        </p:nvSpPr>
        <p:spPr>
          <a:xfrm>
            <a:off x="8394192" y="3953129"/>
            <a:ext cx="107899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129" name="TextBox 128"/>
          <p:cNvSpPr txBox="1"/>
          <p:nvPr/>
        </p:nvSpPr>
        <p:spPr>
          <a:xfrm>
            <a:off x="9601200" y="3953129"/>
            <a:ext cx="1042416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+</a:t>
            </a:r>
          </a:p>
        </p:txBody>
      </p:sp>
      <p:sp>
        <p:nvSpPr>
          <p:cNvPr id="130" name="Rectangle 129"/>
          <p:cNvSpPr/>
          <p:nvPr/>
        </p:nvSpPr>
        <p:spPr>
          <a:xfrm>
            <a:off x="566928" y="4113276"/>
            <a:ext cx="10204704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1" name="Rectangle 130"/>
          <p:cNvSpPr/>
          <p:nvPr/>
        </p:nvSpPr>
        <p:spPr>
          <a:xfrm>
            <a:off x="475488" y="4126992"/>
            <a:ext cx="10387584" cy="201295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2" name="TextBox 131"/>
          <p:cNvSpPr txBox="1"/>
          <p:nvPr/>
        </p:nvSpPr>
        <p:spPr>
          <a:xfrm>
            <a:off x="566928" y="4154424"/>
            <a:ext cx="235915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D4DBE1"/>
                </a:solidFill>
                <a:latin typeface="Arial"/>
              </a:rPr>
              <a:t>«Цифровой нормоконтроль» Москвы</a:t>
            </a:r>
          </a:p>
        </p:txBody>
      </p:sp>
      <p:sp>
        <p:nvSpPr>
          <p:cNvPr id="133" name="TextBox 132"/>
          <p:cNvSpPr txBox="1"/>
          <p:nvPr/>
        </p:nvSpPr>
        <p:spPr>
          <a:xfrm>
            <a:off x="3054096" y="4154424"/>
            <a:ext cx="932688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+</a:t>
            </a:r>
          </a:p>
        </p:txBody>
      </p:sp>
      <p:sp>
        <p:nvSpPr>
          <p:cNvPr id="134" name="TextBox 133"/>
          <p:cNvSpPr txBox="1"/>
          <p:nvPr/>
        </p:nvSpPr>
        <p:spPr>
          <a:xfrm>
            <a:off x="4114800" y="4154424"/>
            <a:ext cx="1133855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135" name="TextBox 134"/>
          <p:cNvSpPr txBox="1"/>
          <p:nvPr/>
        </p:nvSpPr>
        <p:spPr>
          <a:xfrm>
            <a:off x="5376672" y="4154424"/>
            <a:ext cx="80467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+</a:t>
            </a:r>
          </a:p>
        </p:txBody>
      </p:sp>
      <p:sp>
        <p:nvSpPr>
          <p:cNvPr id="136" name="TextBox 135"/>
          <p:cNvSpPr txBox="1"/>
          <p:nvPr/>
        </p:nvSpPr>
        <p:spPr>
          <a:xfrm>
            <a:off x="6309360" y="4154424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137" name="TextBox 136"/>
          <p:cNvSpPr txBox="1"/>
          <p:nvPr/>
        </p:nvSpPr>
        <p:spPr>
          <a:xfrm>
            <a:off x="7351776" y="4154424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DA3E8"/>
                </a:solidFill>
                <a:latin typeface="Arial"/>
              </a:rPr>
              <a:t>±</a:t>
            </a:r>
          </a:p>
        </p:txBody>
      </p:sp>
      <p:sp>
        <p:nvSpPr>
          <p:cNvPr id="138" name="TextBox 137"/>
          <p:cNvSpPr txBox="1"/>
          <p:nvPr/>
        </p:nvSpPr>
        <p:spPr>
          <a:xfrm>
            <a:off x="8394192" y="4154424"/>
            <a:ext cx="107899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79828A"/>
                </a:solidFill>
                <a:latin typeface="Arial"/>
              </a:rPr>
              <a:t>–</a:t>
            </a:r>
          </a:p>
        </p:txBody>
      </p:sp>
      <p:sp>
        <p:nvSpPr>
          <p:cNvPr id="139" name="TextBox 138"/>
          <p:cNvSpPr txBox="1"/>
          <p:nvPr/>
        </p:nvSpPr>
        <p:spPr>
          <a:xfrm>
            <a:off x="9601200" y="4154424"/>
            <a:ext cx="1042416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+</a:t>
            </a:r>
          </a:p>
        </p:txBody>
      </p:sp>
      <p:sp>
        <p:nvSpPr>
          <p:cNvPr id="140" name="Rectangle 139"/>
          <p:cNvSpPr/>
          <p:nvPr/>
        </p:nvSpPr>
        <p:spPr>
          <a:xfrm>
            <a:off x="566928" y="4314571"/>
            <a:ext cx="10204704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41" name="TextBox 140"/>
          <p:cNvSpPr txBox="1"/>
          <p:nvPr/>
        </p:nvSpPr>
        <p:spPr>
          <a:xfrm>
            <a:off x="566928" y="4355719"/>
            <a:ext cx="235915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FFFFFF"/>
                </a:solidFill>
                <a:latin typeface="Arial"/>
              </a:rPr>
              <a:t>AeroBIM — прототип, первый пилот</a:t>
            </a:r>
          </a:p>
        </p:txBody>
      </p:sp>
      <p:sp>
        <p:nvSpPr>
          <p:cNvPr id="142" name="TextBox 141"/>
          <p:cNvSpPr txBox="1"/>
          <p:nvPr/>
        </p:nvSpPr>
        <p:spPr>
          <a:xfrm>
            <a:off x="3054096" y="4355719"/>
            <a:ext cx="932688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8823A"/>
                </a:solidFill>
                <a:latin typeface="Arial"/>
              </a:rPr>
              <a:t>◊</a:t>
            </a:r>
          </a:p>
        </p:txBody>
      </p:sp>
      <p:sp>
        <p:nvSpPr>
          <p:cNvPr id="143" name="TextBox 142"/>
          <p:cNvSpPr txBox="1"/>
          <p:nvPr/>
        </p:nvSpPr>
        <p:spPr>
          <a:xfrm>
            <a:off x="4114800" y="4355719"/>
            <a:ext cx="1133855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8823A"/>
                </a:solidFill>
                <a:latin typeface="Arial"/>
              </a:rPr>
              <a:t>◊</a:t>
            </a:r>
          </a:p>
        </p:txBody>
      </p:sp>
      <p:sp>
        <p:nvSpPr>
          <p:cNvPr id="144" name="TextBox 143"/>
          <p:cNvSpPr txBox="1"/>
          <p:nvPr/>
        </p:nvSpPr>
        <p:spPr>
          <a:xfrm>
            <a:off x="5376672" y="4355719"/>
            <a:ext cx="80467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8823A"/>
                </a:solidFill>
                <a:latin typeface="Arial"/>
              </a:rPr>
              <a:t>◊</a:t>
            </a:r>
          </a:p>
        </p:txBody>
      </p:sp>
      <p:sp>
        <p:nvSpPr>
          <p:cNvPr id="145" name="TextBox 144"/>
          <p:cNvSpPr txBox="1"/>
          <p:nvPr/>
        </p:nvSpPr>
        <p:spPr>
          <a:xfrm>
            <a:off x="6309360" y="4355719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4CC38A"/>
                </a:solidFill>
                <a:latin typeface="Arial"/>
              </a:rPr>
              <a:t>+</a:t>
            </a:r>
          </a:p>
        </p:txBody>
      </p:sp>
      <p:sp>
        <p:nvSpPr>
          <p:cNvPr id="146" name="TextBox 145"/>
          <p:cNvSpPr txBox="1"/>
          <p:nvPr/>
        </p:nvSpPr>
        <p:spPr>
          <a:xfrm>
            <a:off x="7351776" y="4355719"/>
            <a:ext cx="914399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8705F"/>
                </a:solidFill>
                <a:latin typeface="Arial"/>
              </a:rPr>
              <a:t>×</a:t>
            </a:r>
          </a:p>
        </p:txBody>
      </p:sp>
      <p:sp>
        <p:nvSpPr>
          <p:cNvPr id="147" name="TextBox 146"/>
          <p:cNvSpPr txBox="1"/>
          <p:nvPr/>
        </p:nvSpPr>
        <p:spPr>
          <a:xfrm>
            <a:off x="8394192" y="4355719"/>
            <a:ext cx="1078992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8705F"/>
                </a:solidFill>
                <a:latin typeface="Arial"/>
              </a:rPr>
              <a:t>×</a:t>
            </a:r>
          </a:p>
        </p:txBody>
      </p:sp>
      <p:sp>
        <p:nvSpPr>
          <p:cNvPr id="148" name="TextBox 147"/>
          <p:cNvSpPr txBox="1"/>
          <p:nvPr/>
        </p:nvSpPr>
        <p:spPr>
          <a:xfrm>
            <a:off x="9601200" y="4355719"/>
            <a:ext cx="1042416" cy="20129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>
                <a:solidFill>
                  <a:srgbClr val="E8705F"/>
                </a:solidFill>
                <a:latin typeface="Arial"/>
              </a:rPr>
              <a:t>×</a:t>
            </a:r>
          </a:p>
        </p:txBody>
      </p:sp>
      <p:sp>
        <p:nvSpPr>
          <p:cNvPr id="149" name="TextBox 148"/>
          <p:cNvSpPr txBox="1"/>
          <p:nvPr/>
        </p:nvSpPr>
        <p:spPr>
          <a:xfrm>
            <a:off x="566928" y="4630166"/>
            <a:ext cx="2194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4CC38A"/>
                </a:solidFill>
                <a:latin typeface="Arial"/>
              </a:rPr>
              <a:t>+  </a:t>
            </a:r>
            <a:r>
              <a:rPr sz="850" b="0">
                <a:solidFill>
                  <a:srgbClr val="79828A"/>
                </a:solidFill>
                <a:latin typeface="Arial"/>
              </a:rPr>
              <a:t>закрывает — по источнику</a:t>
            </a:r>
          </a:p>
        </p:txBody>
      </p:sp>
      <p:sp>
        <p:nvSpPr>
          <p:cNvPr id="150" name="TextBox 149"/>
          <p:cNvSpPr txBox="1"/>
          <p:nvPr/>
        </p:nvSpPr>
        <p:spPr>
          <a:xfrm>
            <a:off x="2779776" y="4630166"/>
            <a:ext cx="2194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4DA3E8"/>
                </a:solidFill>
                <a:latin typeface="Arial"/>
              </a:rPr>
              <a:t>±  </a:t>
            </a:r>
            <a:r>
              <a:rPr sz="850" b="0">
                <a:solidFill>
                  <a:srgbClr val="79828A"/>
                </a:solidFill>
                <a:latin typeface="Arial"/>
              </a:rPr>
              <a:t>частично / по вендору</a:t>
            </a:r>
          </a:p>
        </p:txBody>
      </p:sp>
      <p:sp>
        <p:nvSpPr>
          <p:cNvPr id="151" name="TextBox 150"/>
          <p:cNvSpPr txBox="1"/>
          <p:nvPr/>
        </p:nvSpPr>
        <p:spPr>
          <a:xfrm>
            <a:off x="4992624" y="4630166"/>
            <a:ext cx="2194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79828A"/>
                </a:solidFill>
                <a:latin typeface="Arial"/>
              </a:rPr>
              <a:t>–  </a:t>
            </a:r>
            <a:r>
              <a:rPr sz="850" b="0">
                <a:solidFill>
                  <a:srgbClr val="79828A"/>
                </a:solidFill>
                <a:latin typeface="Arial"/>
              </a:rPr>
              <a:t>не заявлено</a:t>
            </a:r>
          </a:p>
        </p:txBody>
      </p:sp>
      <p:sp>
        <p:nvSpPr>
          <p:cNvPr id="152" name="TextBox 151"/>
          <p:cNvSpPr txBox="1"/>
          <p:nvPr/>
        </p:nvSpPr>
        <p:spPr>
          <a:xfrm>
            <a:off x="7205472" y="4630166"/>
            <a:ext cx="2194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E8705F"/>
                </a:solidFill>
                <a:latin typeface="Arial"/>
              </a:rPr>
              <a:t>×  </a:t>
            </a:r>
            <a:r>
              <a:rPr sz="850" b="0">
                <a:solidFill>
                  <a:srgbClr val="79828A"/>
                </a:solidFill>
                <a:latin typeface="Arial"/>
              </a:rPr>
              <a:t>ограничение</a:t>
            </a:r>
          </a:p>
        </p:txBody>
      </p:sp>
      <p:sp>
        <p:nvSpPr>
          <p:cNvPr id="153" name="TextBox 152"/>
          <p:cNvSpPr txBox="1"/>
          <p:nvPr/>
        </p:nvSpPr>
        <p:spPr>
          <a:xfrm>
            <a:off x="9418320" y="4630166"/>
            <a:ext cx="2194560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850" b="1">
                <a:solidFill>
                  <a:srgbClr val="E8823A"/>
                </a:solidFill>
                <a:latin typeface="Arial"/>
              </a:rPr>
              <a:t>◊  </a:t>
            </a:r>
            <a:r>
              <a:rPr sz="850" b="0">
                <a:solidFill>
                  <a:srgbClr val="79828A"/>
                </a:solidFill>
                <a:latin typeface="Arial"/>
              </a:rPr>
              <a:t>цель пилота — не подтверждено</a:t>
            </a:r>
          </a:p>
        </p:txBody>
      </p:sp>
      <p:sp>
        <p:nvSpPr>
          <p:cNvPr id="154" name="TextBox 153"/>
          <p:cNvSpPr txBox="1"/>
          <p:nvPr/>
        </p:nvSpPr>
        <p:spPr>
          <a:xfrm>
            <a:off x="566928" y="4886198"/>
            <a:ext cx="11055096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950" b="0" i="0">
                <a:solidFill>
                  <a:srgbClr val="D4DBE1"/>
                </a:solidFill>
                <a:latin typeface="Arial"/>
              </a:rPr>
              <a:t>В строке AeroBIM функции помечены как цель пилота: обмен с вашей СОД не подтверждён, владельческие форматы не читаем, запрос — первый пилот. «+» в открытости — лицензия MIT.</a:t>
            </a:r>
          </a:p>
        </p:txBody>
      </p:sp>
      <p:sp>
        <p:nvSpPr>
          <p:cNvPr id="155" name="TextBox 154"/>
          <p:cNvSpPr txBox="1"/>
          <p:nvPr/>
        </p:nvSpPr>
        <p:spPr>
          <a:xfrm>
            <a:off x="566928" y="5251958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Цели пилота и подтверждённые функции других решений в этой матрице обозначены разными знаками. Цены и статусы — A22+.</a:t>
            </a:r>
          </a:p>
        </p:txBody>
      </p:sp>
      <p:sp>
        <p:nvSpPr>
          <p:cNvPr id="156" name="TextBox 155"/>
          <p:cNvSpPr txBox="1"/>
          <p:nvPr/>
        </p:nvSpPr>
        <p:spPr>
          <a:xfrm>
            <a:off x="566928" y="6309360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Признаки — сведения и атрибуции исходной версии материалов по состоянию на 16.09.2026; неизвестные клетки мы не достраиваем догадками. Прямого сравнительного испытания «голова к голове» не проводили.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АНАЛОГИ · A22+ · ЦЕНА И СТАТУС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Цены и статусы из обзора от 16.09.2026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A22+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1362456"/>
            <a:ext cx="5344668" cy="45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300"/>
              </a:spcAft>
            </a:pPr>
            <a:r>
              <a:rPr sz="1050" b="1">
                <a:solidFill>
                  <a:srgbClr val="E8823A"/>
                </a:solidFill>
                <a:latin typeface="Arial"/>
              </a:rPr>
              <a:t>Solibri Office и Site — </a:t>
            </a:r>
            <a:r>
              <a:rPr sz="1050" b="0">
                <a:solidFill>
                  <a:srgbClr val="D4DBE1"/>
                </a:solidFill>
                <a:latin typeface="Arial"/>
              </a:rPr>
              <a:t>от €99 до €2 772 в год; Office (Legacy) не продаётся новым с 13.04.2026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300"/>
              </a:spcAft>
            </a:pPr>
            <a:r>
              <a:rPr sz="1050" b="1">
                <a:solidFill>
                  <a:srgbClr val="E8823A"/>
                </a:solidFill>
                <a:latin typeface="Arial"/>
              </a:rPr>
              <a:t>Autodesk Navisworks — </a:t>
            </a:r>
            <a:r>
              <a:rPr sz="1050" b="0">
                <a:solidFill>
                  <a:srgbClr val="D4DBE1"/>
                </a:solidFill>
                <a:latin typeface="Arial"/>
              </a:rPr>
              <a:t>использование в РФ ограничено вендором с 20.03.2024 по открытым сообщениям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300"/>
              </a:spcAft>
            </a:pPr>
            <a:r>
              <a:rPr sz="1050" b="1">
                <a:solidFill>
                  <a:srgbClr val="E8823A"/>
                </a:solidFill>
                <a:latin typeface="Arial"/>
              </a:rPr>
              <a:t>Revizto — </a:t>
            </a:r>
            <a:r>
              <a:rPr sz="1050" b="0">
                <a:solidFill>
                  <a:srgbClr val="D4DBE1"/>
                </a:solidFill>
                <a:latin typeface="Arial"/>
              </a:rPr>
              <a:t>подписка; маршрут замечаний и координация, правил по тексту нет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300"/>
              </a:spcAft>
            </a:pPr>
            <a:r>
              <a:rPr sz="1050" b="1">
                <a:solidFill>
                  <a:srgbClr val="E8823A"/>
                </a:solidFill>
                <a:latin typeface="Arial"/>
              </a:rPr>
              <a:t>BIMcollab Zoom и Nexus — </a:t>
            </a:r>
            <a:r>
              <a:rPr sz="1050" b="0">
                <a:solidFill>
                  <a:srgbClr val="D4DBE1"/>
                </a:solidFill>
                <a:latin typeface="Arial"/>
              </a:rPr>
              <a:t>подписка; данные в Нидерландах, ISO 27001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300"/>
              </a:spcAft>
            </a:pPr>
            <a:r>
              <a:rPr sz="1050" b="1">
                <a:solidFill>
                  <a:srgbClr val="E8823A"/>
                </a:solidFill>
                <a:latin typeface="Arial"/>
              </a:rPr>
              <a:t>Dalux Box — </a:t>
            </a:r>
            <a:r>
              <a:rPr sz="1050" b="0">
                <a:solidFill>
                  <a:srgbClr val="D4DBE1"/>
                </a:solidFill>
                <a:latin typeface="Arial"/>
              </a:rPr>
              <a:t>подписка; СОД и просмотр моделей с мобильным доступом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300"/>
              </a:spcAft>
            </a:pPr>
            <a:r>
              <a:rPr sz="1050" b="1">
                <a:solidFill>
                  <a:srgbClr val="E8823A"/>
                </a:solidFill>
                <a:latin typeface="Arial"/>
              </a:rPr>
              <a:t>bSI Validation Service — </a:t>
            </a:r>
            <a:r>
              <a:rPr sz="1050" b="0">
                <a:solidFill>
                  <a:srgbClr val="D4DBE1"/>
                </a:solidFill>
                <a:latin typeface="Arial"/>
              </a:rPr>
              <a:t>бесплатно; лимит 250 МБ в FAQ и 256 МБ на странице загрузки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300"/>
              </a:spcAft>
            </a:pPr>
            <a:r>
              <a:rPr sz="1050" b="1">
                <a:solidFill>
                  <a:srgbClr val="E8823A"/>
                </a:solidFill>
                <a:latin typeface="Arial"/>
              </a:rPr>
              <a:t>IfcTester (IfcOpenShell) — </a:t>
            </a:r>
            <a:r>
              <a:rPr sz="1050" b="0">
                <a:solidFill>
                  <a:srgbClr val="D4DBE1"/>
                </a:solidFill>
                <a:latin typeface="Arial"/>
              </a:rPr>
              <a:t>бесплатно, LGPL, версия 0.8.5; проверка модели по IDS 1.0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6277356" y="1362456"/>
            <a:ext cx="5344668" cy="45720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300"/>
              </a:spcAft>
            </a:pPr>
            <a:r>
              <a:rPr sz="1050" b="1">
                <a:solidFill>
                  <a:srgbClr val="E8823A"/>
                </a:solidFill>
                <a:latin typeface="Arial"/>
              </a:rPr>
              <a:t>Speckle Automate — </a:t>
            </a:r>
            <a:r>
              <a:rPr sz="1050" b="0">
                <a:solidFill>
                  <a:srgbClr val="D4DBE1"/>
                </a:solidFill>
                <a:latin typeface="Arial"/>
              </a:rPr>
              <a:t>открытое ядро; свои проверки пишутся кодом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300"/>
              </a:spcAft>
            </a:pPr>
            <a:r>
              <a:rPr sz="1050" b="1">
                <a:solidFill>
                  <a:srgbClr val="E8823A"/>
                </a:solidFill>
                <a:latin typeface="Arial"/>
              </a:rPr>
              <a:t>CORENET X и Model Checker — </a:t>
            </a:r>
            <a:r>
              <a:rPr sz="1050" b="0">
                <a:solidFill>
                  <a:srgbClr val="D4DBE1"/>
                </a:solidFill>
                <a:latin typeface="Arial"/>
              </a:rPr>
              <a:t>не продукт: доступ только через государственный шлюз Сингапура, 7 агентств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300"/>
              </a:spcAft>
            </a:pPr>
            <a:r>
              <a:rPr sz="1050" b="1">
                <a:solidFill>
                  <a:srgbClr val="E8823A"/>
                </a:solidFill>
                <a:latin typeface="Arial"/>
              </a:rPr>
              <a:t>UpCodes — </a:t>
            </a:r>
            <a:r>
              <a:rPr sz="1050" b="0">
                <a:solidFill>
                  <a:srgbClr val="D4DBE1"/>
                </a:solidFill>
                <a:latin typeface="Arial"/>
              </a:rPr>
              <a:t>подписка; нормы США, российские СП и ГОСТ не поддержаны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300"/>
              </a:spcAft>
            </a:pPr>
            <a:r>
              <a:rPr sz="1050" b="1">
                <a:solidFill>
                  <a:srgbClr val="E8823A"/>
                </a:solidFill>
                <a:latin typeface="Arial"/>
              </a:rPr>
              <a:t>Tangl control — </a:t>
            </a:r>
            <a:r>
              <a:rPr sz="1050" b="0">
                <a:solidFill>
                  <a:srgbClr val="D4DBE1"/>
                </a:solidFill>
                <a:latin typeface="Arial"/>
              </a:rPr>
              <a:t>лицензия от 165 000 руб. в год по открытым прайс-листам; вендор заявляет реестр отечественного ПО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300"/>
              </a:spcAft>
            </a:pPr>
            <a:r>
              <a:rPr sz="1050" b="1">
                <a:solidFill>
                  <a:srgbClr val="E8823A"/>
                </a:solidFill>
                <a:latin typeface="Arial"/>
              </a:rPr>
              <a:t>Pilot-BIM, Vitro-CAD, SAREX, Exon — </a:t>
            </a:r>
            <a:r>
              <a:rPr sz="1050" b="0">
                <a:solidFill>
                  <a:srgbClr val="D4DBE1"/>
                </a:solidFill>
                <a:latin typeface="Arial"/>
              </a:rPr>
              <a:t>лицензии; СОД: наличие, маршрут и версии документов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300"/>
              </a:spcAft>
            </a:pPr>
            <a:r>
              <a:rPr sz="1050" b="1">
                <a:solidFill>
                  <a:srgbClr val="E8823A"/>
                </a:solidFill>
                <a:latin typeface="Arial"/>
              </a:rPr>
              <a:t>«Цифровой нормоконтроль» Москвы — </a:t>
            </a:r>
            <a:r>
              <a:rPr sz="1050" b="0">
                <a:solidFill>
                  <a:srgbClr val="D4DBE1"/>
                </a:solidFill>
                <a:latin typeface="Arial"/>
              </a:rPr>
              <a:t>государственный сервис; ГОСТ Р 21.101-2020, 16 регионов в двух волнах</a:t>
            </a:r>
          </a:p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1300"/>
              </a:spcAft>
            </a:pPr>
            <a:r>
              <a:rPr sz="1050" b="1">
                <a:solidFill>
                  <a:srgbClr val="E8705F"/>
                </a:solidFill>
                <a:latin typeface="Arial"/>
              </a:rPr>
              <a:t>AeroBIM — прототип, первый пилот — </a:t>
            </a:r>
            <a:r>
              <a:rPr sz="1050" b="0">
                <a:solidFill>
                  <a:srgbClr val="D4DBE1"/>
                </a:solidFill>
                <a:latin typeface="Arial"/>
              </a:rPr>
              <a:t>прототип MIT, первый пилот; запрос — оплачиваемый пилот на одном корпусе. Утверждённого прайса нет; рабочая гипотеза подписки — 3,3 млн руб./год (A8+)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971032"/>
            <a:ext cx="982065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Рабочая гипотеза подписки — 3,3 млн руб./год: 2,4 млн за контур и 0,9 млн за профиль; уточняется по итогам пилота (A8+).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6464808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Цены и статусы — сведения и атрибуции исходной версии материалов по открытым страницам вендоров и государственных сайтов на 16.09.2026; заново их не подтверждаем. Признаки и светофор — A22.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ВОПРОСЫ · A23 · ПЛЮСЫ И МИНУСЫ · ЗАРУБЕЖНЫЕ И ОТКРЫТЫЕ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Разбор по решениям: чекеры, координация, открытый код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A23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188720"/>
            <a:ext cx="3526536" cy="3218688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6384" y="1426464"/>
            <a:ext cx="3087624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ЧЕКЕРЫ МОДЕЛИ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Зрелые правила, но не комплект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Solibri (Nemetschek): зрелая библиотека правил, свой редактор IDS; проверяет модель, не комплект; правила закрыты, РФ-норм нет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Navisworks: много форматов и сборка моделей; коллизии без семантики нормы; использование в РФ ограничено вендором с 20.03.2024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Revizto: быстрая координация замечаний и живая база в РФ; это координация, а не нормоконтроль; цена по запросу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1208" y="1188720"/>
            <a:ext cx="3526536" cy="3218688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31208" y="1188720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50664" y="1426464"/>
            <a:ext cx="3087624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КООРДИНАЦИЯ И СОД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Доставка, версии, маршрут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BIMcollab (Kubus): эталон работы с BCF, Zoom бесплатен, ISO 27001; данные в Нидерландах, противоречий комплекта не ищет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Dalux: сильный мобильный клиент, автопрогон при новой версии модели; это платформа заказчика, а не независимый шлюз приёмки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Trimble Connect и ProjectWise: доставка и версии; смысловая сверка между файлами не заявлена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5488" y="1188720"/>
            <a:ext cx="3526536" cy="3218688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95488" y="1188720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14944" y="1426464"/>
            <a:ext cx="3087624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НОРМЫ И ОТКРЫТЫЙ КОД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Компоненты, а не приёмка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bSI Validation Service: официально, бесплатно, четыре слоя проверки; национальные и проектные правила вне мандата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IfcTester, IDS-Audit-tool, Bonsai, Speckle Automate, That Open: открытый код и IDS 1.0; агрегация и право вердикта — на нас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UpCodes: нормы США и ИИ-ассистент; РФ-норм нет, вердикт не воспроизводится по пину прогона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572000"/>
            <a:ext cx="11055096" cy="640080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04672" y="4700016"/>
            <a:ext cx="10579608" cy="457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ЧТО ИЗ ЭТОГО МЫ ИСПОЛЬЗУЕМ ВНУТРИ</a:t>
            </a:r>
          </a:p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IfcOpenShell и IfcTester работают у нас за интерфейсом (LGPL), bSI Validation Service — эталон схемы; совместимость со всеми IDS-инструментами не проверялась.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358384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Мы не спорим с этими решениями в их поле: два из них мы используем внутри и сверяемся с ними как с эталоном.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5943600"/>
            <a:ext cx="1105509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Правки факта: Solibri, включая Anywhere, — группа Nemetschek, а не Trimble. bSI Validation Service проверяет синтаксис STEP, схему, нормативные правила и bSDD — четыре слоя, а не только схему.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ВОПРОСЫ · A24 · ПЛЮСЫ И МИНУСЫ · РФ-РЕШЕНИЯ И AI-ВОЛНА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600" b="1" i="0">
                <a:solidFill>
                  <a:srgbClr val="FFFFFF"/>
                </a:solidFill>
                <a:latin typeface="Arial"/>
              </a:rPr>
              <a:t>Разбор по решениям: российское поле, гос-сервисы и волна AI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A24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188720"/>
            <a:ext cx="3526536" cy="3218688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6384" y="1426464"/>
            <a:ext cx="3087624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РФ-РЕШЕНИЯ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Модель и маршрут, не шов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Tangl (Екатеринбург, с 2020): реестр отечественного ПО, автопроверки модели по требованиям; проверяет модель, а не шов модель — лист — ведомость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Pilot-BIM (АСКОН, реестр с 14.12.2020): СОД, сводная модель, коллизии; нормоконтроль здесь — комплектность и атрибуты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Vitro-CAD: документооборот, версии, подписи; смысловых противоречий между файлами не ищет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1208" y="1188720"/>
            <a:ext cx="3526536" cy="3218688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31208" y="1188720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50664" y="1426464"/>
            <a:ext cx="3087624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ПЛАТФОРМЫ И ОТЕЧЕСТВЕННЫЙ СТЕК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Доступ к заказчику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SAREX, Exon (Gaskar), Bimeister, 1С:BIM 6D, Larix: доступ к заказчику и к стройке, реестр ПО; валидация — формат, комплект, маршрут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Model Studio CS и CADLib, nanoCAD BIM, Renga: коллизии внутри своей среды — проверка своего проекта, а не чужого комплекта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Правила и отчёты закрыты: сторонний прогон вердикт не повторит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5488" y="1188720"/>
            <a:ext cx="3526536" cy="3218688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95488" y="1188720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14944" y="1426464"/>
            <a:ext cx="3087624" cy="283464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ГОС-ИИ И AI-ВОЛНА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Оформление и генерация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«Цифровой нормоконтроль» Москвы и ИИ Главгосэкспертизы: гос-канал, масштаб, заявлено ускорение вдвое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Закрывают оформление и полноту, работают по ГОСТ Р 21.101 в редакции 2020, вердикт не воспроизводится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Augmenta, Hypar, TestFit, Autodesk Forma, Togal.AI, Hexagon (Avvir), OpenSpace: генерация и сверка с фактом стройки — но не приёмка комплекта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572000"/>
            <a:ext cx="11055096" cy="640080"/>
          </a:xfrm>
          <a:prstGeom prst="roundRect">
            <a:avLst>
              <a:gd name="adj" fmla="val 3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TextBox 17"/>
          <p:cNvSpPr txBox="1"/>
          <p:nvPr/>
        </p:nvSpPr>
        <p:spPr>
          <a:xfrm>
            <a:off x="804672" y="4700016"/>
            <a:ext cx="10579608" cy="457199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ГДЕ МЫ ПЕРЕСЕКАЕМСЯ С РФ-ПОЛЕМ</a:t>
            </a:r>
          </a:p>
          <a:p>
            <a:pPr algn="l">
              <a:lnSpc>
                <a:spcPct val="117000"/>
              </a:lnSpc>
              <a:spcBef>
                <a:spcPts val="0"/>
              </a:spcBef>
              <a:spcAft>
                <a:spcPts val="0"/>
              </a:spcAft>
            </a:pPr>
            <a:r>
              <a:rPr sz="1000" b="0" i="0">
                <a:solidFill>
                  <a:srgbClr val="D4DBE1"/>
                </a:solidFill>
                <a:latin typeface="Arial"/>
              </a:rPr>
              <a:t>Tangl и Pilot-BIM закрывают модель и маршрут, мы — непротиворечивость комплекта. Вход и выход открытые: IDS, IFC, BCF, профиль переносится между инструментами.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566928" y="5358384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Российское поле закрывает доставку и оформление, западное — правила по модели. В рассмотренном обзоре наш фокус — сверка фактов между источниками комплекта; запрос — первый оплачиваемый пилот.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126480"/>
            <a:ext cx="1105509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Правки к рабочему списку: Avvir с 10.2022 в составе Hexagon; Spacemaker стал Autodesk Forma 08.05.2023; Augmenta — Торонто; BlenderBIM переименован в Bonsai в 2024; с 01.04.2026 действует ГОСТ Р 21.101-2026.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ВОПРОСЫ · A25 · SOTA · CORENET X, СИНГАПУР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CORENET X: обязательность по этапам и механика проверки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A25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188720"/>
            <a:ext cx="3526536" cy="3803904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6384" y="1426464"/>
            <a:ext cx="3087624" cy="34198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ОБЯЗАТЕЛЬНОСТЬ ПО ЭТАПАМ · DC26-08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Текущий план от 23.07.2026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От 30 000 м² — обязательно с 01.10.2025, уже действует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От 5 000 м², новые проекты — обязательно с 01.10.2026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Менее 5 000 м² — добровольно, можно оставаться в CORENET 2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Действующие проекты от 5 000 м², начатые в CORENET 2 до 30.09.2026, могут там продолжать — «до дальнейших уведомлений»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Заимствуем три принципа: заранее определённый формат подачи, последовательность проверок, решение квалифицированного человека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1208" y="1188720"/>
            <a:ext cx="3526536" cy="3803904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31208" y="1188720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50664" y="1426464"/>
            <a:ext cx="3087624" cy="34198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ТРИ КАТЕГОРИИ ПРОВЕРОК MODEL CHECKER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Машина советует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Схема IFC — формальная валидность файла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Качество — минимум по Code of Practice для обзора агентствами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Регуляторное соответствие — например, высота прохода или веломеста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Выдача в BCF, не более 1 300 записей на файл; самопроверка тем же движком до подачи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Оговорка BCA: в статусе MVP сервис не заменяет проверку квалифицированного лица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5488" y="1188720"/>
            <a:ext cx="3526536" cy="3803904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95488" y="1188720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14944" y="1426464"/>
            <a:ext cx="3087624" cy="34198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ФОРМАТ, ШЛЮЗЫ, АГЕНТСТВА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Формат фиксируют контрактом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IFC+SG на базе IFC4 со своими наборами свойств SGPsets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Три шлюза: проект, сваи, строительство; плюс сдача объекта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Семь агентств в одном окне: BCA, URA, LTA, PUB, NEA, NParks, SCDF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Консолидированный ответ — 20 рабочих дней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Принимаются и не-BIM части: расчёты и 2D-детали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175504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CORENET X доказывает три вещи: обязательность вводят этапами, формат данных фиксируют контрактом, а машинный вердикт оставляют советующим.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943600"/>
            <a:ext cx="1105509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Источники: info.corenet.gov.sg (Model Checker, Code of Practice 3-е изд. 09.2025), циркуляры URA DC26-08 и BCA APPBCA-2026-12 от 23.07.2026. Дата перевода из циркуляров 2025 не подтверждена.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>
                <a:solidFill>
                  <a:srgbClr val="E8823A"/>
                </a:solidFill>
                <a:latin typeface="Arial"/>
              </a:rPr>
              <a:t>ВОПРОСЫ · A26 · ВЫВОДЫ И УГРОЗЫ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Что берём у Сингапура, чего не копируем и где нас обгоняют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A26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188720"/>
            <a:ext cx="3526536" cy="3749039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6384" y="1426464"/>
            <a:ext cx="3087624" cy="33649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БЕРЁМ В ПРОЕКТ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Формат-контракт до прогона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Профиль норм и IDS, а не договорённости постфактум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Машинная выдача в BCF как основной носитель замечания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Самопроверка до подачи: у проектировщика тот же движок, что у приёмщика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Право вердикта у человека, отказ по умолчанию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Поэтапность как модель пилота: сначала один корпус и один раздел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1208" y="1188720"/>
            <a:ext cx="3526536" cy="3749039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31208" y="1188720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50664" y="1426464"/>
            <a:ext cx="3087624" cy="33649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НЕ КОПИРУЕМ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Чужой мандат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Своё расширение схемы под страну: у нас нет мандата регулятора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Государственный шлюз как единственный канал: мы идём в контур заказчика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Правило «одна кнопка — допуск»: машина у нас допуск не выдаёт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Урок истории: без мандата и сопровождения машиночитаемые нормы не живут — это показал e-PlanCheck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5488" y="1188720"/>
            <a:ext cx="3526536" cy="3749039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95488" y="1188720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14944" y="1426464"/>
            <a:ext cx="3087624" cy="33649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ГДЕ НАС ОБГОНЯЮТ СЕЙЧАС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Честный список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Зрелость правил: у Solibri библиотека строится более 20 лет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Экосистема и мобильный клиент: Dalux, Revizto, BIMcollab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Доступ к заказчику: Tangl, Exon, SAREX, Bimeister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Гос-канал и данные: сервисы Москвы и Главгосэкспертизы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Наша зрелость: воспроизводимый прототип, пять ворот CI; запрос — оплачиваемый пилот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138928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Прямого аналога по комбинации мы не нашли; по каждой отдельной функции аналоги есть и сильнее нас. Наша заявка — шов, а не превосходство.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943600"/>
            <a:ext cx="1105509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Главные угрозы по OSINT: инерция ручной проверки; достаточно хорошее решение от платформы с доступом к заказчику; гос-сервисы с ИИ; смена нормативных требований. Полный разбор со ссылками — в репозитории.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 dirty="0">
                <a:solidFill>
                  <a:srgbClr val="E8823A"/>
                </a:solidFill>
                <a:latin typeface="Arial"/>
              </a:rPr>
              <a:t>ЖЮРИ · A2</a:t>
            </a:r>
            <a:r>
              <a:rPr lang="en-US" sz="950" b="1" i="0" spc="110" dirty="0">
                <a:solidFill>
                  <a:srgbClr val="E8823A"/>
                </a:solidFill>
                <a:latin typeface="Arial"/>
              </a:rPr>
              <a:t>7</a:t>
            </a:r>
            <a:r>
              <a:rPr sz="950" b="1" i="0" spc="110" dirty="0">
                <a:solidFill>
                  <a:srgbClr val="E8823A"/>
                </a:solidFill>
                <a:latin typeface="Arial"/>
              </a:rPr>
              <a:t> · ЭКОНОМИКА БЕЗ ЧАСОВ ЭКСПЕРТА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Считаем круги согласования, а не часы эксперта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A29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188720"/>
            <a:ext cx="3526536" cy="3749039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6384" y="1426464"/>
            <a:ext cx="3087624" cy="33649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ЕДИНИЦА ЭФФЕКТА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Минус один круг согласования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Это дни календаря, а не сэкономленные ставки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Предел рассмотрения жилого ОКС — 20 рабочих дней (сведение наших материалов)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Сколько из них занимает повторный круг — в этом материале не измерено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Иллюстративный сценарий стоимости задержки — экран 7 и A33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1208" y="1188720"/>
            <a:ext cx="3526536" cy="3749039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31208" y="1188720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50664" y="1426464"/>
            <a:ext cx="3087624" cy="33649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ЧТО МЫ НЕ СЧИТАЕМ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Границы модели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Не считаем экономию фонда оплаты труда эксперта: в пилоте это не наблюдаемая величина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Не переносим на себя «ускорение вдвое» из релизов гос-сервисов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Не пересчитываем чужие 50–55 млрд рынка в свою выручку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Расчёт окупаемости — после фиксации эффекта в пилоте (A8+)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5488" y="1188720"/>
            <a:ext cx="3526536" cy="3749039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95488" y="1188720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14944" y="1426464"/>
            <a:ext cx="3087624" cy="33649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УСЛОВИЯ ОЦЕНКИ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При каких условиях эффект наблюдаем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Один корпус и один раздел в пилоте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Замер до и после на одном и том же комплекте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Круг согласования фиксируется в вашей СОД, а не в нашей системе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Эффект подтверждает техзаказчик, а не алгоритм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При отрицательном результате фиксируем результат и публикуем его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138928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200" b="1" i="0">
                <a:solidFill>
                  <a:srgbClr val="FFFFFF"/>
                </a:solidFill>
                <a:latin typeface="Arial"/>
              </a:rPr>
              <a:t>До пилота мы не приносим экономию в рублях: приносим единицу измерения и иллюстративный сценарий стоимости задержки по открытым данным. Гипотезы эффекта E1–E5 — A4.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943600"/>
            <a:ext cx="1105509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Атрибуции исходной версии: cbr.ru — ключевая ставка 14,00 % с 11.09.2026 и ставки проектного финансирования; п. 29 ПП РФ 145 в ред. 28.04.2026; внутренний расчёт дельты ревизий на фикстуре.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 dirty="0">
                <a:solidFill>
                  <a:srgbClr val="E8823A"/>
                </a:solidFill>
                <a:latin typeface="Arial"/>
              </a:rPr>
              <a:t>ЖЮРИ · A</a:t>
            </a:r>
            <a:r>
              <a:rPr lang="en-US" sz="950" b="1" i="0" spc="110" dirty="0">
                <a:solidFill>
                  <a:srgbClr val="E8823A"/>
                </a:solidFill>
                <a:latin typeface="Arial"/>
              </a:rPr>
              <a:t>28</a:t>
            </a:r>
            <a:r>
              <a:rPr sz="950" b="1" i="0" spc="110" dirty="0">
                <a:solidFill>
                  <a:srgbClr val="E8823A"/>
                </a:solidFill>
                <a:latin typeface="Arial"/>
              </a:rPr>
              <a:t> · ПРАВО, ФОРМЫ, ОТВЕТСТВЕННОСТЬ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Кто подписывает, чем оформлено, что остаётся у вас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A31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1188720"/>
            <a:ext cx="3526536" cy="3749039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86384" y="1426464"/>
            <a:ext cx="3087624" cy="33649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E8823A"/>
                </a:solidFill>
                <a:latin typeface="Arial"/>
              </a:rPr>
              <a:t>ЮРИДИЧЕСКАЯ ФОРМА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Открытый риск, а не умолчание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Юрлицо оформляется до подписания соглашения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Сроки регистрации — оценка команды: ИП 3 рабочих дня (УСН 6 %), ООО 5–7 рабочих дней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Лицензия репозитория MIT; условие п. 6.3 — 30 и 150 дней на оформление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Заявка в реестр отеч. ПО — план IV кв. 2026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31208" y="1188720"/>
            <a:ext cx="3526536" cy="3749039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4331208" y="1188720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4550664" y="1426464"/>
            <a:ext cx="3087624" cy="33649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ФОРМЫ И ПОРЯДОК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По формам оператора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Программа пилота, затем соглашение, методика испытаний и акт по результатам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Мониторинг результатов в течение 3 лет после пилота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Право вердикта остаётся у эксперта: статус замечания ставит человек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Модель не пишет итог проверки — это зафиксировано архитектурным решением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95488" y="1188720"/>
            <a:ext cx="3526536" cy="3749039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8095488" y="1188720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8314944" y="1426464"/>
            <a:ext cx="3087624" cy="3364991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ЧТО ОСТАЁТСЯ У ВАС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Файл, пин, код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Файл BCF как интерфейс: записи в вашу СОД мы не пишем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Единый вход по OIDC — этап 2: приёмочное испытание на тестовом контуре фиксирует закрытие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Офлайн-развёртывание доступно, но это не подтверждение завершённого управления доступом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Отчёт, пин и номер прогона позволяют повторить прогон; повторение третьей стороной не подтверждено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Исходный код открыт, офлайн-сборка ≈ 0,85 ГиБ (913 330 688 байт) разворачивается в вашем контуре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566928" y="5138928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Оформляем ИП или ООО до подписания (3–7 раб. дней); право подписи и вердикта не переносим на алгоритм.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566928" y="5943600"/>
            <a:ext cx="1105509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Источники: п. 6.3 положения о треке (30 и 150 дней), условия грантовой программы на i.moscow, архитектурное решение о человеке в контуре, карточки рисков RT-001, RT-002b и RT-003 в репозитории.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Rectangle 1"/>
          <p:cNvSpPr/>
          <p:nvPr/>
        </p:nvSpPr>
        <p:spPr>
          <a:xfrm>
            <a:off x="0" y="0"/>
            <a:ext cx="12191969" cy="6858000"/>
          </a:xfrm>
          <a:prstGeom prst="rect">
            <a:avLst/>
          </a:prstGeom>
          <a:solidFill>
            <a:srgbClr val="09111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pic>
        <p:nvPicPr>
          <p:cNvPr id="3" name="Picture 2" descr="p2_0_1918x1079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0" y="0"/>
            <a:ext cx="12191969" cy="6858000"/>
          </a:xfrm>
          <a:prstGeom prst="rect">
            <a:avLst/>
          </a:prstGeom>
        </p:spPr>
      </p:pic>
      <p:pic>
        <p:nvPicPr>
          <p:cNvPr id="4" name="Picture 3" descr="p2_1_112x66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11356848" y="219456"/>
            <a:ext cx="403444" cy="237744"/>
          </a:xfrm>
          <a:prstGeom prst="rect">
            <a:avLst/>
          </a:prstGeom>
        </p:spPr>
      </p:pic>
      <p:sp>
        <p:nvSpPr>
          <p:cNvPr id="5" name="TextBox 4"/>
          <p:cNvSpPr txBox="1"/>
          <p:nvPr/>
        </p:nvSpPr>
        <p:spPr>
          <a:xfrm>
            <a:off x="566928" y="214884"/>
            <a:ext cx="10607040" cy="153888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110" dirty="0">
                <a:solidFill>
                  <a:srgbClr val="E8823A"/>
                </a:solidFill>
                <a:latin typeface="Arial"/>
              </a:rPr>
              <a:t>ЖЮРИ · A</a:t>
            </a:r>
            <a:r>
              <a:rPr lang="en-US" sz="950" b="1" i="0" spc="110" dirty="0">
                <a:solidFill>
                  <a:srgbClr val="E8823A"/>
                </a:solidFill>
                <a:latin typeface="Arial"/>
              </a:rPr>
              <a:t>29</a:t>
            </a:r>
            <a:r>
              <a:rPr sz="950" b="1" i="0" spc="110" dirty="0">
                <a:solidFill>
                  <a:srgbClr val="E8823A"/>
                </a:solidFill>
                <a:latin typeface="Arial"/>
              </a:rPr>
              <a:t> · СТОИМОСТЬ ЗАДЕРЖКИ · РАСЧЁТ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457200"/>
            <a:ext cx="10881360" cy="86868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0"/>
              </a:spcAft>
            </a:pPr>
            <a:r>
              <a:rPr sz="2750" b="1" i="0">
                <a:solidFill>
                  <a:srgbClr val="FFFFFF"/>
                </a:solidFill>
                <a:latin typeface="Arial"/>
              </a:rPr>
              <a:t>Как считали цену повторного круга замечаний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0424160" y="6419088"/>
            <a:ext cx="1197864" cy="2377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r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950" b="1" i="0" spc="60">
                <a:solidFill>
                  <a:srgbClr val="79828A"/>
                </a:solidFill>
                <a:latin typeface="Arial"/>
              </a:rPr>
              <a:t>A33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1188720"/>
            <a:ext cx="11055096" cy="621792"/>
          </a:xfrm>
          <a:prstGeom prst="rect">
            <a:avLst/>
          </a:prstGeom>
          <a:noFill/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9" name="Rectangle 8"/>
          <p:cNvSpPr/>
          <p:nvPr/>
        </p:nvSpPr>
        <p:spPr>
          <a:xfrm>
            <a:off x="566928" y="1188720"/>
            <a:ext cx="32004" cy="621792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0" name="TextBox 9"/>
          <p:cNvSpPr txBox="1"/>
          <p:nvPr/>
        </p:nvSpPr>
        <p:spPr>
          <a:xfrm>
            <a:off x="768096" y="1362456"/>
            <a:ext cx="10735056" cy="62179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250"/>
              </a:spcAft>
            </a:pPr>
            <a:r>
              <a:rPr sz="900" b="1" i="0" spc="110">
                <a:solidFill>
                  <a:srgbClr val="E8823A"/>
                </a:solidFill>
                <a:latin typeface="Arial"/>
              </a:rPr>
              <a:t>КАК ЧИТАТЬ ЭТИ ЧИСЛА</a:t>
            </a:r>
          </a:p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1200" b="0" i="0">
                <a:solidFill>
                  <a:srgbClr val="FFFFFF"/>
                </a:solidFill>
                <a:latin typeface="Arial"/>
              </a:rPr>
              <a:t>Иллюстративный сценарий стоимости задержки, не измеренная экономия AeroBIM. Проценты начисляются на фактическую задолженность и за календарные дни; ключевая ставка 14,00 % — это ставка ЦБ, а не ставка вашего проектного кредита.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8" y="1975104"/>
            <a:ext cx="3526536" cy="2450592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2" name="Rectangle 11"/>
          <p:cNvSpPr/>
          <p:nvPr/>
        </p:nvSpPr>
        <p:spPr>
          <a:xfrm>
            <a:off x="566928" y="1975104"/>
            <a:ext cx="3526536" cy="32004"/>
          </a:xfrm>
          <a:prstGeom prst="rect">
            <a:avLst/>
          </a:prstGeom>
          <a:solidFill>
            <a:srgbClr val="E8823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3" name="TextBox 12"/>
          <p:cNvSpPr txBox="1"/>
          <p:nvPr/>
        </p:nvSpPr>
        <p:spPr>
          <a:xfrm>
            <a:off x="786384" y="2212848"/>
            <a:ext cx="3087624" cy="2066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 dirty="0">
                <a:solidFill>
                  <a:srgbClr val="E8823A"/>
                </a:solidFill>
                <a:latin typeface="Arial"/>
              </a:rPr>
              <a:t>ВХОДНЫЕ ДАННЫЕ · ДОПУЩЕНИЯ ПРИМЕРА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 dirty="0" err="1">
                <a:solidFill>
                  <a:srgbClr val="FFFFFF"/>
                </a:solidFill>
                <a:latin typeface="Arial"/>
              </a:rPr>
              <a:t>Типовой</a:t>
            </a:r>
            <a:r>
              <a:rPr sz="115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150" b="1" i="0" dirty="0" err="1">
                <a:solidFill>
                  <a:srgbClr val="FFFFFF"/>
                </a:solidFill>
                <a:latin typeface="Arial"/>
              </a:rPr>
              <a:t>жилой</a:t>
            </a:r>
            <a:r>
              <a:rPr sz="1150" b="1" i="0" dirty="0">
                <a:solidFill>
                  <a:srgbClr val="FFFFFF"/>
                </a:solidFill>
                <a:latin typeface="Arial"/>
              </a:rPr>
              <a:t> </a:t>
            </a:r>
            <a:r>
              <a:rPr sz="1150" b="1" i="0" dirty="0" err="1">
                <a:solidFill>
                  <a:srgbClr val="FFFFFF"/>
                </a:solidFill>
                <a:latin typeface="Arial"/>
              </a:rPr>
              <a:t>комплекс</a:t>
            </a:r>
            <a:endParaRPr sz="1150" b="1" i="0" dirty="0">
              <a:solidFill>
                <a:srgbClr val="FFFFFF"/>
              </a:solidFill>
              <a:latin typeface="Arial"/>
            </a:endParaRP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 dirty="0">
                <a:solidFill>
                  <a:srgbClr val="D4DBE1"/>
                </a:solidFill>
                <a:latin typeface="Arial"/>
              </a:rPr>
              <a:t>50 000 м²,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полная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стоимость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строительства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≈ 81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тыс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.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руб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./м²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 dirty="0" err="1">
                <a:solidFill>
                  <a:srgbClr val="D4DBE1"/>
                </a:solidFill>
                <a:latin typeface="Arial"/>
              </a:rPr>
              <a:t>Бюджет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≈ 4,1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млрд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руб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.,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лимит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проектного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кредита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≈ 3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млрд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руб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.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E8823A"/>
              </a:buClr>
              <a:buFont typeface="Arial"/>
              <a:buChar char="▪"/>
            </a:pPr>
            <a:r>
              <a:rPr sz="1050" b="0" i="0" dirty="0">
                <a:solidFill>
                  <a:srgbClr val="D4DBE1"/>
                </a:solidFill>
                <a:latin typeface="Arial"/>
              </a:rPr>
              <a:t>В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примере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берём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14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календарных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дней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начисления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процентов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—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это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допущение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примера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, а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не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универсальный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эквивалент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10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рабочих</a:t>
            </a:r>
            <a:r>
              <a:rPr sz="1050" b="0" i="0" dirty="0">
                <a:solidFill>
                  <a:srgbClr val="D4DBE1"/>
                </a:solidFill>
                <a:latin typeface="Arial"/>
              </a:rPr>
              <a:t> </a:t>
            </a:r>
            <a:r>
              <a:rPr sz="1050" b="0" i="0" dirty="0" err="1">
                <a:solidFill>
                  <a:srgbClr val="D4DBE1"/>
                </a:solidFill>
                <a:latin typeface="Arial"/>
              </a:rPr>
              <a:t>дней</a:t>
            </a:r>
            <a:endParaRPr sz="1050" b="0" i="0" dirty="0">
              <a:solidFill>
                <a:srgbClr val="D4DBE1"/>
              </a:solidFill>
              <a:latin typeface="Arial"/>
            </a:endParaRPr>
          </a:p>
        </p:txBody>
      </p:sp>
      <p:sp>
        <p:nvSpPr>
          <p:cNvPr id="14" name="Rounded Rectangle 13"/>
          <p:cNvSpPr/>
          <p:nvPr/>
        </p:nvSpPr>
        <p:spPr>
          <a:xfrm>
            <a:off x="4331208" y="1975104"/>
            <a:ext cx="3526536" cy="2450592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5" name="Rectangle 14"/>
          <p:cNvSpPr/>
          <p:nvPr/>
        </p:nvSpPr>
        <p:spPr>
          <a:xfrm>
            <a:off x="4331208" y="1975104"/>
            <a:ext cx="3526536" cy="32004"/>
          </a:xfrm>
          <a:prstGeom prst="rect">
            <a:avLst/>
          </a:prstGeom>
          <a:solidFill>
            <a:srgbClr val="4DA3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4550664" y="2212848"/>
            <a:ext cx="3087624" cy="2066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DA3E8"/>
                </a:solidFill>
                <a:latin typeface="Arial"/>
              </a:rPr>
              <a:t>СТАВКА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Проектное финансирование, не ключевая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Средневзвешенная ставка по портфелю — 9,95 % годовых в I квартале 2026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По одобренным кредитам на середину 2026 — 9,92 %; в расчёте берём 10 %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DA3E8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Покрытая эскроу часть долга стоит единицы процентов, непокрытая — ключевая плюс надбавка; покрытие по РФ около 70 %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8095488" y="1975104"/>
            <a:ext cx="3526536" cy="2450592"/>
          </a:xfrm>
          <a:prstGeom prst="roundRect">
            <a:avLst>
              <a:gd name="adj" fmla="val 2000"/>
            </a:avLst>
          </a:prstGeom>
          <a:solidFill>
            <a:srgbClr val="111820"/>
          </a:solidFill>
          <a:ln w="9525">
            <a:solidFill>
              <a:srgbClr val="2B343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8" name="Rectangle 17"/>
          <p:cNvSpPr/>
          <p:nvPr/>
        </p:nvSpPr>
        <p:spPr>
          <a:xfrm>
            <a:off x="8095488" y="1975104"/>
            <a:ext cx="3526536" cy="32004"/>
          </a:xfrm>
          <a:prstGeom prst="rect">
            <a:avLst/>
          </a:prstGeom>
          <a:solidFill>
            <a:srgbClr val="4CC3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19" name="TextBox 18"/>
          <p:cNvSpPr txBox="1"/>
          <p:nvPr/>
        </p:nvSpPr>
        <p:spPr>
          <a:xfrm>
            <a:off x="8314944" y="2212848"/>
            <a:ext cx="3087624" cy="2066544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700"/>
              </a:spcAft>
            </a:pPr>
            <a:r>
              <a:rPr sz="900" b="1" i="0" spc="100">
                <a:solidFill>
                  <a:srgbClr val="4CC38A"/>
                </a:solidFill>
                <a:latin typeface="Arial"/>
              </a:rPr>
              <a:t>ФОРМУЛА И ГРАНИЦЫ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800"/>
              </a:spcAft>
            </a:pPr>
            <a:r>
              <a:rPr sz="1150" b="1" i="0">
                <a:solidFill>
                  <a:srgbClr val="FFFFFF"/>
                </a:solidFill>
                <a:latin typeface="Arial"/>
              </a:rPr>
              <a:t>Долг × годовая ставка × календарные дни / 365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Сумма возникает только если задержка лежит на критическом пути и сдвигает дату ввода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Это сценарий по открытым данным, а не измеренный эффект нашего контура</a:t>
            </a:r>
          </a:p>
          <a:p>
            <a:pPr marL="166687" indent="-166687" algn="l">
              <a:lnSpc>
                <a:spcPct val="118000"/>
              </a:lnSpc>
              <a:spcBef>
                <a:spcPts val="0"/>
              </a:spcBef>
              <a:spcAft>
                <a:spcPts val="450"/>
              </a:spcAft>
              <a:buClr>
                <a:srgbClr val="4CC38A"/>
              </a:buClr>
              <a:buFont typeface="Arial"/>
              <a:buChar char="▪"/>
            </a:pPr>
            <a:r>
              <a:rPr sz="1050" b="0" i="0">
                <a:solidFill>
                  <a:srgbClr val="D4DBE1"/>
                </a:solidFill>
                <a:latin typeface="Arial"/>
              </a:rPr>
              <a:t>Расчёт окупаемости — после фиксации эффекта в пилоте; гипотеза подписки — A8+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4572000"/>
            <a:ext cx="1975103" cy="2458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80">
                <a:solidFill>
                  <a:srgbClr val="79828A"/>
                </a:solidFill>
                <a:latin typeface="Arial"/>
              </a:rPr>
              <a:t>СЦЕНАРИЙ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670048" y="4572000"/>
            <a:ext cx="2569464" cy="2458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80">
                <a:solidFill>
                  <a:srgbClr val="79828A"/>
                </a:solidFill>
                <a:latin typeface="Arial"/>
              </a:rPr>
              <a:t>ФАКТИЧЕСКИЙ ДОЛГ — ДОПУЩЕНИЕ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367528" y="4572000"/>
            <a:ext cx="1014983" cy="2458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80">
                <a:solidFill>
                  <a:srgbClr val="79828A"/>
                </a:solidFill>
                <a:latin typeface="Arial"/>
              </a:rPr>
              <a:t>СТАВКА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510528" y="4572000"/>
            <a:ext cx="1746503" cy="2458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80">
                <a:solidFill>
                  <a:srgbClr val="79828A"/>
                </a:solidFill>
                <a:latin typeface="Arial"/>
              </a:rPr>
              <a:t>ЦЕНА ДНЯ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8385048" y="4572000"/>
            <a:ext cx="3108960" cy="24587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4000"/>
              </a:lnSpc>
              <a:spcBef>
                <a:spcPts val="0"/>
              </a:spcBef>
              <a:spcAft>
                <a:spcPts val="0"/>
              </a:spcAft>
            </a:pPr>
            <a:r>
              <a:rPr sz="800" b="1" i="0" spc="80">
                <a:solidFill>
                  <a:srgbClr val="79828A"/>
                </a:solidFill>
                <a:latin typeface="Arial"/>
              </a:rPr>
              <a:t>ИТОГ ЗА 14 КАЛЕНДАРНЫХ ДНЕЙ (ДОПУЩЕНИЕ)</a:t>
            </a:r>
          </a:p>
        </p:txBody>
      </p:sp>
      <p:sp>
        <p:nvSpPr>
          <p:cNvPr id="25" name="Rectangle 24"/>
          <p:cNvSpPr/>
          <p:nvPr/>
        </p:nvSpPr>
        <p:spPr>
          <a:xfrm>
            <a:off x="566928" y="4817872"/>
            <a:ext cx="11055096" cy="10972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6" name="Rectangle 25"/>
          <p:cNvSpPr/>
          <p:nvPr/>
        </p:nvSpPr>
        <p:spPr>
          <a:xfrm>
            <a:off x="475488" y="4845304"/>
            <a:ext cx="11237976" cy="242125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27" name="TextBox 26"/>
          <p:cNvSpPr txBox="1"/>
          <p:nvPr/>
        </p:nvSpPr>
        <p:spPr>
          <a:xfrm>
            <a:off x="566928" y="4872736"/>
            <a:ext cx="1975103" cy="24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консервативный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2670048" y="4872736"/>
            <a:ext cx="2569464" cy="24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1,5 млрд руб. — 50 % лимита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367528" y="4872736"/>
            <a:ext cx="1014983" cy="24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10 %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510528" y="4872736"/>
            <a:ext cx="1746503" cy="24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0,41 млн руб.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8385048" y="4872736"/>
            <a:ext cx="3108960" cy="24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8823A"/>
                </a:solidFill>
                <a:latin typeface="Arial"/>
              </a:rPr>
              <a:t>5,8 млн руб.</a:t>
            </a:r>
          </a:p>
        </p:txBody>
      </p:sp>
      <p:sp>
        <p:nvSpPr>
          <p:cNvPr id="32" name="Rectangle 31"/>
          <p:cNvSpPr/>
          <p:nvPr/>
        </p:nvSpPr>
        <p:spPr>
          <a:xfrm>
            <a:off x="566928" y="5073713"/>
            <a:ext cx="1105509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66928" y="5114861"/>
            <a:ext cx="1975103" cy="24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базовый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2670048" y="5114861"/>
            <a:ext cx="2569464" cy="24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1,8 млрд руб. — 60 % лимита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367528" y="5114861"/>
            <a:ext cx="1014983" cy="24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10 %</a:t>
            </a:r>
          </a:p>
        </p:txBody>
      </p:sp>
      <p:sp>
        <p:nvSpPr>
          <p:cNvPr id="36" name="TextBox 35"/>
          <p:cNvSpPr txBox="1"/>
          <p:nvPr/>
        </p:nvSpPr>
        <p:spPr>
          <a:xfrm>
            <a:off x="6510528" y="5114861"/>
            <a:ext cx="1746503" cy="24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0,49 млн руб.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8385048" y="5114861"/>
            <a:ext cx="3108960" cy="24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8823A"/>
                </a:solidFill>
                <a:latin typeface="Arial"/>
              </a:rPr>
              <a:t>6,9 млн руб.</a:t>
            </a:r>
          </a:p>
        </p:txBody>
      </p:sp>
      <p:sp>
        <p:nvSpPr>
          <p:cNvPr id="38" name="Rectangle 37"/>
          <p:cNvSpPr/>
          <p:nvPr/>
        </p:nvSpPr>
        <p:spPr>
          <a:xfrm>
            <a:off x="566928" y="5315839"/>
            <a:ext cx="11055096" cy="7315"/>
          </a:xfrm>
          <a:prstGeom prst="rect">
            <a:avLst/>
          </a:prstGeom>
          <a:solidFill>
            <a:srgbClr val="2B343D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39" name="Rectangle 38"/>
          <p:cNvSpPr/>
          <p:nvPr/>
        </p:nvSpPr>
        <p:spPr>
          <a:xfrm>
            <a:off x="475488" y="5329554"/>
            <a:ext cx="11237976" cy="242125"/>
          </a:xfrm>
          <a:prstGeom prst="rect">
            <a:avLst/>
          </a:prstGeom>
          <a:solidFill>
            <a:srgbClr val="11182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566928" y="5356987"/>
            <a:ext cx="1975103" cy="24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пик стройки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2670048" y="5356987"/>
            <a:ext cx="2569464" cy="24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3,0 млрд руб. — лимит выбран</a:t>
            </a:r>
          </a:p>
        </p:txBody>
      </p:sp>
      <p:sp>
        <p:nvSpPr>
          <p:cNvPr id="42" name="TextBox 41"/>
          <p:cNvSpPr txBox="1"/>
          <p:nvPr/>
        </p:nvSpPr>
        <p:spPr>
          <a:xfrm>
            <a:off x="5367528" y="5356987"/>
            <a:ext cx="1014983" cy="24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ctr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10 %</a:t>
            </a:r>
          </a:p>
        </p:txBody>
      </p:sp>
      <p:sp>
        <p:nvSpPr>
          <p:cNvPr id="43" name="TextBox 42"/>
          <p:cNvSpPr txBox="1"/>
          <p:nvPr/>
        </p:nvSpPr>
        <p:spPr>
          <a:xfrm>
            <a:off x="6510528" y="5356987"/>
            <a:ext cx="1746503" cy="24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0" i="0">
                <a:solidFill>
                  <a:srgbClr val="D4DBE1"/>
                </a:solidFill>
                <a:latin typeface="Arial"/>
              </a:rPr>
              <a:t>0,82 млн руб.</a:t>
            </a:r>
          </a:p>
        </p:txBody>
      </p:sp>
      <p:sp>
        <p:nvSpPr>
          <p:cNvPr id="44" name="TextBox 43"/>
          <p:cNvSpPr txBox="1"/>
          <p:nvPr/>
        </p:nvSpPr>
        <p:spPr>
          <a:xfrm>
            <a:off x="8385048" y="5356987"/>
            <a:ext cx="3108960" cy="242125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3000"/>
              </a:lnSpc>
              <a:spcBef>
                <a:spcPts val="0"/>
              </a:spcBef>
              <a:spcAft>
                <a:spcPts val="0"/>
              </a:spcAft>
            </a:pPr>
            <a:r>
              <a:rPr sz="1050" b="1" i="0">
                <a:solidFill>
                  <a:srgbClr val="E8823A"/>
                </a:solidFill>
                <a:latin typeface="Arial"/>
              </a:rPr>
              <a:t>11,5 млн руб.</a:t>
            </a:r>
          </a:p>
        </p:txBody>
      </p:sp>
      <p:sp>
        <p:nvSpPr>
          <p:cNvPr id="45" name="TextBox 44"/>
          <p:cNvSpPr txBox="1"/>
          <p:nvPr/>
        </p:nvSpPr>
        <p:spPr>
          <a:xfrm>
            <a:off x="566928" y="5653976"/>
            <a:ext cx="11055096" cy="256032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0"/>
              </a:spcAft>
            </a:pPr>
            <a:r>
              <a:rPr sz="1000" b="1">
                <a:solidFill>
                  <a:srgbClr val="E8705F"/>
                </a:solidFill>
                <a:latin typeface="Arial"/>
              </a:rPr>
              <a:t>Условие рядом с суммой:  </a:t>
            </a:r>
            <a:r>
              <a:rPr sz="1000" b="0">
                <a:solidFill>
                  <a:srgbClr val="D4DBE1"/>
                </a:solidFill>
                <a:latin typeface="Arial"/>
              </a:rPr>
              <a:t>без влияния задержки на критический путь эффекта нет. Проценты по долгу — не гарантированная экономия от использования продукта.</a:t>
            </a:r>
          </a:p>
        </p:txBody>
      </p:sp>
      <p:sp>
        <p:nvSpPr>
          <p:cNvPr id="46" name="TextBox 45"/>
          <p:cNvSpPr txBox="1"/>
          <p:nvPr/>
        </p:nvSpPr>
        <p:spPr>
          <a:xfrm>
            <a:off x="566928" y="5946584"/>
            <a:ext cx="11055096" cy="457200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6000"/>
              </a:lnSpc>
              <a:spcBef>
                <a:spcPts val="0"/>
              </a:spcBef>
              <a:spcAft>
                <a:spcPts val="0"/>
              </a:spcAft>
            </a:pPr>
            <a:r>
              <a:rPr sz="1100" b="1" i="0">
                <a:solidFill>
                  <a:srgbClr val="FFFFFF"/>
                </a:solidFill>
                <a:latin typeface="Arial"/>
              </a:rPr>
              <a:t>Три допущения названы прямо: ставка проектного финансирования вместо ключевой, проценты на фактический долг, 14 календарных дней в примере.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566928" y="6440360"/>
            <a:ext cx="9820656" cy="219456"/>
          </a:xfrm>
          <a:prstGeom prst="rect">
            <a:avLst/>
          </a:prstGeom>
          <a:noFill/>
        </p:spPr>
        <p:txBody>
          <a:bodyPr wrap="square" lIns="0" tIns="0" r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0"/>
              </a:spcAft>
            </a:pPr>
            <a:r>
              <a:rPr sz="800" b="0" i="0">
                <a:solidFill>
                  <a:srgbClr val="79828A"/>
                </a:solidFill>
                <a:latin typeface="Arial"/>
              </a:rPr>
              <a:t>Атрибуции исходной версии: ЦБ РФ — ставки проектного финансирования и ключевая ставка 14,00 % с 11.09.2026; Банк России — эскроу на 01.07.2026; открытая статистика себестоимости 2026.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Тема Office">
  <a:themeElements>
    <a:clrScheme name="Стандартная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Стандартная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Стандартная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54</TotalTime>
  <Words>11328</Words>
  <Application>Microsoft Office PowerPoint</Application>
  <PresentationFormat>Широкоэкранный</PresentationFormat>
  <Paragraphs>1237</Paragraphs>
  <Slides>43</Slides>
  <Notes>43</Notes>
  <HiddenSlides>0</HiddenSlides>
  <MMClips>0</MMClips>
  <ScaleCrop>false</ScaleCrop>
  <HeadingPairs>
    <vt:vector size="6" baseType="variant">
      <vt:variant>
        <vt:lpstr>Использованные шрифты</vt:lpstr>
      </vt:variant>
      <vt:variant>
        <vt:i4>2</vt:i4>
      </vt:variant>
      <vt:variant>
        <vt:lpstr>Тема</vt:lpstr>
      </vt:variant>
      <vt:variant>
        <vt:i4>1</vt:i4>
      </vt:variant>
      <vt:variant>
        <vt:lpstr>Заголовки слайдов</vt:lpstr>
      </vt:variant>
      <vt:variant>
        <vt:i4>43</vt:i4>
      </vt:variant>
    </vt:vector>
  </HeadingPairs>
  <TitlesOfParts>
    <vt:vector size="46" baseType="lpstr">
      <vt:lpstr>Arial</vt:lpstr>
      <vt:lpstr>Calibri</vt:lpstr>
      <vt:lpstr>Office Theme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  <vt:lpstr>Презентация PowerPoint</vt:lpstr>
    </vt:vector>
  </TitlesOfParts>
  <Manager/>
  <Company/>
  <LinksUpToDate>false</LinksUpToDate>
  <SharedDoc>false</SharedDoc>
  <HyperlinkBase/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>Пользователь</dc:creator>
  <cp:keywords/>
  <dc:description>generated using python-pptx</dc:description>
  <cp:lastModifiedBy>Ivan Ivanov</cp:lastModifiedBy>
  <cp:revision>8</cp:revision>
  <dcterms:created xsi:type="dcterms:W3CDTF">2013-01-27T09:14:16Z</dcterms:created>
  <dcterms:modified xsi:type="dcterms:W3CDTF">2026-09-18T00:15:51Z</dcterms:modified>
  <cp:category/>
</cp:coreProperties>
</file>