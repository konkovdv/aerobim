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256032"/>
            <a:ext cx="5303520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000" b="1">
                <a:solidFill>
                  <a:srgbClr val="F4A05B"/>
                </a:solidFill>
                <a:latin typeface="Aptos Mono"/>
              </a:rPr>
              <a:t>ТЕХЛАБ МОСКВА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256032"/>
            <a:ext cx="3657600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r"/>
            <a:r>
              <a:rPr sz="900" b="0">
                <a:solidFill>
                  <a:srgbClr val="AEB9BD"/>
                </a:solidFill>
                <a:latin typeface="Aptos Mono"/>
              </a:rPr>
              <a:t>КТ#2 · 20.08.2026 · ЗАДАЧА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6492240"/>
            <a:ext cx="822960" cy="20116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r"/>
            <a:r>
              <a:rPr sz="800" b="0">
                <a:solidFill>
                  <a:srgbClr val="AEB9BD"/>
                </a:solidFill>
                <a:latin typeface="Aptos Mono"/>
              </a:rPr>
              <a:t>01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71600"/>
            <a:ext cx="10789920" cy="109728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4700" b="1">
                <a:solidFill>
                  <a:srgbClr val="F6F7F7"/>
                </a:solidFill>
                <a:latin typeface="Aptos Display"/>
              </a:rPr>
              <a:t>Проверяем
</a:t>
            </a:r>
            <a:r>
              <a:rPr sz="4700" b="1">
                <a:solidFill>
                  <a:srgbClr val="F4A05B"/>
                </a:solidFill>
                <a:latin typeface="Aptos Display"/>
              </a:rPr>
              <a:t>не слова,</a:t>
            </a:r>
            <a:r>
              <a:rPr sz="4700" b="1">
                <a:solidFill>
                  <a:srgbClr val="F6F7F7"/>
                </a:solidFill>
                <a:latin typeface="Aptos Display"/>
              </a:rPr>
              <a:t>
а комплект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3886200"/>
            <a:ext cx="7863840" cy="65836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900" b="0">
                <a:solidFill>
                  <a:srgbClr val="D6DFE1"/>
                </a:solidFill>
                <a:latin typeface="Aptos"/>
              </a:rPr>
              <a:t>Связываем требование, правило, объект и доказательство. Окончательное решение остаётся за экспертом.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5074920"/>
            <a:ext cx="4663440" cy="658368"/>
          </a:xfrm>
          <a:prstGeom prst="roundRect">
            <a:avLst>
              <a:gd name="adj" fmla="val 12000"/>
            </a:avLst>
          </a:prstGeom>
          <a:solidFill>
            <a:srgbClr val="36261B"/>
          </a:solidFill>
          <a:ln>
            <a:solidFill>
              <a:srgbClr val="F4A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5202936"/>
            <a:ext cx="1170432" cy="3200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2200" b="1">
                <a:solidFill>
                  <a:srgbClr val="F4A05B"/>
                </a:solidFill>
                <a:latin typeface="Aptos Display"/>
              </a:rPr>
              <a:t>GO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5202936"/>
            <a:ext cx="3017520" cy="3200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200" b="0">
                <a:solidFill>
                  <a:srgbClr val="F6F7F7"/>
                </a:solidFill>
                <a:latin typeface="Aptos"/>
              </a:rPr>
              <a:t>Checkpoint GO · customer_go false · показ на учебном комплекте</a:t>
            </a:r>
          </a:p>
        </p:txBody>
      </p:sp>
      <p:sp>
        <p:nvSpPr>
          <p:cNvPr id="10" name="Oval 9"/>
          <p:cNvSpPr/>
          <p:nvPr/>
        </p:nvSpPr>
        <p:spPr>
          <a:xfrm>
            <a:off x="8595360" y="1417320"/>
            <a:ext cx="2423160" cy="2423160"/>
          </a:xfrm>
          <a:prstGeom prst="ellipse">
            <a:avLst/>
          </a:prstGeom>
          <a:noFill/>
          <a:ln w="19050">
            <a:solidFill>
              <a:srgbClr val="F4A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418320" y="2240280"/>
            <a:ext cx="777240" cy="777240"/>
          </a:xfrm>
          <a:prstGeom prst="roundRect">
            <a:avLst>
              <a:gd name="adj" fmla="val 12000"/>
            </a:avLst>
          </a:prstGeom>
          <a:solidFill>
            <a:srgbClr val="F4A05B"/>
          </a:solidFill>
          <a:ln>
            <a:solidFill>
              <a:srgbClr val="F4A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256032"/>
            <a:ext cx="5303520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000" b="1">
                <a:solidFill>
                  <a:srgbClr val="F4A05B"/>
                </a:solidFill>
                <a:latin typeface="Aptos Mono"/>
              </a:rPr>
              <a:t>01 · ПРОБЛЕМА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256032"/>
            <a:ext cx="3657600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r"/>
            <a:r>
              <a:rPr sz="900" b="0">
                <a:solidFill>
                  <a:srgbClr val="AEB9BD"/>
                </a:solidFill>
                <a:latin typeface="Aptos Mono"/>
              </a:rPr>
              <a:t>Где возникает ошибка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6492240"/>
            <a:ext cx="822960" cy="20116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r"/>
            <a:r>
              <a:rPr sz="800" b="0">
                <a:solidFill>
                  <a:srgbClr val="AEB9BD"/>
                </a:solidFill>
                <a:latin typeface="Aptos Mono"/>
              </a:rPr>
              <a:t>02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188720"/>
            <a:ext cx="10789920" cy="109728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3800" b="1">
                <a:solidFill>
                  <a:srgbClr val="F6F7F7"/>
                </a:solidFill>
                <a:latin typeface="Aptos Display"/>
              </a:rPr>
              <a:t>Каждый файл может быть в порядке.
</a:t>
            </a:r>
            <a:r>
              <a:rPr sz="3800" b="1">
                <a:solidFill>
                  <a:srgbClr val="F4A05B"/>
                </a:solidFill>
                <a:latin typeface="Aptos Display"/>
              </a:rPr>
              <a:t>Комплект нет.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468880"/>
            <a:ext cx="10332720" cy="7315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700" b="0">
                <a:solidFill>
                  <a:srgbClr val="D6DFE1"/>
                </a:solidFill>
                <a:latin typeface="Aptos"/>
              </a:rPr>
              <a:t>Расхождение появляется между моделью, чертежом, ведомостью, ТЗ и расчётным материалом. Эксперт находит его ручной сверкой в нескольких программах.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3749039"/>
            <a:ext cx="3337560" cy="1417320"/>
          </a:xfrm>
          <a:prstGeom prst="roundRect">
            <a:avLst>
              <a:gd name="adj" fmla="val 12000"/>
            </a:avLst>
          </a:prstGeom>
          <a:solidFill>
            <a:srgbClr val="152027"/>
          </a:solidFill>
          <a:ln>
            <a:solidFill>
              <a:srgbClr val="2B39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41832" y="3913631"/>
            <a:ext cx="2880360" cy="4114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800" b="1">
                <a:solidFill>
                  <a:srgbClr val="F4A05B"/>
                </a:solidFill>
                <a:latin typeface="Aptos Display"/>
              </a:rPr>
              <a:t>Модель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4407407"/>
            <a:ext cx="2880360" cy="59436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300" b="0">
                <a:solidFill>
                  <a:srgbClr val="F6F7F7"/>
                </a:solidFill>
                <a:latin typeface="Aptos"/>
              </a:rPr>
              <a:t>Свойство отсутствует, единица неверна, версия не та.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7408" y="3749039"/>
            <a:ext cx="3337560" cy="1417320"/>
          </a:xfrm>
          <a:prstGeom prst="roundRect">
            <a:avLst>
              <a:gd name="adj" fmla="val 12000"/>
            </a:avLst>
          </a:prstGeom>
          <a:solidFill>
            <a:srgbClr val="152027"/>
          </a:solidFill>
          <a:ln>
            <a:solidFill>
              <a:srgbClr val="2B39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36008" y="3913631"/>
            <a:ext cx="2880360" cy="4114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800" b="1">
                <a:solidFill>
                  <a:srgbClr val="76C9BF"/>
                </a:solidFill>
                <a:latin typeface="Aptos Display"/>
              </a:rPr>
              <a:t>Документ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6008" y="4407407"/>
            <a:ext cx="2880360" cy="59436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300" b="0">
                <a:solidFill>
                  <a:srgbClr val="F6F7F7"/>
                </a:solidFill>
                <a:latin typeface="Aptos"/>
              </a:rPr>
              <a:t>Число или обозначение не совпадает с моделью.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01583" y="3749039"/>
            <a:ext cx="3337560" cy="1417320"/>
          </a:xfrm>
          <a:prstGeom prst="roundRect">
            <a:avLst>
              <a:gd name="adj" fmla="val 12000"/>
            </a:avLst>
          </a:prstGeom>
          <a:solidFill>
            <a:srgbClr val="152027"/>
          </a:solidFill>
          <a:ln>
            <a:solidFill>
              <a:srgbClr val="2B39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30183" y="3913631"/>
            <a:ext cx="2880360" cy="4114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800" b="1">
                <a:solidFill>
                  <a:srgbClr val="F4A05B"/>
                </a:solidFill>
                <a:latin typeface="Aptos Display"/>
              </a:rPr>
              <a:t>Решение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0183" y="4407407"/>
            <a:ext cx="2880360" cy="59436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300" b="0">
                <a:solidFill>
                  <a:srgbClr val="F6F7F7"/>
                </a:solidFill>
                <a:latin typeface="Aptos"/>
              </a:rPr>
              <a:t>Замечание нужно подтвердить, отклонить или исправить.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256032"/>
            <a:ext cx="5303520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000" b="1">
                <a:solidFill>
                  <a:srgbClr val="F4A05B"/>
                </a:solidFill>
                <a:latin typeface="Aptos Mono"/>
              </a:rPr>
              <a:t>02 · РЕШЕНИЕ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256032"/>
            <a:ext cx="3657600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r"/>
            <a:r>
              <a:rPr sz="900" b="0">
                <a:solidFill>
                  <a:srgbClr val="AEB9BD"/>
                </a:solidFill>
                <a:latin typeface="Aptos Mono"/>
              </a:rPr>
              <a:t>Один проверяемый сценарий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6492240"/>
            <a:ext cx="822960" cy="20116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r"/>
            <a:r>
              <a:rPr sz="800" b="0">
                <a:solidFill>
                  <a:srgbClr val="AEB9BD"/>
                </a:solidFill>
                <a:latin typeface="Aptos Mono"/>
              </a:rPr>
              <a:t>03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143000"/>
            <a:ext cx="10789920" cy="109728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3900" b="1">
                <a:solidFill>
                  <a:srgbClr val="F6F7F7"/>
                </a:solidFill>
                <a:latin typeface="Aptos Display"/>
              </a:rPr>
              <a:t>Проверка IFC-пакета
</a:t>
            </a:r>
            <a:r>
              <a:rPr sz="3900" b="1">
                <a:solidFill>
                  <a:srgbClr val="76C9BF"/>
                </a:solidFill>
                <a:latin typeface="Aptos Display"/>
              </a:rPr>
              <a:t>перед согласованием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2788920"/>
            <a:ext cx="2514600" cy="1417320"/>
          </a:xfrm>
          <a:prstGeom prst="roundRect">
            <a:avLst>
              <a:gd name="adj" fmla="val 12000"/>
            </a:avLst>
          </a:prstGeom>
          <a:solidFill>
            <a:srgbClr val="152027"/>
          </a:solidFill>
          <a:ln>
            <a:solidFill>
              <a:srgbClr val="2B39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41832" y="2953512"/>
            <a:ext cx="2057400" cy="4114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800" b="1">
                <a:solidFill>
                  <a:srgbClr val="F4A05B"/>
                </a:solidFill>
                <a:latin typeface="Aptos Display"/>
              </a:rPr>
              <a:t>Требование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3447287"/>
            <a:ext cx="2057400" cy="59436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300" b="0">
                <a:solidFill>
                  <a:srgbClr val="F6F7F7"/>
                </a:solidFill>
                <a:latin typeface="Aptos"/>
              </a:rPr>
              <a:t>Что должно быть в комплекте.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9584" y="2788920"/>
            <a:ext cx="2514600" cy="1417320"/>
          </a:xfrm>
          <a:prstGeom prst="roundRect">
            <a:avLst>
              <a:gd name="adj" fmla="val 12000"/>
            </a:avLst>
          </a:prstGeom>
          <a:solidFill>
            <a:srgbClr val="152027"/>
          </a:solidFill>
          <a:ln>
            <a:solidFill>
              <a:srgbClr val="2B39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758184" y="2953512"/>
            <a:ext cx="2057400" cy="4114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800" b="1">
                <a:solidFill>
                  <a:srgbClr val="76C9BF"/>
                </a:solidFill>
                <a:latin typeface="Aptos Display"/>
              </a:rPr>
              <a:t>Правило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58184" y="3447287"/>
            <a:ext cx="2057400" cy="59436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300" b="0">
                <a:solidFill>
                  <a:srgbClr val="F6F7F7"/>
                </a:solidFill>
                <a:latin typeface="Aptos"/>
              </a:rPr>
              <a:t>Как это проверить одинаково.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45936" y="2788920"/>
            <a:ext cx="2514600" cy="1417320"/>
          </a:xfrm>
          <a:prstGeom prst="roundRect">
            <a:avLst>
              <a:gd name="adj" fmla="val 12000"/>
            </a:avLst>
          </a:prstGeom>
          <a:solidFill>
            <a:srgbClr val="152027"/>
          </a:solidFill>
          <a:ln>
            <a:solidFill>
              <a:srgbClr val="2B39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74536" y="2953512"/>
            <a:ext cx="2057400" cy="4114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800" b="1">
                <a:solidFill>
                  <a:srgbClr val="F4A05B"/>
                </a:solidFill>
                <a:latin typeface="Aptos Display"/>
              </a:rPr>
              <a:t>Объект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74536" y="3447287"/>
            <a:ext cx="2057400" cy="59436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300" b="0">
                <a:solidFill>
                  <a:srgbClr val="F6F7F7"/>
                </a:solidFill>
                <a:latin typeface="Aptos"/>
              </a:rPr>
              <a:t>Конкретный GUID, лист или источник.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62288" y="2788920"/>
            <a:ext cx="2514600" cy="1417320"/>
          </a:xfrm>
          <a:prstGeom prst="roundRect">
            <a:avLst>
              <a:gd name="adj" fmla="val 12000"/>
            </a:avLst>
          </a:prstGeom>
          <a:solidFill>
            <a:srgbClr val="152027"/>
          </a:solidFill>
          <a:ln>
            <a:solidFill>
              <a:srgbClr val="2B39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390888" y="2953512"/>
            <a:ext cx="2057400" cy="4114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800" b="1">
                <a:solidFill>
                  <a:srgbClr val="76C9BF"/>
                </a:solidFill>
                <a:latin typeface="Aptos Display"/>
              </a:rPr>
              <a:t>Доказательство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90888" y="3447287"/>
            <a:ext cx="2057400" cy="59436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300" b="0">
                <a:solidFill>
                  <a:srgbClr val="F6F7F7"/>
                </a:solidFill>
                <a:latin typeface="Aptos"/>
              </a:rPr>
              <a:t>Отчёт, ссылка, ожидаемое и фактическое значение.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13232" y="4800600"/>
            <a:ext cx="10744200" cy="777240"/>
          </a:xfrm>
          <a:prstGeom prst="rect">
            <a:avLst/>
          </a:prstGeom>
          <a:solidFill>
            <a:srgbClr val="2A1F18"/>
          </a:solidFill>
          <a:ln>
            <a:solidFill>
              <a:srgbClr val="F4A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32688" y="4965192"/>
            <a:ext cx="10241280" cy="38404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500" b="0">
                <a:solidFill>
                  <a:srgbClr val="F6F7F7"/>
                </a:solidFill>
                <a:latin typeface="Aptos"/>
              </a:rPr>
              <a:t>Сейчас этот сценарий показан на учебном комплекте. AeroBIM не заменяет 10D, Tangl, Renga, СОД или эксперта.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256032"/>
            <a:ext cx="5303520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000" b="1">
                <a:solidFill>
                  <a:srgbClr val="F4A05B"/>
                </a:solidFill>
                <a:latin typeface="Aptos Mono"/>
              </a:rPr>
              <a:t>03 · КАК РАБОТАЕТ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256032"/>
            <a:ext cx="3657600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r"/>
            <a:r>
              <a:rPr sz="900" b="0">
                <a:solidFill>
                  <a:srgbClr val="AEB9BD"/>
                </a:solidFill>
                <a:latin typeface="Aptos Mono"/>
              </a:rPr>
              <a:t>Без чёрного ящика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6492240"/>
            <a:ext cx="822960" cy="20116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r"/>
            <a:r>
              <a:rPr sz="800" b="0">
                <a:solidFill>
                  <a:srgbClr val="AEB9BD"/>
                </a:solidFill>
                <a:latin typeface="Aptos Mono"/>
              </a:rPr>
              <a:t>04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143000"/>
            <a:ext cx="10789920" cy="109728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4100" b="1">
                <a:solidFill>
                  <a:srgbClr val="F6F7F7"/>
                </a:solidFill>
                <a:latin typeface="Aptos Display"/>
              </a:rPr>
              <a:t>Сначала правила.
</a:t>
            </a:r>
            <a:r>
              <a:rPr sz="4100" b="1">
                <a:solidFill>
                  <a:srgbClr val="F4A05B"/>
                </a:solidFill>
                <a:latin typeface="Aptos Display"/>
              </a:rPr>
              <a:t>Потом подсказки.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2743200"/>
            <a:ext cx="5166360" cy="2240280"/>
          </a:xfrm>
          <a:prstGeom prst="roundRect">
            <a:avLst>
              <a:gd name="adj" fmla="val 12000"/>
            </a:avLst>
          </a:prstGeom>
          <a:solidFill>
            <a:srgbClr val="152027"/>
          </a:solidFill>
          <a:ln>
            <a:solidFill>
              <a:srgbClr val="2B39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41832" y="2907792"/>
            <a:ext cx="4709160" cy="4114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800" b="1">
                <a:solidFill>
                  <a:srgbClr val="F4A05B"/>
                </a:solidFill>
                <a:latin typeface="Aptos Display"/>
              </a:rPr>
              <a:t>Технический результат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3401568"/>
            <a:ext cx="4709160" cy="14173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300" b="0">
                <a:solidFill>
                  <a:srgbClr val="F6F7F7"/>
                </a:solidFill>
                <a:latin typeface="Aptos"/>
              </a:rPr>
              <a:t>Детерминированные проверки: IFC, IDS, свойства, количества, сопоставление документов. Обязательная непройденная проверка становится FAILED и блокирует результат.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2" y="2743200"/>
            <a:ext cx="5166360" cy="2240280"/>
          </a:xfrm>
          <a:prstGeom prst="roundRect">
            <a:avLst>
              <a:gd name="adj" fmla="val 12000"/>
            </a:avLst>
          </a:prstGeom>
          <a:solidFill>
            <a:srgbClr val="152027"/>
          </a:solidFill>
          <a:ln>
            <a:solidFill>
              <a:srgbClr val="2B39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28232" y="2907792"/>
            <a:ext cx="4709160" cy="4114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800" b="1">
                <a:solidFill>
                  <a:srgbClr val="76C9BF"/>
                </a:solidFill>
                <a:latin typeface="Aptos Display"/>
              </a:rPr>
              <a:t>Помощь эксперту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28232" y="3401568"/>
            <a:ext cx="4709160" cy="14173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300" b="0">
                <a:solidFill>
                  <a:srgbClr val="F6F7F7"/>
                </a:solidFill>
                <a:latin typeface="Aptos"/>
              </a:rPr>
              <a:t>Извлечение текста и кандидатов, черновик формулировки замечания. Не меняет итоговый технический флаг.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669280"/>
            <a:ext cx="4572000" cy="2743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200" b="0">
                <a:solidFill>
                  <a:srgbClr val="AEB9BD"/>
                </a:solidFill>
                <a:latin typeface="Aptos Mono"/>
              </a:rPr>
              <a:t>Правило закреплено в ADR-001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256032"/>
            <a:ext cx="5303520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000" b="1">
                <a:solidFill>
                  <a:srgbClr val="F4A05B"/>
                </a:solidFill>
                <a:latin typeface="Aptos Mono"/>
              </a:rPr>
              <a:t>04 · ЖИВОЙ ПОКАЗ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256032"/>
            <a:ext cx="3657600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r"/>
            <a:r>
              <a:rPr sz="900" b="0">
                <a:solidFill>
                  <a:srgbClr val="AEB9BD"/>
                </a:solidFill>
                <a:latin typeface="Aptos Mono"/>
              </a:rPr>
              <a:t>Терминал, не снимок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6492240"/>
            <a:ext cx="822960" cy="20116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r"/>
            <a:r>
              <a:rPr sz="800" b="0">
                <a:solidFill>
                  <a:srgbClr val="AEB9BD"/>
                </a:solidFill>
                <a:latin typeface="Aptos Mono"/>
              </a:rPr>
              <a:t>05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078992"/>
            <a:ext cx="4572000" cy="2743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200" b="1">
                <a:solidFill>
                  <a:srgbClr val="F4A05B"/>
                </a:solidFill>
                <a:latin typeface="Aptos Mono"/>
              </a:rPr>
              <a:t>ОСНОВНАЯ КОМАНДА КТ#2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417320"/>
            <a:ext cx="10789920" cy="109728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4300" b="1">
                <a:solidFill>
                  <a:srgbClr val="F6F7F7"/>
                </a:solidFill>
                <a:latin typeface="Aptos Display"/>
              </a:rPr>
              <a:t>Одна команда.
</a:t>
            </a:r>
            <a:r>
              <a:rPr sz="4300" b="1">
                <a:solidFill>
                  <a:srgbClr val="76C9BF"/>
                </a:solidFill>
                <a:latin typeface="Aptos Display"/>
              </a:rPr>
              <a:t>Одна находка.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2880360"/>
            <a:ext cx="10789920" cy="2057400"/>
          </a:xfrm>
          <a:prstGeom prst="roundRect">
            <a:avLst>
              <a:gd name="adj" fmla="val 12000"/>
            </a:avLst>
          </a:prstGeom>
          <a:solidFill>
            <a:srgbClr val="04080A"/>
          </a:solidFill>
          <a:ln>
            <a:solidFill>
              <a:srgbClr val="2B39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87552" y="3182112"/>
            <a:ext cx="10241280" cy="148132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600" b="0">
                <a:solidFill>
                  <a:srgbClr val="F6F7F7"/>
                </a:solidFill>
                <a:latin typeface="Aptos Mono"/>
              </a:rPr>
              <a:t>$ python -m aerobim.tools.run_demo_ifc_acceptance_gate</a:t>
            </a:r>
            <a:br/>
            <a:br/>
            <a:r>
              <a:rPr sz="1600" b="0">
                <a:solidFill>
                  <a:srgbClr val="F6F7F7"/>
                </a:solidFill>
                <a:latin typeface="Aptos Mono"/>
              </a:rPr>
              <a:t>IFC + IDS → finding</a:t>
            </a:r>
            <a:br/>
            <a:r>
              <a:rPr sz="1600" b="0">
                <a:solidFill>
                  <a:srgbClr val="F6F7F7"/>
                </a:solidFill>
                <a:latin typeface="Aptos Mono"/>
              </a:rPr>
              <a:t>GUID → правило → ожидаемое / фактическое значение → доказательство</a:t>
            </a:r>
            <a:br/>
            <a:r>
              <a:rPr sz="1600" b="0">
                <a:solidFill>
                  <a:srgbClr val="F6F7F7"/>
                </a:solidFill>
                <a:latin typeface="Aptos Mono"/>
              </a:rPr>
              <a:t>summary.passed = false
Это технический флаг настроенного Shared-gate, не решение эксперта и не разрешение на стройку.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349240"/>
            <a:ext cx="10515600" cy="5486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500" b="0" dirty="0" err="1">
                <a:solidFill>
                  <a:srgbClr val="AEB9BD"/>
                </a:solidFill>
                <a:latin typeface="Aptos"/>
              </a:rPr>
              <a:t>Ожидаемо</a:t>
            </a:r>
            <a:r>
              <a:rPr sz="1500" b="0" dirty="0">
                <a:solidFill>
                  <a:srgbClr val="AEB9BD"/>
                </a:solidFill>
                <a:latin typeface="Aptos"/>
              </a:rPr>
              <a:t>: в </a:t>
            </a:r>
            <a:r>
              <a:rPr sz="1500" b="0" dirty="0" err="1">
                <a:solidFill>
                  <a:srgbClr val="AEB9BD"/>
                </a:solidFill>
                <a:latin typeface="Aptos"/>
              </a:rPr>
              <a:t>учебной</a:t>
            </a:r>
            <a:r>
              <a:rPr sz="1500" b="0" dirty="0">
                <a:solidFill>
                  <a:srgbClr val="AEB9BD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AEB9BD"/>
                </a:solidFill>
                <a:latin typeface="Aptos"/>
              </a:rPr>
              <a:t>фикстуре</a:t>
            </a:r>
            <a:r>
              <a:rPr sz="1500" b="0" dirty="0">
                <a:solidFill>
                  <a:srgbClr val="AEB9BD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AEB9BD"/>
                </a:solidFill>
                <a:latin typeface="Aptos"/>
              </a:rPr>
              <a:t>заранее</a:t>
            </a:r>
            <a:r>
              <a:rPr sz="1500" b="0" dirty="0">
                <a:solidFill>
                  <a:srgbClr val="AEB9BD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AEB9BD"/>
                </a:solidFill>
                <a:latin typeface="Aptos"/>
              </a:rPr>
              <a:t>заложен</a:t>
            </a:r>
            <a:r>
              <a:rPr sz="1500" b="0" dirty="0">
                <a:solidFill>
                  <a:srgbClr val="AEB9BD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AEB9BD"/>
                </a:solidFill>
                <a:latin typeface="Aptos"/>
              </a:rPr>
              <a:t>дефект</a:t>
            </a:r>
            <a:r>
              <a:rPr sz="1500" b="0" dirty="0">
                <a:solidFill>
                  <a:srgbClr val="AEB9BD"/>
                </a:solidFill>
                <a:latin typeface="Aptos"/>
              </a:rPr>
              <a:t>. </a:t>
            </a:r>
            <a:r>
              <a:rPr sz="1500" b="0" dirty="0" err="1">
                <a:solidFill>
                  <a:srgbClr val="AEB9BD"/>
                </a:solidFill>
                <a:latin typeface="Aptos"/>
              </a:rPr>
              <a:t>Наложение</a:t>
            </a:r>
            <a:r>
              <a:rPr sz="1500" b="0" dirty="0">
                <a:solidFill>
                  <a:srgbClr val="AEB9BD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AEB9BD"/>
                </a:solidFill>
                <a:latin typeface="Aptos"/>
              </a:rPr>
              <a:t>на</a:t>
            </a:r>
            <a:r>
              <a:rPr sz="1500" b="0" dirty="0">
                <a:solidFill>
                  <a:srgbClr val="AEB9BD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AEB9BD"/>
                </a:solidFill>
                <a:latin typeface="Aptos"/>
              </a:rPr>
              <a:t>чертёж</a:t>
            </a:r>
            <a:r>
              <a:rPr sz="1500" b="0" dirty="0">
                <a:solidFill>
                  <a:srgbClr val="AEB9BD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AEB9BD"/>
                </a:solidFill>
                <a:latin typeface="Aptos"/>
              </a:rPr>
              <a:t>показывается</a:t>
            </a:r>
            <a:r>
              <a:rPr sz="1500" b="0" dirty="0">
                <a:solidFill>
                  <a:srgbClr val="AEB9BD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AEB9BD"/>
                </a:solidFill>
                <a:latin typeface="Aptos"/>
              </a:rPr>
              <a:t>отдельно</a:t>
            </a:r>
            <a:r>
              <a:rPr sz="1500" b="0" dirty="0">
                <a:solidFill>
                  <a:srgbClr val="AEB9BD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AEB9BD"/>
                </a:solidFill>
                <a:latin typeface="Aptos"/>
              </a:rPr>
              <a:t>как</a:t>
            </a:r>
            <a:r>
              <a:rPr sz="1500" b="0" dirty="0">
                <a:solidFill>
                  <a:srgbClr val="AEB9BD"/>
                </a:solidFill>
                <a:latin typeface="Aptos"/>
              </a:rPr>
              <a:t> P1 </a:t>
            </a:r>
            <a:r>
              <a:rPr sz="1500" b="0" dirty="0" err="1">
                <a:solidFill>
                  <a:srgbClr val="AEB9BD"/>
                </a:solidFill>
                <a:latin typeface="Aptos"/>
              </a:rPr>
              <a:t>того</a:t>
            </a:r>
            <a:r>
              <a:rPr sz="1500" b="0" dirty="0">
                <a:solidFill>
                  <a:srgbClr val="AEB9BD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AEB9BD"/>
                </a:solidFill>
                <a:latin typeface="Aptos"/>
              </a:rPr>
              <a:t>же</a:t>
            </a:r>
            <a:r>
              <a:rPr sz="1500" b="0" dirty="0">
                <a:solidFill>
                  <a:srgbClr val="AEB9BD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AEB9BD"/>
                </a:solidFill>
                <a:latin typeface="Aptos"/>
              </a:rPr>
              <a:t>конвейера</a:t>
            </a:r>
            <a:r>
              <a:rPr sz="1500" b="0" dirty="0">
                <a:solidFill>
                  <a:srgbClr val="AEB9BD"/>
                </a:solidFill>
                <a:latin typeface="Aptos"/>
              </a:rPr>
              <a:t>. </a:t>
            </a:r>
            <a:r>
              <a:rPr sz="1500" b="0" dirty="0" err="1">
                <a:solidFill>
                  <a:srgbClr val="AEB9BD"/>
                </a:solidFill>
                <a:latin typeface="Aptos"/>
              </a:rPr>
              <a:t>Снимок</a:t>
            </a:r>
            <a:r>
              <a:rPr sz="1500" b="0" dirty="0">
                <a:solidFill>
                  <a:srgbClr val="AEB9BD"/>
                </a:solidFill>
                <a:latin typeface="Aptos"/>
              </a:rPr>
              <a:t> HTML </a:t>
            </a:r>
            <a:r>
              <a:rPr sz="1500" b="0" dirty="0" err="1">
                <a:solidFill>
                  <a:srgbClr val="AEB9BD"/>
                </a:solidFill>
                <a:latin typeface="Aptos"/>
              </a:rPr>
              <a:t>не</a:t>
            </a:r>
            <a:r>
              <a:rPr sz="1500" b="0" dirty="0">
                <a:solidFill>
                  <a:srgbClr val="AEB9BD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AEB9BD"/>
                </a:solidFill>
                <a:latin typeface="Aptos"/>
              </a:rPr>
              <a:t>используем</a:t>
            </a:r>
            <a:r>
              <a:rPr sz="1500" b="0" dirty="0">
                <a:solidFill>
                  <a:srgbClr val="AEB9BD"/>
                </a:solidFill>
                <a:latin typeface="Aptos"/>
              </a:rPr>
              <a:t>: </a:t>
            </a:r>
            <a:r>
              <a:rPr sz="1500" b="0" dirty="0" err="1">
                <a:solidFill>
                  <a:srgbClr val="AEB9BD"/>
                </a:solidFill>
                <a:latin typeface="Aptos"/>
              </a:rPr>
              <a:t>показываем</a:t>
            </a:r>
            <a:r>
              <a:rPr sz="1500" b="0" dirty="0">
                <a:solidFill>
                  <a:srgbClr val="AEB9BD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AEB9BD"/>
                </a:solidFill>
                <a:latin typeface="Aptos"/>
              </a:rPr>
              <a:t>живую</a:t>
            </a:r>
            <a:r>
              <a:rPr sz="1500" b="0" dirty="0">
                <a:solidFill>
                  <a:srgbClr val="AEB9BD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AEB9BD"/>
                </a:solidFill>
                <a:latin typeface="Aptos"/>
              </a:rPr>
              <a:t>команду</a:t>
            </a:r>
            <a:r>
              <a:rPr sz="1500" b="0" dirty="0">
                <a:solidFill>
                  <a:srgbClr val="AEB9BD"/>
                </a:solidFill>
                <a:latin typeface="Aptos"/>
              </a:rPr>
              <a:t> в </a:t>
            </a:r>
            <a:r>
              <a:rPr sz="1500" b="0" dirty="0" err="1">
                <a:solidFill>
                  <a:srgbClr val="AEB9BD"/>
                </a:solidFill>
                <a:latin typeface="Aptos"/>
              </a:rPr>
              <a:t>терминале</a:t>
            </a:r>
            <a:r>
              <a:rPr sz="1500" b="0" dirty="0">
                <a:solidFill>
                  <a:srgbClr val="AEB9BD"/>
                </a:solidFill>
                <a:latin typeface="Aptos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648760"/>
            <a:ext cx="10241280" cy="461665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br>
              <a:rPr lang="ru-RU" sz="1200" b="0" dirty="0">
                <a:solidFill>
                  <a:srgbClr val="AEB9BD"/>
                </a:solidFill>
                <a:latin typeface="Aptos"/>
              </a:rPr>
            </a:br>
            <a:r>
              <a:rPr sz="1200" b="0" dirty="0" err="1">
                <a:solidFill>
                  <a:srgbClr val="AEB9BD"/>
                </a:solidFill>
                <a:latin typeface="Aptos"/>
              </a:rPr>
              <a:t>На</a:t>
            </a:r>
            <a:r>
              <a:rPr sz="1200" b="0" dirty="0">
                <a:solidFill>
                  <a:srgbClr val="AEB9BD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AEB9BD"/>
                </a:solidFill>
                <a:latin typeface="Aptos"/>
              </a:rPr>
              <a:t>выходе</a:t>
            </a:r>
            <a:r>
              <a:rPr sz="1200" b="0" dirty="0">
                <a:solidFill>
                  <a:srgbClr val="AEB9BD"/>
                </a:solidFill>
                <a:latin typeface="Aptos"/>
              </a:rPr>
              <a:t>: HTML, JSON и </a:t>
            </a:r>
            <a:r>
              <a:rPr sz="1200" b="0" dirty="0" err="1">
                <a:solidFill>
                  <a:srgbClr val="AEB9BD"/>
                </a:solidFill>
                <a:latin typeface="Aptos"/>
              </a:rPr>
              <a:t>структурный</a:t>
            </a:r>
            <a:r>
              <a:rPr sz="1200" b="0" dirty="0">
                <a:solidFill>
                  <a:srgbClr val="AEB9BD"/>
                </a:solidFill>
                <a:latin typeface="Aptos"/>
              </a:rPr>
              <a:t> BCF ZIP. </a:t>
            </a:r>
            <a:r>
              <a:rPr sz="1200" b="0" dirty="0" err="1">
                <a:solidFill>
                  <a:srgbClr val="AEB9BD"/>
                </a:solidFill>
                <a:latin typeface="Aptos"/>
              </a:rPr>
              <a:t>Импорт</a:t>
            </a:r>
            <a:r>
              <a:rPr sz="1200" b="0" dirty="0">
                <a:solidFill>
                  <a:srgbClr val="AEB9BD"/>
                </a:solidFill>
                <a:latin typeface="Aptos"/>
              </a:rPr>
              <a:t> в СОД </a:t>
            </a:r>
            <a:r>
              <a:rPr sz="1200" b="0" dirty="0" err="1">
                <a:solidFill>
                  <a:srgbClr val="AEB9BD"/>
                </a:solidFill>
                <a:latin typeface="Aptos"/>
              </a:rPr>
              <a:t>отдельно</a:t>
            </a:r>
            <a:r>
              <a:rPr sz="1200" b="0" dirty="0">
                <a:solidFill>
                  <a:srgbClr val="AEB9BD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AEB9BD"/>
                </a:solidFill>
                <a:latin typeface="Aptos"/>
              </a:rPr>
              <a:t>проверяется</a:t>
            </a:r>
            <a:r>
              <a:rPr sz="1200" b="0" dirty="0">
                <a:solidFill>
                  <a:srgbClr val="AEB9BD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AEB9BD"/>
                </a:solidFill>
                <a:latin typeface="Aptos"/>
              </a:rPr>
              <a:t>заказчиком</a:t>
            </a:r>
            <a:r>
              <a:rPr sz="1200" b="0" dirty="0">
                <a:solidFill>
                  <a:srgbClr val="AEB9BD"/>
                </a:solidFill>
                <a:latin typeface="Aptos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256032"/>
            <a:ext cx="5303520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000" b="1">
                <a:solidFill>
                  <a:srgbClr val="F4A05B"/>
                </a:solidFill>
                <a:latin typeface="Aptos Mono"/>
              </a:rPr>
              <a:t>05 · ЧТО ДОКАЗАНО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256032"/>
            <a:ext cx="3657600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r"/>
            <a:r>
              <a:rPr sz="900" b="0">
                <a:solidFill>
                  <a:srgbClr val="AEB9BD"/>
                </a:solidFill>
                <a:latin typeface="Aptos Mono"/>
              </a:rPr>
              <a:t>Учебный комплект и открытые наборы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6492240"/>
            <a:ext cx="822960" cy="20116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r"/>
            <a:r>
              <a:rPr sz="800" b="0">
                <a:solidFill>
                  <a:srgbClr val="AEB9BD"/>
                </a:solidFill>
                <a:latin typeface="Aptos Mono"/>
              </a:rPr>
              <a:t>06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143000"/>
            <a:ext cx="10789920" cy="109728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3900" b="1">
                <a:solidFill>
                  <a:srgbClr val="F6F7F7"/>
                </a:solidFill>
                <a:latin typeface="Aptos Display"/>
              </a:rPr>
              <a:t>Цифры есть.
</a:t>
            </a:r>
            <a:r>
              <a:rPr sz="3900" b="1">
                <a:solidFill>
                  <a:srgbClr val="F4A05B"/>
                </a:solidFill>
                <a:latin typeface="Aptos Display"/>
              </a:rPr>
              <a:t>Это не точность продукта.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2880360"/>
            <a:ext cx="3337560" cy="1645920"/>
          </a:xfrm>
          <a:prstGeom prst="roundRect">
            <a:avLst>
              <a:gd name="adj" fmla="val 12000"/>
            </a:avLst>
          </a:prstGeom>
          <a:solidFill>
            <a:srgbClr val="152027"/>
          </a:solidFill>
          <a:ln>
            <a:solidFill>
              <a:srgbClr val="2B39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41832" y="3044952"/>
            <a:ext cx="2880360" cy="4114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800" b="1">
                <a:solidFill>
                  <a:srgbClr val="F4A05B"/>
                </a:solidFill>
                <a:latin typeface="Aptos Display"/>
              </a:rPr>
              <a:t>Открытый набор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3538728"/>
            <a:ext cx="2880360" cy="82296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300" b="0">
                <a:solidFill>
                  <a:srgbClr val="F6F7F7"/>
                </a:solidFill>
                <a:latin typeface="Aptos"/>
              </a:rPr>
              <a:t>Countable-срез открытого набора; не корпус заказчика.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07408" y="2880360"/>
            <a:ext cx="3337560" cy="1645920"/>
          </a:xfrm>
          <a:prstGeom prst="roundRect">
            <a:avLst>
              <a:gd name="adj" fmla="val 12000"/>
            </a:avLst>
          </a:prstGeom>
          <a:solidFill>
            <a:srgbClr val="152027"/>
          </a:solidFill>
          <a:ln>
            <a:solidFill>
              <a:srgbClr val="2B39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36008" y="3044952"/>
            <a:ext cx="2880360" cy="4114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800" b="1">
                <a:solidFill>
                  <a:srgbClr val="76C9BF"/>
                </a:solidFill>
                <a:latin typeface="Aptos Display"/>
              </a:rPr>
              <a:t>Учебная модель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6008" y="3538728"/>
            <a:ext cx="2880360" cy="82296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300" b="0">
                <a:solidFill>
                  <a:srgbClr val="F6F7F7"/>
                </a:solidFill>
                <a:latin typeface="Aptos"/>
              </a:rPr>
              <a:t>AABB-срез учебной модели; не MEP-система и не показатель ТЗ.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01583" y="2880360"/>
            <a:ext cx="3337560" cy="1645920"/>
          </a:xfrm>
          <a:prstGeom prst="roundRect">
            <a:avLst>
              <a:gd name="adj" fmla="val 12000"/>
            </a:avLst>
          </a:prstGeom>
          <a:solidFill>
            <a:srgbClr val="152027"/>
          </a:solidFill>
          <a:ln>
            <a:solidFill>
              <a:srgbClr val="2B39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30183" y="3044952"/>
            <a:ext cx="2880360" cy="4114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800" b="1">
                <a:solidFill>
                  <a:srgbClr val="F4A05B"/>
                </a:solidFill>
                <a:latin typeface="Aptos Display"/>
              </a:rPr>
              <a:t>Учебная оценка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30183" y="3538728"/>
            <a:ext cx="2880360" cy="82296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300" b="0">
                <a:solidFill>
                  <a:srgbClr val="F6F7F7"/>
                </a:solidFill>
                <a:latin typeface="Aptos"/>
              </a:rPr>
              <a:t>F1 на учебной фикстуре; не точность продукта.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3232" y="5074920"/>
            <a:ext cx="10744200" cy="914400"/>
          </a:xfrm>
          <a:prstGeom prst="rect">
            <a:avLst/>
          </a:prstGeom>
          <a:solidFill>
            <a:srgbClr val="2A1F18"/>
          </a:solidFill>
          <a:ln>
            <a:solidFill>
              <a:srgbClr val="F4A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32688" y="5266944"/>
            <a:ext cx="10241280" cy="40233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700" b="0" dirty="0" err="1">
                <a:solidFill>
                  <a:srgbClr val="F6F7F7"/>
                </a:solidFill>
                <a:latin typeface="Aptos"/>
              </a:rPr>
              <a:t>Наш</a:t>
            </a:r>
            <a:r>
              <a:rPr sz="1700" b="0" dirty="0">
                <a:solidFill>
                  <a:srgbClr val="F6F7F7"/>
                </a:solidFill>
                <a:latin typeface="Aptos"/>
              </a:rPr>
              <a:t> </a:t>
            </a:r>
            <a:r>
              <a:rPr sz="1700" b="0" dirty="0" err="1">
                <a:solidFill>
                  <a:srgbClr val="F6F7F7"/>
                </a:solidFill>
                <a:latin typeface="Aptos"/>
              </a:rPr>
              <a:t>сильный</a:t>
            </a:r>
            <a:r>
              <a:rPr sz="1700" b="0" dirty="0">
                <a:solidFill>
                  <a:srgbClr val="F6F7F7"/>
                </a:solidFill>
                <a:latin typeface="Aptos"/>
              </a:rPr>
              <a:t> </a:t>
            </a:r>
            <a:r>
              <a:rPr sz="1700" b="0" dirty="0" err="1">
                <a:solidFill>
                  <a:srgbClr val="F6F7F7"/>
                </a:solidFill>
                <a:latin typeface="Aptos"/>
              </a:rPr>
              <a:t>результат</a:t>
            </a:r>
            <a:r>
              <a:rPr sz="1700" b="0" dirty="0">
                <a:solidFill>
                  <a:srgbClr val="F6F7F7"/>
                </a:solidFill>
                <a:latin typeface="Aptos"/>
              </a:rPr>
              <a:t> </a:t>
            </a:r>
            <a:r>
              <a:rPr sz="1700" b="0" dirty="0" err="1">
                <a:solidFill>
                  <a:srgbClr val="F6F7F7"/>
                </a:solidFill>
                <a:latin typeface="Aptos"/>
              </a:rPr>
              <a:t>сейчас</a:t>
            </a:r>
            <a:r>
              <a:rPr sz="1700" b="0" dirty="0">
                <a:solidFill>
                  <a:srgbClr val="F6F7F7"/>
                </a:solidFill>
                <a:latin typeface="Aptos"/>
              </a:rPr>
              <a:t>: </a:t>
            </a:r>
            <a:r>
              <a:rPr sz="1700" b="0" dirty="0" err="1">
                <a:solidFill>
                  <a:srgbClr val="F6F7F7"/>
                </a:solidFill>
                <a:latin typeface="Aptos"/>
              </a:rPr>
              <a:t>воспроизводимый</a:t>
            </a:r>
            <a:r>
              <a:rPr sz="1700" b="0" dirty="0">
                <a:solidFill>
                  <a:srgbClr val="F6F7F7"/>
                </a:solidFill>
                <a:latin typeface="Aptos"/>
              </a:rPr>
              <a:t> </a:t>
            </a:r>
            <a:r>
              <a:rPr sz="1700" b="0" dirty="0" err="1">
                <a:solidFill>
                  <a:srgbClr val="F6F7F7"/>
                </a:solidFill>
                <a:latin typeface="Aptos"/>
              </a:rPr>
              <a:t>отказ</a:t>
            </a:r>
            <a:r>
              <a:rPr sz="1700" b="0" dirty="0">
                <a:solidFill>
                  <a:srgbClr val="F6F7F7"/>
                </a:solidFill>
                <a:latin typeface="Aptos"/>
              </a:rPr>
              <a:t> с </a:t>
            </a:r>
            <a:r>
              <a:rPr sz="1700" b="0" dirty="0" err="1">
                <a:solidFill>
                  <a:srgbClr val="F6F7F7"/>
                </a:solidFill>
                <a:latin typeface="Aptos"/>
              </a:rPr>
              <a:t>понятным</a:t>
            </a:r>
            <a:r>
              <a:rPr sz="1700" b="0" dirty="0">
                <a:solidFill>
                  <a:srgbClr val="F6F7F7"/>
                </a:solidFill>
                <a:latin typeface="Aptos"/>
              </a:rPr>
              <a:t> </a:t>
            </a:r>
            <a:r>
              <a:rPr sz="1700" b="0" dirty="0" err="1">
                <a:solidFill>
                  <a:srgbClr val="F6F7F7"/>
                </a:solidFill>
                <a:latin typeface="Aptos"/>
              </a:rPr>
              <a:t>доказательством</a:t>
            </a:r>
            <a:r>
              <a:rPr sz="1700" b="0" dirty="0">
                <a:solidFill>
                  <a:srgbClr val="F6F7F7"/>
                </a:solidFill>
                <a:latin typeface="Aptos"/>
              </a:rPr>
              <a:t>, а </a:t>
            </a:r>
            <a:r>
              <a:rPr sz="1700" b="0" dirty="0" err="1">
                <a:solidFill>
                  <a:srgbClr val="F6F7F7"/>
                </a:solidFill>
                <a:latin typeface="Aptos"/>
              </a:rPr>
              <a:t>не</a:t>
            </a:r>
            <a:r>
              <a:rPr sz="1700" b="0" dirty="0">
                <a:solidFill>
                  <a:srgbClr val="F6F7F7"/>
                </a:solidFill>
                <a:latin typeface="Aptos"/>
              </a:rPr>
              <a:t> </a:t>
            </a:r>
            <a:r>
              <a:rPr sz="1700" b="0" dirty="0" err="1">
                <a:solidFill>
                  <a:srgbClr val="F6F7F7"/>
                </a:solidFill>
                <a:latin typeface="Aptos"/>
              </a:rPr>
              <a:t>красивый</a:t>
            </a:r>
            <a:r>
              <a:rPr sz="1700" b="0" dirty="0">
                <a:solidFill>
                  <a:srgbClr val="F6F7F7"/>
                </a:solidFill>
                <a:latin typeface="Aptos"/>
              </a:rPr>
              <a:t> </a:t>
            </a:r>
            <a:r>
              <a:rPr sz="1700" b="0" dirty="0" err="1">
                <a:solidFill>
                  <a:srgbClr val="F6F7F7"/>
                </a:solidFill>
                <a:latin typeface="Aptos"/>
              </a:rPr>
              <a:t>процент</a:t>
            </a:r>
            <a:r>
              <a:rPr sz="1700" b="0" dirty="0">
                <a:solidFill>
                  <a:srgbClr val="F6F7F7"/>
                </a:solidFill>
                <a:latin typeface="Aptos"/>
              </a:rPr>
              <a:t> </a:t>
            </a:r>
            <a:r>
              <a:rPr sz="1700" b="0" dirty="0" err="1">
                <a:solidFill>
                  <a:srgbClr val="F6F7F7"/>
                </a:solidFill>
                <a:latin typeface="Aptos"/>
              </a:rPr>
              <a:t>без</a:t>
            </a:r>
            <a:r>
              <a:rPr sz="1700" b="0" dirty="0">
                <a:solidFill>
                  <a:srgbClr val="F6F7F7"/>
                </a:solidFill>
                <a:latin typeface="Aptos"/>
              </a:rPr>
              <a:t> </a:t>
            </a:r>
            <a:r>
              <a:rPr sz="1700" b="0" dirty="0" err="1">
                <a:solidFill>
                  <a:srgbClr val="F6F7F7"/>
                </a:solidFill>
                <a:latin typeface="Aptos"/>
              </a:rPr>
              <a:t>корпуса</a:t>
            </a:r>
            <a:r>
              <a:rPr sz="1700" b="0" dirty="0">
                <a:solidFill>
                  <a:srgbClr val="F6F7F7"/>
                </a:solidFill>
                <a:latin typeface="Aptos"/>
              </a:rPr>
              <a:t>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715000"/>
            <a:ext cx="10241280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r>
              <a:rPr sz="1100" b="0" dirty="0" err="1">
                <a:solidFill>
                  <a:srgbClr val="AEB9BD"/>
                </a:solidFill>
                <a:latin typeface="Aptos"/>
              </a:rPr>
              <a:t>Все</a:t>
            </a:r>
            <a:r>
              <a:rPr sz="1100" b="0" dirty="0">
                <a:solidFill>
                  <a:srgbClr val="AEB9BD"/>
                </a:solidFill>
                <a:latin typeface="Aptos"/>
              </a:rPr>
              <a:t> </a:t>
            </a:r>
            <a:r>
              <a:rPr sz="1100" b="0" dirty="0" err="1">
                <a:solidFill>
                  <a:srgbClr val="AEB9BD"/>
                </a:solidFill>
                <a:latin typeface="Aptos"/>
              </a:rPr>
              <a:t>три</a:t>
            </a:r>
            <a:r>
              <a:rPr sz="1100" b="0" dirty="0">
                <a:solidFill>
                  <a:srgbClr val="AEB9BD"/>
                </a:solidFill>
                <a:latin typeface="Aptos"/>
              </a:rPr>
              <a:t> </a:t>
            </a:r>
            <a:r>
              <a:rPr sz="1100" b="0" dirty="0" err="1">
                <a:solidFill>
                  <a:srgbClr val="AEB9BD"/>
                </a:solidFill>
                <a:latin typeface="Aptos"/>
              </a:rPr>
              <a:t>примера</a:t>
            </a:r>
            <a:r>
              <a:rPr sz="1100" b="0" dirty="0">
                <a:solidFill>
                  <a:srgbClr val="AEB9BD"/>
                </a:solidFill>
                <a:latin typeface="Aptos"/>
              </a:rPr>
              <a:t> </a:t>
            </a:r>
            <a:r>
              <a:rPr sz="1100" b="0" dirty="0" err="1">
                <a:solidFill>
                  <a:srgbClr val="AEB9BD"/>
                </a:solidFill>
                <a:latin typeface="Aptos"/>
              </a:rPr>
              <a:t>относятся</a:t>
            </a:r>
            <a:r>
              <a:rPr sz="1100" b="0" dirty="0">
                <a:solidFill>
                  <a:srgbClr val="AEB9BD"/>
                </a:solidFill>
                <a:latin typeface="Aptos"/>
              </a:rPr>
              <a:t> к </a:t>
            </a:r>
            <a:r>
              <a:rPr sz="1100" b="0" dirty="0" err="1">
                <a:solidFill>
                  <a:srgbClr val="AEB9BD"/>
                </a:solidFill>
                <a:latin typeface="Aptos"/>
              </a:rPr>
              <a:t>разным</a:t>
            </a:r>
            <a:r>
              <a:rPr sz="1100" b="0" dirty="0">
                <a:solidFill>
                  <a:srgbClr val="AEB9BD"/>
                </a:solidFill>
                <a:latin typeface="Aptos"/>
              </a:rPr>
              <a:t> </a:t>
            </a:r>
            <a:r>
              <a:rPr sz="1100" b="0" dirty="0" err="1">
                <a:solidFill>
                  <a:srgbClr val="AEB9BD"/>
                </a:solidFill>
                <a:latin typeface="Aptos"/>
              </a:rPr>
              <a:t>контурам</a:t>
            </a:r>
            <a:r>
              <a:rPr sz="1100" b="0" dirty="0">
                <a:solidFill>
                  <a:srgbClr val="AEB9BD"/>
                </a:solidFill>
                <a:latin typeface="Aptos"/>
              </a:rPr>
              <a:t> и </a:t>
            </a:r>
            <a:r>
              <a:rPr sz="1100" b="0" dirty="0" err="1">
                <a:solidFill>
                  <a:srgbClr val="AEB9BD"/>
                </a:solidFill>
                <a:latin typeface="Aptos"/>
              </a:rPr>
              <a:t>не</a:t>
            </a:r>
            <a:r>
              <a:rPr sz="1100" b="0" dirty="0">
                <a:solidFill>
                  <a:srgbClr val="AEB9BD"/>
                </a:solidFill>
                <a:latin typeface="Aptos"/>
              </a:rPr>
              <a:t> </a:t>
            </a:r>
            <a:r>
              <a:rPr sz="1100" b="0" dirty="0" err="1">
                <a:solidFill>
                  <a:srgbClr val="AEB9BD"/>
                </a:solidFill>
                <a:latin typeface="Aptos"/>
              </a:rPr>
              <a:t>складываются</a:t>
            </a:r>
            <a:r>
              <a:rPr sz="1100" b="0" dirty="0">
                <a:solidFill>
                  <a:srgbClr val="AEB9BD"/>
                </a:solidFill>
                <a:latin typeface="Aptos"/>
              </a:rPr>
              <a:t> в </a:t>
            </a:r>
            <a:r>
              <a:rPr sz="1100" b="0" dirty="0" err="1">
                <a:solidFill>
                  <a:srgbClr val="AEB9BD"/>
                </a:solidFill>
                <a:latin typeface="Aptos"/>
              </a:rPr>
              <a:t>общий</a:t>
            </a:r>
            <a:r>
              <a:rPr sz="1100" b="0" dirty="0">
                <a:solidFill>
                  <a:srgbClr val="AEB9BD"/>
                </a:solidFill>
                <a:latin typeface="Aptos"/>
              </a:rPr>
              <a:t> </a:t>
            </a:r>
            <a:r>
              <a:rPr sz="1100" b="0" dirty="0" err="1">
                <a:solidFill>
                  <a:srgbClr val="AEB9BD"/>
                </a:solidFill>
                <a:latin typeface="Aptos"/>
              </a:rPr>
              <a:t>показатель</a:t>
            </a:r>
            <a:r>
              <a:rPr sz="1100" b="0" dirty="0">
                <a:solidFill>
                  <a:srgbClr val="AEB9BD"/>
                </a:solidFill>
                <a:latin typeface="Aptos"/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256032"/>
            <a:ext cx="5303520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000" b="1">
                <a:solidFill>
                  <a:srgbClr val="F4A05B"/>
                </a:solidFill>
                <a:latin typeface="Aptos Mono"/>
              </a:rPr>
              <a:t>06 · ОГРАНИЧЕНИЯ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256032"/>
            <a:ext cx="3657600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r"/>
            <a:r>
              <a:rPr sz="900" b="0">
                <a:solidFill>
                  <a:srgbClr val="AEB9BD"/>
                </a:solidFill>
                <a:latin typeface="Aptos Mono"/>
              </a:rPr>
              <a:t>Честный отказ лучше зелёной ошибки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6492240"/>
            <a:ext cx="822960" cy="20116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r"/>
            <a:r>
              <a:rPr sz="800" b="0">
                <a:solidFill>
                  <a:srgbClr val="AEB9BD"/>
                </a:solidFill>
                <a:latin typeface="Aptos Mono"/>
              </a:rPr>
              <a:t>07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097280"/>
            <a:ext cx="10789920" cy="109728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3600" b="1">
                <a:solidFill>
                  <a:srgbClr val="F6F7F7"/>
                </a:solidFill>
                <a:latin typeface="Aptos Display"/>
              </a:rPr>
              <a:t>Если проверку нельзя выполнить,
</a:t>
            </a:r>
            <a:r>
              <a:rPr sz="3600" b="1">
                <a:solidFill>
                  <a:srgbClr val="F4A05B"/>
                </a:solidFill>
                <a:latin typeface="Aptos Display"/>
              </a:rPr>
              <a:t>система не делает вид, что всё хорошо.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2743200"/>
            <a:ext cx="3337560" cy="1645920"/>
          </a:xfrm>
          <a:prstGeom prst="roundRect">
            <a:avLst>
              <a:gd name="adj" fmla="val 12000"/>
            </a:avLst>
          </a:prstGeom>
          <a:solidFill>
            <a:srgbClr val="152027"/>
          </a:solidFill>
          <a:ln>
            <a:solidFill>
              <a:srgbClr val="2B39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41832" y="2907792"/>
            <a:ext cx="2880360" cy="4114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800" b="1">
                <a:solidFill>
                  <a:srgbClr val="F4A05B"/>
                </a:solidFill>
                <a:latin typeface="Aptos Display"/>
              </a:rPr>
              <a:t>DWG · не реализован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3401568"/>
            <a:ext cx="2880360" cy="82296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300" b="0">
                <a:solidFill>
                  <a:srgbClr val="F6F7F7"/>
                </a:solidFill>
                <a:latin typeface="Aptos"/>
              </a:rPr>
              <a:t>Нативное чтение DWG отсутствует. Молчаливого пропуска нет.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07408" y="2743200"/>
            <a:ext cx="3337560" cy="1645920"/>
          </a:xfrm>
          <a:prstGeom prst="roundRect">
            <a:avLst>
              <a:gd name="adj" fmla="val 12000"/>
            </a:avLst>
          </a:prstGeom>
          <a:solidFill>
            <a:srgbClr val="152027"/>
          </a:solidFill>
          <a:ln>
            <a:solidFill>
              <a:srgbClr val="2B39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36008" y="2907792"/>
            <a:ext cx="2880360" cy="4114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800" b="1">
                <a:solidFill>
                  <a:srgbClr val="76C9BF"/>
                </a:solidFill>
                <a:latin typeface="Aptos Display"/>
              </a:rPr>
              <a:t>MEP · не проверен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6008" y="3401568"/>
            <a:ext cx="2880360" cy="82296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300" b="0">
                <a:solidFill>
                  <a:srgbClr val="F6F7F7"/>
                </a:solidFill>
                <a:latin typeface="Aptos"/>
              </a:rPr>
              <a:t>Общие пересечения и AABB не означают системную проверку инженерных сетей.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01583" y="2743200"/>
            <a:ext cx="3337560" cy="1645920"/>
          </a:xfrm>
          <a:prstGeom prst="roundRect">
            <a:avLst>
              <a:gd name="adj" fmla="val 12000"/>
            </a:avLst>
          </a:prstGeom>
          <a:solidFill>
            <a:srgbClr val="152027"/>
          </a:solidFill>
          <a:ln>
            <a:solidFill>
              <a:srgbClr val="2B39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30183" y="2907792"/>
            <a:ext cx="2880360" cy="4114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800" b="1">
                <a:solidFill>
                  <a:srgbClr val="F4A05B"/>
                </a:solidFill>
                <a:latin typeface="Aptos Display"/>
              </a:rPr>
              <a:t>СОД · импорт не доказан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30183" y="3401568"/>
            <a:ext cx="2880360" cy="82296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300" b="0">
                <a:solidFill>
                  <a:srgbClr val="F6F7F7"/>
                </a:solidFill>
                <a:latin typeface="Aptos"/>
              </a:rPr>
              <a:t>BCF ZIP сформирован структурно. Импорт в целевую СОД ещё не подтверждён.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256032"/>
            <a:ext cx="5303520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000" b="1">
                <a:solidFill>
                  <a:srgbClr val="F4A05B"/>
                </a:solidFill>
                <a:latin typeface="Aptos Mono"/>
              </a:rPr>
              <a:t>07 · КАК БУДЕМ МЕРИТЬ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256032"/>
            <a:ext cx="3657600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r"/>
            <a:r>
              <a:rPr sz="900" b="0">
                <a:solidFill>
                  <a:srgbClr val="AEB9BD"/>
                </a:solidFill>
                <a:latin typeface="Aptos Mono"/>
              </a:rPr>
              <a:t>Сначала договоримся о правилах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6492240"/>
            <a:ext cx="822960" cy="20116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r"/>
            <a:r>
              <a:rPr sz="800" b="0">
                <a:solidFill>
                  <a:srgbClr val="AEB9BD"/>
                </a:solidFill>
                <a:latin typeface="Aptos Mono"/>
              </a:rPr>
              <a:t>08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143000"/>
            <a:ext cx="10789920" cy="109728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3900" b="1">
                <a:solidFill>
                  <a:srgbClr val="F6F7F7"/>
                </a:solidFill>
                <a:latin typeface="Aptos Display"/>
              </a:rPr>
              <a:t>Не называем процент,
</a:t>
            </a:r>
            <a:r>
              <a:rPr sz="3900" b="1">
                <a:solidFill>
                  <a:srgbClr val="76C9BF"/>
                </a:solidFill>
                <a:latin typeface="Aptos Display"/>
              </a:rPr>
              <a:t>пока не определили ошибку.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2834640"/>
            <a:ext cx="5166360" cy="2057400"/>
          </a:xfrm>
          <a:prstGeom prst="roundRect">
            <a:avLst>
              <a:gd name="adj" fmla="val 12000"/>
            </a:avLst>
          </a:prstGeom>
          <a:solidFill>
            <a:srgbClr val="152027"/>
          </a:solidFill>
          <a:ln>
            <a:solidFill>
              <a:srgbClr val="2B39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41832" y="2999232"/>
            <a:ext cx="4709160" cy="4114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800" b="1">
                <a:solidFill>
                  <a:srgbClr val="F4A05B"/>
                </a:solidFill>
                <a:latin typeface="Aptos Display"/>
              </a:rPr>
              <a:t>Что нужно для честной оценки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3493008"/>
            <a:ext cx="4709160" cy="12344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300" b="0">
                <a:solidFill>
                  <a:srgbClr val="F6F7F7"/>
                </a:solidFill>
                <a:latin typeface="Aptos"/>
              </a:rPr>
              <a:t>Комплект заказчика канала и его хеш</a:t>
            </a:r>
            <a:br/>
            <a:r>
              <a:rPr sz="1300" b="0">
                <a:solidFill>
                  <a:srgbClr val="F6F7F7"/>
                </a:solidFill>
                <a:latin typeface="Aptos"/>
              </a:rPr>
              <a:t>Подписанный профиль приёмки</a:t>
            </a:r>
            <a:br/>
            <a:r>
              <a:rPr sz="1300" b="0">
                <a:solidFill>
                  <a:srgbClr val="F6F7F7"/>
                </a:solidFill>
                <a:latin typeface="Aptos"/>
              </a:rPr>
              <a:t>Два независимых инженера</a:t>
            </a:r>
            <a:br/>
            <a:r>
              <a:rPr sz="1300" b="0">
                <a:solidFill>
                  <a:srgbClr val="F6F7F7"/>
                </a:solidFill>
                <a:latin typeface="Aptos"/>
              </a:rPr>
              <a:t>Скрытая проверочная выборка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2" y="2834640"/>
            <a:ext cx="5166360" cy="2057400"/>
          </a:xfrm>
          <a:prstGeom prst="roundRect">
            <a:avLst>
              <a:gd name="adj" fmla="val 12000"/>
            </a:avLst>
          </a:prstGeom>
          <a:solidFill>
            <a:srgbClr val="152027"/>
          </a:solidFill>
          <a:ln>
            <a:solidFill>
              <a:srgbClr val="2B39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28232" y="2999232"/>
            <a:ext cx="4709160" cy="4114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800" b="1">
                <a:solidFill>
                  <a:srgbClr val="76C9BF"/>
                </a:solidFill>
                <a:latin typeface="Aptos Display"/>
              </a:rPr>
              <a:t>Что получим на выходе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28232" y="3493008"/>
            <a:ext cx="4709160" cy="12344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300" b="0">
                <a:solidFill>
                  <a:srgbClr val="F6F7F7"/>
                </a:solidFill>
                <a:latin typeface="Aptos"/>
              </a:rPr>
              <a:t>Найдено и подтверждено</a:t>
            </a:r>
            <a:br/>
            <a:r>
              <a:rPr sz="1300" b="0">
                <a:solidFill>
                  <a:srgbClr val="F6F7F7"/>
                </a:solidFill>
                <a:latin typeface="Aptos"/>
              </a:rPr>
              <a:t>Ложные срабатывания и пропуски</a:t>
            </a:r>
            <a:br/>
            <a:r>
              <a:rPr sz="1300" b="0">
                <a:solidFill>
                  <a:srgbClr val="F6F7F7"/>
                </a:solidFill>
                <a:latin typeface="Aptos"/>
              </a:rPr>
              <a:t>Согласие разметчиков</a:t>
            </a:r>
            <a:br/>
            <a:r>
              <a:rPr sz="1300" b="0">
                <a:solidFill>
                  <a:srgbClr val="F6F7F7"/>
                </a:solidFill>
                <a:latin typeface="Aptos"/>
              </a:rPr>
              <a:t>Время на согласованном комплекте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394960"/>
            <a:ext cx="10058400" cy="36576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600" b="0">
                <a:solidFill>
                  <a:srgbClr val="AEB9BD"/>
                </a:solidFill>
                <a:latin typeface="Aptos"/>
              </a:rPr>
              <a:t>Сейчас методика готова, а проверка эффективности на данных заказчика ещё не начата.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742432"/>
            <a:ext cx="10058400" cy="3200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r>
              <a:rPr sz="1200" b="0">
                <a:solidFill>
                  <a:srgbClr val="AEB9BD"/>
                </a:solidFill>
                <a:latin typeface="Aptos"/>
              </a:rPr>
              <a:t>Единица анализа и правила фиксируются до запуска; спорные случаи не превращаются в удобные цифры.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256032"/>
            <a:ext cx="5303520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000" b="1">
                <a:solidFill>
                  <a:srgbClr val="F4A05B"/>
                </a:solidFill>
                <a:latin typeface="Aptos Mono"/>
              </a:rPr>
              <a:t>08 · ЭФФЕКТ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256032"/>
            <a:ext cx="3657600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r"/>
            <a:r>
              <a:rPr sz="900" b="0">
                <a:solidFill>
                  <a:srgbClr val="AEB9BD"/>
                </a:solidFill>
                <a:latin typeface="Aptos Mono"/>
              </a:rPr>
              <a:t>Так будем измерять на пилоте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6492240"/>
            <a:ext cx="822960" cy="20116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r"/>
            <a:r>
              <a:rPr sz="800" b="0">
                <a:solidFill>
                  <a:srgbClr val="AEB9BD"/>
                </a:solidFill>
                <a:latin typeface="Aptos Mono"/>
              </a:rPr>
              <a:t>09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143000"/>
            <a:ext cx="10789920" cy="109728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4000" b="1">
                <a:solidFill>
                  <a:srgbClr val="F6F7F7"/>
                </a:solidFill>
                <a:latin typeface="Aptos Display"/>
              </a:rPr>
              <a:t>Ценность не в том,
чтобы убрать эксперта.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14600"/>
            <a:ext cx="10058400" cy="6400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2000" b="0">
                <a:solidFill>
                  <a:srgbClr val="D6DFE1"/>
                </a:solidFill>
                <a:latin typeface="Aptos"/>
              </a:rPr>
              <a:t>Ценность в том, чтобы раньше показать расхождение, дать ему источник и не возвращать один и тот же комплект по кругу.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3703320"/>
            <a:ext cx="3337560" cy="1417320"/>
          </a:xfrm>
          <a:prstGeom prst="roundRect">
            <a:avLst>
              <a:gd name="adj" fmla="val 12000"/>
            </a:avLst>
          </a:prstGeom>
          <a:solidFill>
            <a:srgbClr val="152027"/>
          </a:solidFill>
          <a:ln>
            <a:solidFill>
              <a:srgbClr val="2B39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41832" y="3867911"/>
            <a:ext cx="2880360" cy="4114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800" b="1">
                <a:solidFill>
                  <a:srgbClr val="F4A05B"/>
                </a:solidFill>
                <a:latin typeface="Aptos Display"/>
              </a:rPr>
              <a:t>01 · Скорость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4361688"/>
            <a:ext cx="2880360" cy="59436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300" b="0">
                <a:solidFill>
                  <a:srgbClr val="F6F7F7"/>
                </a:solidFill>
                <a:latin typeface="Aptos"/>
              </a:rPr>
              <a:t>Время до первого полезного замечания.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7408" y="3703320"/>
            <a:ext cx="3337560" cy="1417320"/>
          </a:xfrm>
          <a:prstGeom prst="roundRect">
            <a:avLst>
              <a:gd name="adj" fmla="val 12000"/>
            </a:avLst>
          </a:prstGeom>
          <a:solidFill>
            <a:srgbClr val="152027"/>
          </a:solidFill>
          <a:ln>
            <a:solidFill>
              <a:srgbClr val="2B39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36008" y="3867911"/>
            <a:ext cx="2880360" cy="4114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800" b="1">
                <a:solidFill>
                  <a:srgbClr val="76C9BF"/>
                </a:solidFill>
                <a:latin typeface="Aptos Display"/>
              </a:rPr>
              <a:t>02 · Качество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6008" y="4361688"/>
            <a:ext cx="2880360" cy="59436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300" b="0">
                <a:solidFill>
                  <a:srgbClr val="F6F7F7"/>
                </a:solidFill>
                <a:latin typeface="Aptos"/>
              </a:rPr>
              <a:t>Доля замечаний, которые эксперт принимает без переписывания.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01583" y="3703320"/>
            <a:ext cx="3337560" cy="1417320"/>
          </a:xfrm>
          <a:prstGeom prst="roundRect">
            <a:avLst>
              <a:gd name="adj" fmla="val 12000"/>
            </a:avLst>
          </a:prstGeom>
          <a:solidFill>
            <a:srgbClr val="152027"/>
          </a:solidFill>
          <a:ln>
            <a:solidFill>
              <a:srgbClr val="2B39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30183" y="3867911"/>
            <a:ext cx="2880360" cy="4114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800" b="1">
                <a:solidFill>
                  <a:srgbClr val="F4A05B"/>
                </a:solidFill>
                <a:latin typeface="Aptos Display"/>
              </a:rPr>
              <a:t>03 · Повтор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0183" y="4361688"/>
            <a:ext cx="2880360" cy="59436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300" b="0">
                <a:solidFill>
                  <a:srgbClr val="F6F7F7"/>
                </a:solidFill>
                <a:latin typeface="Aptos"/>
              </a:rPr>
              <a:t>Что исправилось после следующей версии комплекта.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532120"/>
            <a:ext cx="8686800" cy="3200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400" b="0">
                <a:solidFill>
                  <a:srgbClr val="AEB9BD"/>
                </a:solidFill>
                <a:latin typeface="Aptos"/>
              </a:rPr>
              <a:t>Снижение трудозатрат на 20% — гипотеза для проверки, не достигнутый результат.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256032"/>
            <a:ext cx="5303520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000" b="1">
                <a:solidFill>
                  <a:srgbClr val="F4A05B"/>
                </a:solidFill>
                <a:latin typeface="Aptos Mono"/>
              </a:rPr>
              <a:t>09 · ВСТРАИВАНИЕ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256032"/>
            <a:ext cx="3657600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r"/>
            <a:r>
              <a:rPr sz="900" b="0">
                <a:solidFill>
                  <a:srgbClr val="AEB9BD"/>
                </a:solidFill>
                <a:latin typeface="Aptos Mono"/>
              </a:rPr>
              <a:t>Без смены основного контура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6492240"/>
            <a:ext cx="822960" cy="20116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r"/>
            <a:r>
              <a:rPr sz="800" b="0">
                <a:solidFill>
                  <a:srgbClr val="AEB9BD"/>
                </a:solidFill>
                <a:latin typeface="Aptos Mono"/>
              </a:rPr>
              <a:t>10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143000"/>
            <a:ext cx="10789920" cy="109728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3800" b="1">
                <a:solidFill>
                  <a:srgbClr val="F6F7F7"/>
                </a:solidFill>
                <a:latin typeface="Aptos Display"/>
              </a:rPr>
              <a:t>Сначала обмен файлами.
</a:t>
            </a:r>
            <a:r>
              <a:rPr sz="3800" b="1">
                <a:solidFill>
                  <a:srgbClr val="76C9BF"/>
                </a:solidFill>
                <a:latin typeface="Aptos Display"/>
              </a:rPr>
              <a:t>Потом, если подтвердится польза.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2880360"/>
            <a:ext cx="2514600" cy="1554480"/>
          </a:xfrm>
          <a:prstGeom prst="roundRect">
            <a:avLst>
              <a:gd name="adj" fmla="val 12000"/>
            </a:avLst>
          </a:prstGeom>
          <a:solidFill>
            <a:srgbClr val="152027"/>
          </a:solidFill>
          <a:ln>
            <a:solidFill>
              <a:srgbClr val="2B39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41832" y="3044952"/>
            <a:ext cx="2057400" cy="4114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800" b="1">
                <a:solidFill>
                  <a:srgbClr val="F4A05B"/>
                </a:solidFill>
                <a:latin typeface="Aptos Display"/>
              </a:rPr>
              <a:t>Существующий контур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3538728"/>
            <a:ext cx="2057400" cy="731519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300" b="0">
                <a:solidFill>
                  <a:srgbClr val="F6F7F7"/>
                </a:solidFill>
                <a:latin typeface="Aptos"/>
              </a:rPr>
              <a:t>Документы, версии и маршруты заказчика.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9584" y="2880360"/>
            <a:ext cx="2514600" cy="1554480"/>
          </a:xfrm>
          <a:prstGeom prst="roundRect">
            <a:avLst>
              <a:gd name="adj" fmla="val 12000"/>
            </a:avLst>
          </a:prstGeom>
          <a:solidFill>
            <a:srgbClr val="152027"/>
          </a:solidFill>
          <a:ln>
            <a:solidFill>
              <a:srgbClr val="2B39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758184" y="3044952"/>
            <a:ext cx="2057400" cy="4114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800" b="1">
                <a:solidFill>
                  <a:srgbClr val="76C9BF"/>
                </a:solidFill>
                <a:latin typeface="Aptos Display"/>
              </a:rPr>
              <a:t>AeroBIM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58184" y="3538728"/>
            <a:ext cx="2057400" cy="731519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300" b="0">
                <a:solidFill>
                  <a:srgbClr val="F6F7F7"/>
                </a:solidFill>
                <a:latin typeface="Aptos"/>
              </a:rPr>
              <a:t>Проверка, доказательства, отчёт.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45936" y="2880360"/>
            <a:ext cx="2514600" cy="1554480"/>
          </a:xfrm>
          <a:prstGeom prst="roundRect">
            <a:avLst>
              <a:gd name="adj" fmla="val 12000"/>
            </a:avLst>
          </a:prstGeom>
          <a:solidFill>
            <a:srgbClr val="152027"/>
          </a:solidFill>
          <a:ln>
            <a:solidFill>
              <a:srgbClr val="2B39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74536" y="3044952"/>
            <a:ext cx="2057400" cy="4114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800" b="1">
                <a:solidFill>
                  <a:srgbClr val="76C9BF"/>
                </a:solidFill>
                <a:latin typeface="Aptos Display"/>
              </a:rPr>
              <a:t>Эксперт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74536" y="3538728"/>
            <a:ext cx="2057400" cy="731519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300" b="0">
                <a:solidFill>
                  <a:srgbClr val="F6F7F7"/>
                </a:solidFill>
                <a:latin typeface="Aptos"/>
              </a:rPr>
              <a:t>Подтверждает или отклоняет замечание.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62288" y="2880360"/>
            <a:ext cx="2514600" cy="1554480"/>
          </a:xfrm>
          <a:prstGeom prst="roundRect">
            <a:avLst>
              <a:gd name="adj" fmla="val 12000"/>
            </a:avLst>
          </a:prstGeom>
          <a:solidFill>
            <a:srgbClr val="152027"/>
          </a:solidFill>
          <a:ln>
            <a:solidFill>
              <a:srgbClr val="2B39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390888" y="3044952"/>
            <a:ext cx="2057400" cy="4114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800" b="1">
                <a:solidFill>
                  <a:srgbClr val="F4A05B"/>
                </a:solidFill>
                <a:latin typeface="Aptos Display"/>
              </a:rPr>
              <a:t>BCF / JSON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90888" y="3538728"/>
            <a:ext cx="2057400" cy="731519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300" b="0">
                <a:solidFill>
                  <a:srgbClr val="F6F7F7"/>
                </a:solidFill>
                <a:latin typeface="Aptos"/>
              </a:rPr>
              <a:t>Передача после проверки импорта в целевой системе.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" y="4983480"/>
            <a:ext cx="5166360" cy="1097280"/>
          </a:xfrm>
          <a:prstGeom prst="roundRect">
            <a:avLst>
              <a:gd name="adj" fmla="val 12000"/>
            </a:avLst>
          </a:prstGeom>
          <a:solidFill>
            <a:srgbClr val="152027"/>
          </a:solidFill>
          <a:ln>
            <a:solidFill>
              <a:srgbClr val="2B39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41832" y="5148072"/>
            <a:ext cx="4709160" cy="4114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800" b="1">
                <a:solidFill>
                  <a:srgbClr val="76C9BF"/>
                </a:solidFill>
                <a:latin typeface="Aptos Display"/>
              </a:rPr>
              <a:t>Локальный запуск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" y="5532120"/>
            <a:ext cx="4709160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300" b="0" dirty="0" err="1">
                <a:solidFill>
                  <a:srgbClr val="F6F7F7"/>
                </a:solidFill>
                <a:latin typeface="Aptos"/>
              </a:rPr>
              <a:t>Основной</a:t>
            </a:r>
            <a:r>
              <a:rPr sz="1300" b="0" dirty="0">
                <a:solidFill>
                  <a:srgbClr val="F6F7F7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F6F7F7"/>
                </a:solidFill>
                <a:latin typeface="Aptos"/>
              </a:rPr>
              <a:t>гейт</a:t>
            </a:r>
            <a:r>
              <a:rPr sz="1300" b="0" dirty="0">
                <a:solidFill>
                  <a:srgbClr val="F6F7F7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F6F7F7"/>
                </a:solidFill>
                <a:latin typeface="Aptos"/>
              </a:rPr>
              <a:t>запускается</a:t>
            </a:r>
            <a:r>
              <a:rPr sz="1300" b="0" dirty="0">
                <a:solidFill>
                  <a:srgbClr val="F6F7F7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F6F7F7"/>
                </a:solidFill>
                <a:latin typeface="Aptos"/>
              </a:rPr>
              <a:t>локально</a:t>
            </a:r>
            <a:r>
              <a:rPr sz="1300" b="0" dirty="0">
                <a:solidFill>
                  <a:srgbClr val="F6F7F7"/>
                </a:solidFill>
                <a:latin typeface="Aptos"/>
              </a:rPr>
              <a:t>. </a:t>
            </a:r>
            <a:r>
              <a:rPr sz="1300" b="0" dirty="0" err="1">
                <a:solidFill>
                  <a:srgbClr val="F6F7F7"/>
                </a:solidFill>
                <a:latin typeface="Aptos"/>
              </a:rPr>
              <a:t>Закрытый</a:t>
            </a:r>
            <a:r>
              <a:rPr sz="1300" b="0" dirty="0">
                <a:solidFill>
                  <a:srgbClr val="F6F7F7"/>
                </a:solidFill>
                <a:latin typeface="Aptos"/>
              </a:rPr>
              <a:t> Docker-</a:t>
            </a:r>
            <a:r>
              <a:rPr sz="1300" b="0" dirty="0" err="1">
                <a:solidFill>
                  <a:srgbClr val="F6F7F7"/>
                </a:solidFill>
                <a:latin typeface="Aptos"/>
              </a:rPr>
              <a:t>контур</a:t>
            </a:r>
            <a:r>
              <a:rPr sz="1300" b="0" dirty="0">
                <a:solidFill>
                  <a:srgbClr val="F6F7F7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F6F7F7"/>
                </a:solidFill>
                <a:latin typeface="Aptos"/>
              </a:rPr>
              <a:t>проверен</a:t>
            </a:r>
            <a:r>
              <a:rPr sz="1300" b="0" dirty="0">
                <a:solidFill>
                  <a:srgbClr val="F6F7F7"/>
                </a:solidFill>
                <a:latin typeface="Aptos"/>
              </a:rPr>
              <a:t>. </a:t>
            </a:r>
            <a:r>
              <a:rPr sz="1300" b="0" dirty="0" err="1">
                <a:solidFill>
                  <a:srgbClr val="F6F7F7"/>
                </a:solidFill>
                <a:latin typeface="Aptos"/>
              </a:rPr>
              <a:t>Про</a:t>
            </a:r>
            <a:r>
              <a:rPr sz="1300" b="0" dirty="0">
                <a:solidFill>
                  <a:srgbClr val="F6F7F7"/>
                </a:solidFill>
                <a:latin typeface="Aptos"/>
              </a:rPr>
              <a:t> bare-metal offline </a:t>
            </a:r>
            <a:r>
              <a:rPr sz="1300" b="0" dirty="0" err="1">
                <a:solidFill>
                  <a:srgbClr val="F6F7F7"/>
                </a:solidFill>
                <a:latin typeface="Aptos"/>
              </a:rPr>
              <a:t>отдельно</a:t>
            </a:r>
            <a:r>
              <a:rPr sz="1300" b="0" dirty="0">
                <a:solidFill>
                  <a:srgbClr val="F6F7F7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F6F7F7"/>
                </a:solidFill>
                <a:latin typeface="Aptos"/>
              </a:rPr>
              <a:t>не</a:t>
            </a:r>
            <a:r>
              <a:rPr sz="1300" b="0" dirty="0">
                <a:solidFill>
                  <a:srgbClr val="F6F7F7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F6F7F7"/>
                </a:solidFill>
                <a:latin typeface="Aptos"/>
              </a:rPr>
              <a:t>заявляем</a:t>
            </a:r>
            <a:r>
              <a:rPr sz="1300" b="0" dirty="0">
                <a:solidFill>
                  <a:srgbClr val="F6F7F7"/>
                </a:solidFill>
                <a:latin typeface="Aptos"/>
              </a:rPr>
              <a:t>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9632" y="4983480"/>
            <a:ext cx="5166360" cy="1097280"/>
          </a:xfrm>
          <a:prstGeom prst="roundRect">
            <a:avLst>
              <a:gd name="adj" fmla="val 12000"/>
            </a:avLst>
          </a:prstGeom>
          <a:solidFill>
            <a:srgbClr val="152027"/>
          </a:solidFill>
          <a:ln>
            <a:solidFill>
              <a:srgbClr val="2B39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28232" y="5148072"/>
            <a:ext cx="4709160" cy="4114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800" b="1">
                <a:solidFill>
                  <a:srgbClr val="F4A05B"/>
                </a:solidFill>
                <a:latin typeface="Aptos Display"/>
              </a:rPr>
              <a:t>Интеграция не заявляется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8232" y="5532120"/>
            <a:ext cx="4709160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300" b="0">
                <a:solidFill>
                  <a:srgbClr val="F6F7F7"/>
                </a:solidFill>
                <a:latin typeface="Aptos"/>
              </a:rPr>
              <a:t>Сейчас предлагаем границу обмена, а не готовое подключение к 10D.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256032"/>
            <a:ext cx="5486400" cy="27432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l"/>
            <a:r>
              <a:rPr sz="1000" b="1">
                <a:solidFill>
                  <a:srgbClr val="F4A05B"/>
                </a:solidFill>
                <a:latin typeface="Aptos Mono"/>
              </a:rPr>
              <a:t>10 · ЧТО НУЖНО ОТ ЗАКАЗЧИКА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79" y="256032"/>
            <a:ext cx="3931920" cy="27432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r"/>
            <a:r>
              <a:rPr sz="900" b="0">
                <a:solidFill>
                  <a:srgbClr val="AEB9BD"/>
                </a:solidFill>
                <a:latin typeface="Aptos Mono"/>
              </a:rPr>
              <a:t>Следующий шаг после КТ#2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6492240"/>
            <a:ext cx="822960" cy="201168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r"/>
            <a:r>
              <a:rPr sz="800" b="0">
                <a:solidFill>
                  <a:srgbClr val="AEB9BD"/>
                </a:solidFill>
                <a:latin typeface="Aptos Mono"/>
              </a:rPr>
              <a:t>11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078992"/>
            <a:ext cx="10241280" cy="54864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l"/>
            <a:r>
              <a:rPr sz="2000" b="0">
                <a:solidFill>
                  <a:srgbClr val="F6F7F7"/>
                </a:solidFill>
                <a:latin typeface="Aptos"/>
              </a:rPr>
              <a:t>Чтобы начать измерение, нам нужен не «любой файл», а согласованный минимальный комплект.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2148840"/>
            <a:ext cx="5074920" cy="1234440"/>
          </a:xfrm>
          <a:prstGeom prst="roundRect">
            <a:avLst>
              <a:gd name="adj" fmla="val 12000"/>
            </a:avLst>
          </a:prstGeom>
          <a:solidFill>
            <a:srgbClr val="152027"/>
          </a:solidFill>
          <a:ln>
            <a:solidFill>
              <a:srgbClr val="2B39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295144"/>
            <a:ext cx="4672583" cy="347472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l"/>
            <a:r>
              <a:rPr sz="1700" b="1">
                <a:solidFill>
                  <a:srgbClr val="F4A05B"/>
                </a:solidFill>
                <a:latin typeface="Aptos Display"/>
              </a:rPr>
              <a:t>01  Один комплект одной ревизии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15768"/>
            <a:ext cx="4672583" cy="54864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l"/>
            <a:r>
              <a:rPr sz="1200" b="0">
                <a:solidFill>
                  <a:srgbClr val="F6F7F7"/>
                </a:solidFill>
                <a:latin typeface="Aptos"/>
              </a:rPr>
              <a:t>ПД/РД, IFC, 2D/PDF и фрагмент требований.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2" y="2148840"/>
            <a:ext cx="5074920" cy="1234440"/>
          </a:xfrm>
          <a:prstGeom prst="roundRect">
            <a:avLst>
              <a:gd name="adj" fmla="val 12000"/>
            </a:avLst>
          </a:prstGeom>
          <a:solidFill>
            <a:srgbClr val="152027"/>
          </a:solidFill>
          <a:ln>
            <a:solidFill>
              <a:srgbClr val="2B39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0" y="2295144"/>
            <a:ext cx="4672583" cy="347472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l"/>
            <a:r>
              <a:rPr sz="1700" b="1">
                <a:solidFill>
                  <a:srgbClr val="76C9BF"/>
                </a:solidFill>
                <a:latin typeface="Aptos Display"/>
              </a:rPr>
              <a:t>02  Профиль приёмки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715768"/>
            <a:ext cx="4672583" cy="54864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l"/>
            <a:r>
              <a:rPr sz="1200" b="0">
                <a:solidFill>
                  <a:srgbClr val="F6F7F7"/>
                </a:solidFill>
                <a:latin typeface="Aptos"/>
              </a:rPr>
              <a:t>IDS или rule pack с версией, approval_ref и pack_hash.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749039"/>
            <a:ext cx="5074920" cy="1234440"/>
          </a:xfrm>
          <a:prstGeom prst="roundRect">
            <a:avLst>
              <a:gd name="adj" fmla="val 12000"/>
            </a:avLst>
          </a:prstGeom>
          <a:solidFill>
            <a:srgbClr val="152027"/>
          </a:solidFill>
          <a:ln>
            <a:solidFill>
              <a:srgbClr val="2B39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3895344"/>
            <a:ext cx="4672583" cy="347472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l"/>
            <a:r>
              <a:rPr sz="1700" b="1">
                <a:solidFill>
                  <a:srgbClr val="76C9BF"/>
                </a:solidFill>
                <a:latin typeface="Aptos Display"/>
              </a:rPr>
              <a:t>03  Разметка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315968"/>
            <a:ext cx="4672583" cy="54864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l"/>
            <a:r>
              <a:rPr sz="1200" b="0">
                <a:solidFill>
                  <a:srgbClr val="F6F7F7"/>
                </a:solidFill>
                <a:latin typeface="Aptos"/>
              </a:rPr>
              <a:t>Два независимых инженера, TP/FP/FN и журнал спорных случаев.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9632" y="3749039"/>
            <a:ext cx="5074920" cy="1234440"/>
          </a:xfrm>
          <a:prstGeom prst="roundRect">
            <a:avLst>
              <a:gd name="adj" fmla="val 12000"/>
            </a:avLst>
          </a:prstGeom>
          <a:solidFill>
            <a:srgbClr val="152027"/>
          </a:solidFill>
          <a:ln>
            <a:solidFill>
              <a:srgbClr val="2B39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0" y="3895344"/>
            <a:ext cx="4672583" cy="347472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l"/>
            <a:r>
              <a:rPr sz="1700" b="1">
                <a:solidFill>
                  <a:srgbClr val="F4A05B"/>
                </a:solidFill>
                <a:latin typeface="Aptos Display"/>
              </a:rPr>
              <a:t>04  Целевая система общих данных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315968"/>
            <a:ext cx="4672583" cy="54864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l"/>
            <a:r>
              <a:rPr sz="1200" b="0">
                <a:solidFill>
                  <a:srgbClr val="F6F7F7"/>
                </a:solidFill>
                <a:latin typeface="Aptos"/>
              </a:rPr>
              <a:t>Название системы и версии, затем скрин или лог импорта BCF.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559552"/>
            <a:ext cx="10332720" cy="41148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l"/>
            <a:r>
              <a:rPr sz="1600" b="0">
                <a:solidFill>
                  <a:srgbClr val="AEB9BD"/>
                </a:solidFill>
                <a:latin typeface="Aptos"/>
              </a:rPr>
              <a:t>Результат пилотного шага: воспроизводимый отчёт с находками, источниками, хешами и решением эксперта.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256032"/>
            <a:ext cx="5486400" cy="27432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l"/>
            <a:r>
              <a:rPr sz="1000" b="1">
                <a:solidFill>
                  <a:srgbClr val="F4A05B"/>
                </a:solidFill>
                <a:latin typeface="Aptos Mono"/>
              </a:rPr>
              <a:t>11 · ФИНАЛ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79" y="256032"/>
            <a:ext cx="3931920" cy="27432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r"/>
            <a:r>
              <a:rPr sz="900" b="0">
                <a:solidFill>
                  <a:srgbClr val="AEB9BD"/>
                </a:solidFill>
                <a:latin typeface="Aptos Mono"/>
              </a:rPr>
              <a:t>AeroBIM · КТ#2 · 20.08.2026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6492240"/>
            <a:ext cx="822960" cy="201168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r"/>
            <a:r>
              <a:rPr sz="800" b="0">
                <a:solidFill>
                  <a:srgbClr val="AEB9BD"/>
                </a:solidFill>
                <a:latin typeface="Aptos Mono"/>
              </a:rPr>
              <a:t>12 /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143000"/>
            <a:ext cx="10744200" cy="2057400"/>
          </a:xfrm>
          <a:prstGeom prst="rect">
            <a:avLst/>
          </a:prstGeom>
          <a:solidFill>
            <a:srgbClr val="2A1F18"/>
          </a:solidFill>
          <a:ln>
            <a:solidFill>
              <a:srgbClr val="F4A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87552" y="1444752"/>
            <a:ext cx="10195560" cy="137160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l"/>
            <a:r>
              <a:rPr sz="2100" b="0">
                <a:solidFill>
                  <a:srgbClr val="F6F7F7"/>
                </a:solidFill>
                <a:latin typeface="Aptos"/>
              </a:rPr>
              <a:t>Мы на стадии доработки контура заказчика. Одна команда показывает находку с доказательствами на учебном комплекте. Валидация эффективности и внедрение у назначающей стороны ещё не начались. Checkpoint GO — регуляторно-измерительный MVP. customer_go остаётся false, пока нет независимого размеченного корпуса, двух разметчиков, подписанного профиля назначающей стороны и подтверждения импорта в СОД.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3749039"/>
            <a:ext cx="3337560" cy="1234440"/>
          </a:xfrm>
          <a:prstGeom prst="roundRect">
            <a:avLst>
              <a:gd name="adj" fmla="val 12000"/>
            </a:avLst>
          </a:prstGeom>
          <a:solidFill>
            <a:srgbClr val="152027"/>
          </a:solidFill>
          <a:ln>
            <a:solidFill>
              <a:srgbClr val="2B39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3895344"/>
            <a:ext cx="2935224" cy="347472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l"/>
            <a:r>
              <a:rPr sz="1700" b="1">
                <a:solidFill>
                  <a:srgbClr val="F4A05B"/>
                </a:solidFill>
                <a:latin typeface="Aptos Display"/>
              </a:rPr>
              <a:t>Показываем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315968"/>
            <a:ext cx="2935224" cy="54864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l"/>
            <a:r>
              <a:rPr sz="1200" b="0">
                <a:solidFill>
                  <a:srgbClr val="F6F7F7"/>
                </a:solidFill>
                <a:latin typeface="Aptos"/>
              </a:rPr>
              <a:t>Одна команда в терминале: run_demo_ifc_acceptance_gate.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7408" y="3749039"/>
            <a:ext cx="3337560" cy="1234440"/>
          </a:xfrm>
          <a:prstGeom prst="roundRect">
            <a:avLst>
              <a:gd name="adj" fmla="val 12000"/>
            </a:avLst>
          </a:prstGeom>
          <a:solidFill>
            <a:srgbClr val="152027"/>
          </a:solidFill>
          <a:ln>
            <a:solidFill>
              <a:srgbClr val="2B39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08576" y="3895344"/>
            <a:ext cx="2935224" cy="347472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l"/>
            <a:r>
              <a:rPr sz="1700" b="1">
                <a:solidFill>
                  <a:srgbClr val="76C9BF"/>
                </a:solidFill>
                <a:latin typeface="Aptos Display"/>
              </a:rPr>
              <a:t>Доказываем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08576" y="4315968"/>
            <a:ext cx="2935224" cy="54864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l"/>
            <a:r>
              <a:rPr sz="1200" b="0">
                <a:solidFill>
                  <a:srgbClr val="F6F7F7"/>
                </a:solidFill>
                <a:latin typeface="Aptos"/>
              </a:rPr>
              <a:t>Путь находки от требования до источника.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01583" y="3749039"/>
            <a:ext cx="3337560" cy="1234440"/>
          </a:xfrm>
          <a:prstGeom prst="roundRect">
            <a:avLst>
              <a:gd name="adj" fmla="val 12000"/>
            </a:avLst>
          </a:prstGeom>
          <a:solidFill>
            <a:srgbClr val="152027"/>
          </a:solidFill>
          <a:ln>
            <a:solidFill>
              <a:srgbClr val="2B39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02752" y="3895344"/>
            <a:ext cx="2935224" cy="347472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l"/>
            <a:r>
              <a:rPr sz="1700" b="1">
                <a:solidFill>
                  <a:srgbClr val="F4A05B"/>
                </a:solidFill>
                <a:latin typeface="Aptos Display"/>
              </a:rPr>
              <a:t>Просим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02752" y="4315968"/>
            <a:ext cx="2935224" cy="54864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l"/>
            <a:r>
              <a:rPr sz="1200" b="0">
                <a:solidFill>
                  <a:srgbClr val="F6F7F7"/>
                </a:solidFill>
                <a:latin typeface="Aptos"/>
              </a:rPr>
              <a:t>Минимальный комплект для честного измерения.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623560"/>
            <a:ext cx="10058400" cy="32004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l"/>
            <a:r>
              <a:rPr sz="1600" b="0">
                <a:solidFill>
                  <a:srgbClr val="AEB9BD"/>
                </a:solidFill>
                <a:latin typeface="Aptos"/>
              </a:rPr>
              <a:t>Не обещаем готовность. Показываем работающий контур и следующий проверяемый шаг.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1025</Words>
  <Application>Microsoft Office PowerPoint</Application>
  <PresentationFormat>Широкоэкранный</PresentationFormat>
  <Paragraphs>132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8" baseType="lpstr">
      <vt:lpstr>Aptos</vt:lpstr>
      <vt:lpstr>Aptos Display</vt:lpstr>
      <vt:lpstr>Aptos Mono</vt:lpstr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Ivan Ivanov</cp:lastModifiedBy>
  <cp:revision>2</cp:revision>
  <dcterms:created xsi:type="dcterms:W3CDTF">2013-01-27T09:14:16Z</dcterms:created>
  <dcterms:modified xsi:type="dcterms:W3CDTF">2026-08-17T19:46:22Z</dcterms:modified>
  <cp:category/>
</cp:coreProperties>
</file>