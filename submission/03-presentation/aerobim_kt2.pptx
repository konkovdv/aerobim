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ТЕХЛАБ МОСКВА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КТ#2 · 20.08.2026 · ЗАДАЧА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700" b="1">
                <a:solidFill>
                  <a:srgbClr val="F6F7F7"/>
                </a:solidFill>
                <a:latin typeface="Aptos Display"/>
              </a:rPr>
              <a:t>Проверяем
</a:t>
            </a:r>
            <a:r>
              <a:rPr sz="4700" b="1">
                <a:solidFill>
                  <a:srgbClr val="F4A05B"/>
                </a:solidFill>
                <a:latin typeface="Aptos Display"/>
              </a:rPr>
              <a:t>не слова,</a:t>
            </a:r>
            <a:r>
              <a:rPr sz="4700" b="1">
                <a:solidFill>
                  <a:srgbClr val="F6F7F7"/>
                </a:solidFill>
                <a:latin typeface="Aptos Display"/>
              </a:rPr>
              <a:t>
а комплект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886200"/>
            <a:ext cx="7863840" cy="6583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900" b="0">
                <a:solidFill>
                  <a:srgbClr val="D6DFE1"/>
                </a:solidFill>
                <a:latin typeface="Aptos"/>
              </a:rPr>
              <a:t>Связываем требование, правило, объект и доказательство. Окончательное решение остаётся за экспертом.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5074920"/>
            <a:ext cx="4663440" cy="658368"/>
          </a:xfrm>
          <a:prstGeom prst="roundRect">
            <a:avLst>
              <a:gd name="adj" fmla="val 12000"/>
            </a:avLst>
          </a:prstGeom>
          <a:solidFill>
            <a:srgbClr val="36261B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5202936"/>
            <a:ext cx="117043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200" b="1">
                <a:solidFill>
                  <a:srgbClr val="F4A05B"/>
                </a:solidFill>
                <a:latin typeface="Aptos Display"/>
              </a:rPr>
              <a:t>NO_GO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5202936"/>
            <a:ext cx="30175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Стадия МИК: доработка · показ на учебном комплекте</a:t>
            </a:r>
          </a:p>
        </p:txBody>
      </p:sp>
      <p:sp>
        <p:nvSpPr>
          <p:cNvPr id="10" name="Oval 9"/>
          <p:cNvSpPr/>
          <p:nvPr/>
        </p:nvSpPr>
        <p:spPr>
          <a:xfrm>
            <a:off x="8595360" y="1417320"/>
            <a:ext cx="2423160" cy="2423160"/>
          </a:xfrm>
          <a:prstGeom prst="ellipse">
            <a:avLst/>
          </a:prstGeom>
          <a:noFill/>
          <a:ln w="19050"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18320" y="2240280"/>
            <a:ext cx="777240" cy="777240"/>
          </a:xfrm>
          <a:prstGeom prst="roundRect">
            <a:avLst>
              <a:gd name="adj" fmla="val 12000"/>
            </a:avLst>
          </a:prstGeom>
          <a:solidFill>
            <a:srgbClr val="F4A05B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01 · 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Где возникает ошибка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800" b="1">
                <a:solidFill>
                  <a:srgbClr val="F6F7F7"/>
                </a:solidFill>
                <a:latin typeface="Aptos Display"/>
              </a:rPr>
              <a:t>Каждый файл может быть в порядке.
</a:t>
            </a:r>
            <a:r>
              <a:rPr sz="3800" b="1">
                <a:solidFill>
                  <a:srgbClr val="F4A05B"/>
                </a:solidFill>
                <a:latin typeface="Aptos Display"/>
              </a:rPr>
              <a:t>Комплект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10332720" cy="7315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0">
                <a:solidFill>
                  <a:srgbClr val="D6DFE1"/>
                </a:solidFill>
                <a:latin typeface="Aptos"/>
              </a:rPr>
              <a:t>Расхождение появляется между моделью, чертежом, ведомостью, ТЗ и расчётным материалом. Эксперт находит его ручной сверкой в нескольких программах.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49039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91363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Модель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407407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Свойство отсутствует, единица неверна, версия не 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3749039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391363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Документ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407407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Число или обозначение не совпадает с моделью.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3749039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30183" y="391363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Решение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3" y="4407407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Замечание нужно подтвердить, отклонить или исправить.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02 ·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Один проверяемый сценарий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900" b="1">
                <a:solidFill>
                  <a:srgbClr val="F6F7F7"/>
                </a:solidFill>
                <a:latin typeface="Aptos Display"/>
              </a:rPr>
              <a:t>Проверка IFC-пакета
</a:t>
            </a:r>
            <a:r>
              <a:rPr sz="3900" b="1">
                <a:solidFill>
                  <a:srgbClr val="76C9BF"/>
                </a:solidFill>
                <a:latin typeface="Aptos Display"/>
              </a:rPr>
              <a:t>перед согласованием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Требование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Что должно быть в комплекте.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9584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Правило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Как это проверить одинаково.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74536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Объект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Конкретный GUID, лист или источник.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2288" y="278892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90888" y="295351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Доказательство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3447287"/>
            <a:ext cx="205740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Отчёт, ссылка, ожидаемое и фактическое значение.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800600"/>
            <a:ext cx="10744200" cy="777240"/>
          </a:xfrm>
          <a:prstGeom prst="rect">
            <a:avLst/>
          </a:prstGeom>
          <a:solidFill>
            <a:srgbClr val="2A1F18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4965192"/>
            <a:ext cx="1024128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>
                <a:solidFill>
                  <a:srgbClr val="F6F7F7"/>
                </a:solidFill>
                <a:latin typeface="Aptos"/>
              </a:rPr>
              <a:t>Сейчас этот сценарий показан на учебном комплекте. AeroBIM не заменяет 10D, Tangl, Renga, СОД или эксперта.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03 · КАК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Без чёрного ящика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100" b="1">
                <a:solidFill>
                  <a:srgbClr val="F6F7F7"/>
                </a:solidFill>
                <a:latin typeface="Aptos Display"/>
              </a:rPr>
              <a:t>Сначала правила.
</a:t>
            </a:r>
            <a:r>
              <a:rPr sz="4100" b="1">
                <a:solidFill>
                  <a:srgbClr val="F4A05B"/>
                </a:solidFill>
                <a:latin typeface="Aptos Display"/>
              </a:rPr>
              <a:t>Потом подсказки.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743200"/>
            <a:ext cx="5166360" cy="2240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0779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Технический результат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01568"/>
            <a:ext cx="4709160" cy="1417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Детерминированные проверки: IFC, IDS, свойства, количества, сопоставление документов. Обязательная непройденная проверка становится FAILED и блокирует результат.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743200"/>
            <a:ext cx="5166360" cy="2240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8232" y="290779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Помощь эксперту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3401568"/>
            <a:ext cx="4709160" cy="1417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Извлечение текста и кандидатов, черновик формулировки замечания. Не меняет итоговый технический флаг.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AEB9BD"/>
                </a:solidFill>
                <a:latin typeface="Aptos Mono"/>
              </a:rPr>
              <a:t>Правило закреплено в ADR-001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04 · ЖИВОЙ ПОКАЗ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Терминал, не снимок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078992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F4A05B"/>
                </a:solidFill>
                <a:latin typeface="Aptos Mono"/>
              </a:rPr>
              <a:t>ОСНОВНАЯ КОМАНДА КТ#2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300" b="1">
                <a:solidFill>
                  <a:srgbClr val="F6F7F7"/>
                </a:solidFill>
                <a:latin typeface="Aptos Display"/>
              </a:rPr>
              <a:t>Одна команда.
</a:t>
            </a:r>
            <a:r>
              <a:rPr sz="4300" b="1">
                <a:solidFill>
                  <a:srgbClr val="76C9BF"/>
                </a:solidFill>
                <a:latin typeface="Aptos Display"/>
              </a:rPr>
              <a:t>Одна находка.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880360"/>
            <a:ext cx="10789920" cy="2057400"/>
          </a:xfrm>
          <a:prstGeom prst="roundRect">
            <a:avLst>
              <a:gd name="adj" fmla="val 12000"/>
            </a:avLst>
          </a:prstGeom>
          <a:solidFill>
            <a:srgbClr val="04080A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182112"/>
            <a:ext cx="10241280" cy="14813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F6F7F7"/>
                </a:solidFill>
                <a:latin typeface="Aptos Mono"/>
              </a:rPr>
              <a:t>$ python -m aerobim.tools.run_demo_ifc_acceptance_gate</a:t>
            </a:r>
            <a:br/>
            <a:br/>
            <a:r>
              <a:rPr sz="1600" b="0">
                <a:solidFill>
                  <a:srgbClr val="F6F7F7"/>
                </a:solidFill>
                <a:latin typeface="Aptos Mono"/>
              </a:rPr>
              <a:t>IFC + IDS → finding</a:t>
            </a:r>
            <a:br/>
            <a:r>
              <a:rPr sz="1600" b="0">
                <a:solidFill>
                  <a:srgbClr val="F6F7F7"/>
                </a:solidFill>
                <a:latin typeface="Aptos Mono"/>
              </a:rPr>
              <a:t>GUID → правило → ожидаемое / фактическое значение → доказательство</a:t>
            </a:r>
            <a:br/>
            <a:r>
              <a:rPr sz="1600" b="0">
                <a:solidFill>
                  <a:srgbClr val="F6F7F7"/>
                </a:solidFill>
                <a:latin typeface="Aptos Mono"/>
              </a:rPr>
              <a:t>summary.passed = false
Это технический флаг настроенного Shared-gate, не решение эксперта и не разрешение на стройку.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10515600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0" dirty="0" err="1">
                <a:solidFill>
                  <a:srgbClr val="AEB9BD"/>
                </a:solidFill>
                <a:latin typeface="Aptos"/>
              </a:rPr>
              <a:t>Ожидаемо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: в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учебной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фикстуре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заранее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заложен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дефект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.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Наложение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на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чертёж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показывается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отдельно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как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P1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того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же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конвейера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.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Снимок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HTML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не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используем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: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показываем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живую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команду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 в </a:t>
            </a:r>
            <a:r>
              <a:rPr sz="1500" b="0" dirty="0" err="1">
                <a:solidFill>
                  <a:srgbClr val="AEB9BD"/>
                </a:solidFill>
                <a:latin typeface="Aptos"/>
              </a:rPr>
              <a:t>терминале</a:t>
            </a:r>
            <a:r>
              <a:rPr sz="1500" b="0" dirty="0">
                <a:solidFill>
                  <a:srgbClr val="AEB9BD"/>
                </a:solidFill>
                <a:latin typeface="Apto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48760"/>
            <a:ext cx="10241280" cy="461665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br>
              <a:rPr lang="ru-RU" sz="1200" b="0" dirty="0">
                <a:solidFill>
                  <a:srgbClr val="AEB9BD"/>
                </a:solidFill>
                <a:latin typeface="Aptos"/>
              </a:rPr>
            </a:br>
            <a:r>
              <a:rPr sz="1200" b="0" dirty="0" err="1">
                <a:solidFill>
                  <a:srgbClr val="AEB9BD"/>
                </a:solidFill>
                <a:latin typeface="Aptos"/>
              </a:rPr>
              <a:t>На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выходе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: HTML, JSON и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структурный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BCF ZIP.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Импорт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в СОД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отдельно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проверяется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AEB9BD"/>
                </a:solidFill>
                <a:latin typeface="Aptos"/>
              </a:rPr>
              <a:t>заказчиком</a:t>
            </a:r>
            <a:r>
              <a:rPr sz="1200" b="0" dirty="0">
                <a:solidFill>
                  <a:srgbClr val="AEB9BD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05 · ЧТО ДОКАЗАНО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Учебный комплект и открытые наборы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900" b="1">
                <a:solidFill>
                  <a:srgbClr val="F6F7F7"/>
                </a:solidFill>
                <a:latin typeface="Aptos Display"/>
              </a:rPr>
              <a:t>Цифры есть.
</a:t>
            </a:r>
            <a:r>
              <a:rPr sz="3900" b="1">
                <a:solidFill>
                  <a:srgbClr val="F4A05B"/>
                </a:solidFill>
                <a:latin typeface="Aptos Display"/>
              </a:rPr>
              <a:t>Это не точность продукта.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88036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304495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Открытый набор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3872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Countable-срез открытого набора; не корпус Самолёта.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288036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8" y="304495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Учебная 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53872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AABB-срез учебной модели; не MEP-система и не показатель ТЗ.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288036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0183" y="304495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Учебная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3" y="353872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F1 на учебной фикстуре; не точность продукта.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074920"/>
            <a:ext cx="10744200" cy="914400"/>
          </a:xfrm>
          <a:prstGeom prst="rect">
            <a:avLst/>
          </a:prstGeom>
          <a:solidFill>
            <a:srgbClr val="2A1F18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5266944"/>
            <a:ext cx="1024128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0" dirty="0" err="1">
                <a:solidFill>
                  <a:srgbClr val="F6F7F7"/>
                </a:solidFill>
                <a:latin typeface="Aptos"/>
              </a:rPr>
              <a:t>Наш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сильный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результат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сейчас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: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воспроизводимый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отказ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с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понятным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доказательством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, а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не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красивый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процент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без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700" b="0" dirty="0" err="1">
                <a:solidFill>
                  <a:srgbClr val="F6F7F7"/>
                </a:solidFill>
                <a:latin typeface="Aptos"/>
              </a:rPr>
              <a:t>корпуса</a:t>
            </a:r>
            <a:r>
              <a:rPr sz="1700" b="0" dirty="0">
                <a:solidFill>
                  <a:srgbClr val="F6F7F7"/>
                </a:solidFill>
                <a:latin typeface="Apto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715000"/>
            <a:ext cx="10241280" cy="2743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r>
              <a:rPr sz="1100" b="0" dirty="0" err="1">
                <a:solidFill>
                  <a:srgbClr val="AEB9BD"/>
                </a:solidFill>
                <a:latin typeface="Aptos"/>
              </a:rPr>
              <a:t>Все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три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примера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относятся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к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разным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контурам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и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не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складываются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в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общий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AEB9BD"/>
                </a:solidFill>
                <a:latin typeface="Aptos"/>
              </a:rPr>
              <a:t>показатель</a:t>
            </a:r>
            <a:r>
              <a:rPr sz="1100" b="0" dirty="0">
                <a:solidFill>
                  <a:srgbClr val="AEB9BD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06 · 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Честный отказ лучше зелёной ошибки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600" b="1">
                <a:solidFill>
                  <a:srgbClr val="F6F7F7"/>
                </a:solidFill>
                <a:latin typeface="Aptos Display"/>
              </a:rPr>
              <a:t>Если проверку нельзя выполнить,
</a:t>
            </a:r>
            <a:r>
              <a:rPr sz="3600" b="1">
                <a:solidFill>
                  <a:srgbClr val="F4A05B"/>
                </a:solidFill>
                <a:latin typeface="Aptos Display"/>
              </a:rPr>
              <a:t>система не делает вид, что всё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74320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0779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DWG · не реализован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0156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Нативное чтение DWG отсутствует. Молчаливого пропуска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274320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8" y="290779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MEP · не проверен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340156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Общие пересечения и AABB не означают системную проверку инженерных сетей.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2743200"/>
            <a:ext cx="3337560" cy="16459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0183" y="2907792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СОД · импорт не доказан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3" y="3401568"/>
            <a:ext cx="2880360" cy="8229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BCF ZIP сформирован структурно. Импорт в целевую СОД ещё не подтверждён.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07 · КАК БУДЕМ МЕРИТЬ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Сначала договоримся о правилах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900" b="1">
                <a:solidFill>
                  <a:srgbClr val="F6F7F7"/>
                </a:solidFill>
                <a:latin typeface="Aptos Display"/>
              </a:rPr>
              <a:t>Не называем процент,
</a:t>
            </a:r>
            <a:r>
              <a:rPr sz="3900" b="1">
                <a:solidFill>
                  <a:srgbClr val="76C9BF"/>
                </a:solidFill>
                <a:latin typeface="Aptos Display"/>
              </a:rPr>
              <a:t>пока не определили ошибку.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834640"/>
            <a:ext cx="5166360" cy="205740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99923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Что нужно для честной оценки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93008"/>
            <a:ext cx="4709160" cy="1234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Комплект Самолёта и его хеш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Подписанный профиль приёмки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Два независимых инженера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Скрытая проверочная выборка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166360" cy="205740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8232" y="299923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Что получим на выходе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3493008"/>
            <a:ext cx="4709160" cy="1234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Найдено и подтверждено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Ложные срабатывания и пропуски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Согласие разметчиков</a:t>
            </a:r>
            <a:br/>
            <a:r>
              <a:rPr sz="1300" b="0">
                <a:solidFill>
                  <a:srgbClr val="F6F7F7"/>
                </a:solidFill>
                <a:latin typeface="Aptos"/>
              </a:rPr>
              <a:t>Время на согласованном комплекте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05840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0">
                <a:solidFill>
                  <a:srgbClr val="AEB9BD"/>
                </a:solidFill>
                <a:latin typeface="Aptos"/>
              </a:rPr>
              <a:t>Сейчас методика готова, а проверка эффективности на данных заказчика ещё не начата.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42432"/>
            <a:ext cx="10058400" cy="3200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r>
              <a:rPr sz="1200" b="0">
                <a:solidFill>
                  <a:srgbClr val="AEB9BD"/>
                </a:solidFill>
                <a:latin typeface="Aptos"/>
              </a:rPr>
              <a:t>Единица анализа и правила фиксируются до запуска; спорные случаи не превращаются в удобные цифры.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08 · ЭФФЕКТ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Так будем измерять на пилоте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4000" b="1">
                <a:solidFill>
                  <a:srgbClr val="F6F7F7"/>
                </a:solidFill>
                <a:latin typeface="Aptos Display"/>
              </a:rPr>
              <a:t>Ценность не в том,
чтобы убрать эксперта.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05840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000" b="0">
                <a:solidFill>
                  <a:srgbClr val="D6DFE1"/>
                </a:solidFill>
                <a:latin typeface="Aptos"/>
              </a:rPr>
              <a:t>Ценность в том, чтобы раньше показать расхождение, дать ему источник и не возвращать один и тот же комплект по кругу.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03320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86791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01 · Скорость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361688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Время до первого полезного замечания.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3703320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386791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02 · Качество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361688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Доля замечаний, которые эксперт принимает без переписывания.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3703320"/>
            <a:ext cx="3337560" cy="141732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30183" y="3867911"/>
            <a:ext cx="28803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03 · Повтор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3" y="4361688"/>
            <a:ext cx="2880360" cy="5943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Что исправилось после следующей версии комплекта.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32120"/>
            <a:ext cx="8686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AEB9BD"/>
                </a:solidFill>
                <a:latin typeface="Aptos"/>
              </a:rPr>
              <a:t>Снижение трудозатрат на 20% — гипотеза для проверки, не достигнутый результат.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3035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09 · ВСТРАИВАНИЕ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56032"/>
            <a:ext cx="36576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Без смены основного контура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10972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3800" b="1">
                <a:solidFill>
                  <a:srgbClr val="F6F7F7"/>
                </a:solidFill>
                <a:latin typeface="Aptos Display"/>
              </a:rPr>
              <a:t>Сначала обмен файлами.
</a:t>
            </a:r>
            <a:r>
              <a:rPr sz="3800" b="1">
                <a:solidFill>
                  <a:srgbClr val="76C9BF"/>
                </a:solidFill>
                <a:latin typeface="Aptos Display"/>
              </a:rPr>
              <a:t>Потом, если подтвердится польза.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Существующий контур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Документы, версии и маршруты заказчика.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9584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AeroBIM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Проверка, доказательства, отчёт.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74536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Эксперт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Подтверждает или отклоняет замечание.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2288" y="2880360"/>
            <a:ext cx="2514600" cy="15544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90888" y="3044952"/>
            <a:ext cx="205740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BCF /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3538728"/>
            <a:ext cx="2057400" cy="73151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Передача после проверки импорта в целевой системе.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98348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1832" y="514807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76C9BF"/>
                </a:solidFill>
                <a:latin typeface="Aptos Display"/>
              </a:rPr>
              <a:t>Локальный запуск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5532120"/>
            <a:ext cx="47091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 dirty="0" err="1">
                <a:solidFill>
                  <a:srgbClr val="F6F7F7"/>
                </a:solidFill>
                <a:latin typeface="Aptos"/>
              </a:rPr>
              <a:t>Основной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гейт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запускается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локально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.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Закрытый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Docker-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контур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проверен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.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Про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bare-metal offline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отдельно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не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F6F7F7"/>
                </a:solidFill>
                <a:latin typeface="Aptos"/>
              </a:rPr>
              <a:t>заявляем</a:t>
            </a:r>
            <a:r>
              <a:rPr sz="1300" b="0" dirty="0">
                <a:solidFill>
                  <a:srgbClr val="F6F7F7"/>
                </a:solidFill>
                <a:latin typeface="Aptos"/>
              </a:rPr>
              <a:t>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498348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28232" y="5148072"/>
            <a:ext cx="47091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800" b="1">
                <a:solidFill>
                  <a:srgbClr val="F4A05B"/>
                </a:solidFill>
                <a:latin typeface="Aptos Display"/>
              </a:rPr>
              <a:t>Интеграция не заявляется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532120"/>
            <a:ext cx="47091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0">
                <a:solidFill>
                  <a:srgbClr val="F6F7F7"/>
                </a:solidFill>
                <a:latin typeface="Aptos"/>
              </a:rPr>
              <a:t>Сейчас предлагаем границу обмена, а не готовое подключение к 10D.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10 · ЧТО НУЖНО ОТ ЗАКАЗЧИКА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256032"/>
            <a:ext cx="393192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Следующий шаг после КТ#2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078992"/>
            <a:ext cx="1024128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0">
                <a:solidFill>
                  <a:srgbClr val="F6F7F7"/>
                </a:solidFill>
                <a:latin typeface="Aptos"/>
              </a:rPr>
              <a:t>Чтобы начать измерение, нам нужен не «любой файл», а согласованный минимальный комплект.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148840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951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01  Один комплект одной ревизии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ПД/РД, IFC, 2D/PDF и фрагмент требований.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148840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22951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76C9BF"/>
                </a:solidFill>
                <a:latin typeface="Aptos Display"/>
              </a:rPr>
              <a:t>02  Профиль приёмки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157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IDS или rule pack с версией, approval_ref и pack_hash.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49039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76C9BF"/>
                </a:solidFill>
                <a:latin typeface="Aptos Display"/>
              </a:rPr>
              <a:t>03  Разметка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159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Два независимых инженера, TP/FP/FN и журнал спорных случаев.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749039"/>
            <a:ext cx="507492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3895344"/>
            <a:ext cx="4672583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04  Целевая система общих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15968"/>
            <a:ext cx="4672583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Название системы и версии, затем скрин или лог импорта BCF.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59552"/>
            <a:ext cx="10332720" cy="41148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0">
                <a:solidFill>
                  <a:srgbClr val="AEB9BD"/>
                </a:solidFill>
                <a:latin typeface="Aptos"/>
              </a:rPr>
              <a:t>Результат пилотного шага: воспроизводимый отчёт с находками, источниками, хешами и решением эксперта.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000" b="1">
                <a:solidFill>
                  <a:srgbClr val="F4A05B"/>
                </a:solidFill>
                <a:latin typeface="Aptos Mono"/>
              </a:rPr>
              <a:t>11 · 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256032"/>
            <a:ext cx="3931920" cy="2743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900" b="0">
                <a:solidFill>
                  <a:srgbClr val="AEB9BD"/>
                </a:solidFill>
                <a:latin typeface="Aptos Mono"/>
              </a:rPr>
              <a:t>AeroBIM · КТ#2 · 20.08.2026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44200" y="6492240"/>
            <a:ext cx="822960" cy="20116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r"/>
            <a:r>
              <a:rPr sz="800" b="0">
                <a:solidFill>
                  <a:srgbClr val="AEB9BD"/>
                </a:solidFill>
                <a:latin typeface="Aptos Mono"/>
              </a:rPr>
              <a:t>12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143000"/>
            <a:ext cx="10744200" cy="2057400"/>
          </a:xfrm>
          <a:prstGeom prst="rect">
            <a:avLst/>
          </a:prstGeom>
          <a:solidFill>
            <a:srgbClr val="2A1F18"/>
          </a:solidFill>
          <a:ln>
            <a:solidFill>
              <a:srgbClr val="F4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1444752"/>
            <a:ext cx="10195560" cy="13716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100" b="0">
                <a:solidFill>
                  <a:srgbClr val="F6F7F7"/>
                </a:solidFill>
                <a:latin typeface="Aptos"/>
              </a:rPr>
              <a:t>Мы на стадии доработки. Одна команда показывает находку с доказательствами на учебном комплекте. Валидация эффективности и внедрение ещё не начались. NO_GO сохраняется, пока нет корпуса Самолёта, двух разметчиков, подписанного профиля приёмки и подтверждения импорта в СОД.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49039"/>
            <a:ext cx="333756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895344"/>
            <a:ext cx="2935224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Показываем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15968"/>
            <a:ext cx="2935224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Одна команда в терминале: run_demo_ifc_acceptance_gate.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3749039"/>
            <a:ext cx="333756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08576" y="3895344"/>
            <a:ext cx="2935224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76C9BF"/>
                </a:solidFill>
                <a:latin typeface="Aptos Display"/>
              </a:rPr>
              <a:t>Доказываем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4315968"/>
            <a:ext cx="2935224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Путь находки от требования до источника.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3749039"/>
            <a:ext cx="3337560" cy="1234440"/>
          </a:xfrm>
          <a:prstGeom prst="roundRect">
            <a:avLst>
              <a:gd name="adj" fmla="val 12000"/>
            </a:avLst>
          </a:prstGeom>
          <a:solidFill>
            <a:srgbClr val="152027"/>
          </a:solidFill>
          <a:ln>
            <a:solidFill>
              <a:srgbClr val="2B39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3895344"/>
            <a:ext cx="2935224" cy="347472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700" b="1">
                <a:solidFill>
                  <a:srgbClr val="F4A05B"/>
                </a:solidFill>
                <a:latin typeface="Aptos Display"/>
              </a:rPr>
              <a:t>Просим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4315968"/>
            <a:ext cx="2935224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200" b="0">
                <a:solidFill>
                  <a:srgbClr val="F6F7F7"/>
                </a:solidFill>
                <a:latin typeface="Aptos"/>
              </a:rPr>
              <a:t>Минимальный комплект для честного измерения.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10058400" cy="3200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0">
                <a:solidFill>
                  <a:srgbClr val="AEB9BD"/>
                </a:solidFill>
                <a:latin typeface="Aptos"/>
              </a:rPr>
              <a:t>Не обещаем готовность. Показываем работающий контур и следующий проверяемый шаг.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1025</Words>
  <Application>Microsoft Office PowerPoint</Application>
  <PresentationFormat>Широкоэкранный</PresentationFormat>
  <Paragraphs>132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Aptos Mono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Ivan Ivanov</cp:lastModifiedBy>
  <cp:revision>2</cp:revision>
  <dcterms:created xsi:type="dcterms:W3CDTF">2013-01-27T09:14:16Z</dcterms:created>
  <dcterms:modified xsi:type="dcterms:W3CDTF">2026-08-17T19:46:22Z</dcterms:modified>
  <cp:category/>
</cp:coreProperties>
</file>